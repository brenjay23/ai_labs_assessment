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78" r:id="rId7"/>
    <p:sldId id="261" r:id="rId8"/>
    <p:sldId id="276" r:id="rId9"/>
    <p:sldId id="277" r:id="rId10"/>
    <p:sldId id="262" r:id="rId11"/>
    <p:sldId id="265" r:id="rId12"/>
    <p:sldId id="279" r:id="rId13"/>
    <p:sldId id="263" r:id="rId14"/>
    <p:sldId id="264" r:id="rId15"/>
    <p:sldId id="266" r:id="rId16"/>
    <p:sldId id="267" r:id="rId17"/>
    <p:sldId id="268" r:id="rId18"/>
    <p:sldId id="269" r:id="rId19"/>
    <p:sldId id="270" r:id="rId20"/>
    <p:sldId id="271" r:id="rId21"/>
    <p:sldId id="272" r:id="rId22"/>
    <p:sldId id="273" r:id="rId23"/>
    <p:sldId id="274" r:id="rId24"/>
    <p:sldId id="275"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32"/>
    <p:restoredTop sz="94610"/>
  </p:normalViewPr>
  <p:slideViewPr>
    <p:cSldViewPr snapToGrid="0" snapToObjects="1">
      <p:cViewPr>
        <p:scale>
          <a:sx n="156" d="100"/>
          <a:sy n="156" d="100"/>
        </p:scale>
        <p:origin x="288"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51054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F0C2A-36EB-15B6-9241-C1F2621AD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5C18C-300E-52F7-8DAF-D2B105295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B2BF5B-E013-749F-4E29-747DA49A19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CF21A5-1DE1-E70E-A29D-DBDCA6EEF3AD}"/>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42188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47EF5-0E43-5605-72C7-57EEC327D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F9D2D-6661-FA8F-4317-B301A2F54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5ADE9-3148-5F7D-A1FB-CD0F031B55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02449E-04FB-FD5F-E9B9-77BFD08D160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286238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9F5A9-1713-E64B-C9A3-916AE918F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AD1924-317B-BB55-F3FC-BC7C624DD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67A62-02BF-D147-340B-E0F0B9F0B6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9E9D34-F129-6528-B05C-AFCA2C5D33CF}"/>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1266827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49716-53F2-095C-B7DA-940D00436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F4C718-D183-F575-0D48-767B6F599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D7BC9-880E-4A9D-993C-71268C49F2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6EA25F-0AFF-5DB3-FA71-5D056D6D84CE}"/>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008772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B25A8-1C5E-6505-DCFA-F59F7AD41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0E23A-E479-E282-AF25-838B64BAF7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AD1D35-1086-7715-1990-8487D3A913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11FCF3-9881-C99E-3047-01C277D5A7C9}"/>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6156843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BrenJay23/ai_labs_assessmen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hyperlink" Target="https://samrepo.nrelcloud.org/help/pv_system_design.html" TargetMode="External"/><Relationship Id="rId3" Type="http://schemas.openxmlformats.org/officeDocument/2006/relationships/hyperlink" Target="https://www.kaggle.com/datasets/jsphyg/weather-dataset-rattle-package/data" TargetMode="External"/><Relationship Id="rId7" Type="http://schemas.openxmlformats.org/officeDocument/2006/relationships/hyperlink" Target="https://solartechonline.com/blog/pvwatts-calculator-complete-guide/"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hyperlink" Target="https://globalsolaratlas.info/global-pv-potential-study" TargetMode="External"/><Relationship Id="rId5" Type="http://schemas.openxmlformats.org/officeDocument/2006/relationships/hyperlink" Target="https://globalsolaratlas.info/support/faq" TargetMode="External"/><Relationship Id="rId10" Type="http://schemas.openxmlformats.org/officeDocument/2006/relationships/hyperlink" Target="https://github.com/JaidedAI/EasyOCR" TargetMode="External"/><Relationship Id="rId4" Type="http://schemas.openxmlformats.org/officeDocument/2006/relationships/hyperlink" Target="https://globalsolaratlas.info/download/australia" TargetMode="External"/><Relationship Id="rId9" Type="http://schemas.openxmlformats.org/officeDocument/2006/relationships/hyperlink" Target="https://www.kaggle.com/datasets/urbikn/sroie-datasetv2"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80C22"/>
          </a:solidFill>
          <a:ln w="12700">
            <a:solidFill>
              <a:srgbClr val="080C22"/>
            </a:solidFill>
            <a:prstDash val="solid"/>
          </a:ln>
        </p:spPr>
        <p:txBody>
          <a:bodyPr/>
          <a:lstStyle/>
          <a:p>
            <a:endParaRPr lang="en-US" dirty="0"/>
          </a:p>
        </p:txBody>
      </p:sp>
      <p:sp>
        <p:nvSpPr>
          <p:cNvPr id="3" name="Shape 1"/>
          <p:cNvSpPr/>
          <p:nvPr/>
        </p:nvSpPr>
        <p:spPr>
          <a:xfrm>
            <a:off x="0" y="0"/>
            <a:ext cx="9144000" cy="36576"/>
          </a:xfrm>
          <a:prstGeom prst="rect">
            <a:avLst/>
          </a:prstGeom>
          <a:solidFill>
            <a:srgbClr val="00C2E0"/>
          </a:solidFill>
          <a:ln w="12700">
            <a:solidFill>
              <a:srgbClr val="00C2E0"/>
            </a:solidFill>
            <a:prstDash val="solid"/>
          </a:ln>
        </p:spPr>
        <p:txBody>
          <a:bodyPr/>
          <a:lstStyle/>
          <a:p>
            <a:endParaRPr lang="en-US"/>
          </a:p>
        </p:txBody>
      </p:sp>
      <p:sp>
        <p:nvSpPr>
          <p:cNvPr id="4" name="Shape 2"/>
          <p:cNvSpPr/>
          <p:nvPr/>
        </p:nvSpPr>
        <p:spPr>
          <a:xfrm>
            <a:off x="6217920" y="-1371600"/>
            <a:ext cx="4572000" cy="4572000"/>
          </a:xfrm>
          <a:prstGeom prst="line">
            <a:avLst/>
          </a:prstGeom>
          <a:solidFill>
            <a:srgbClr val="7C3AED">
              <a:alpha val="12000"/>
            </a:srgbClr>
          </a:solidFill>
          <a:ln w="12700">
            <a:solidFill>
              <a:srgbClr val="7C3AED">
                <a:alpha val="30000"/>
              </a:srgbClr>
            </a:solidFill>
            <a:prstDash val="solid"/>
          </a:ln>
        </p:spPr>
        <p:txBody>
          <a:bodyPr/>
          <a:lstStyle/>
          <a:p>
            <a:endParaRPr lang="en-US"/>
          </a:p>
        </p:txBody>
      </p:sp>
      <p:sp>
        <p:nvSpPr>
          <p:cNvPr id="5" name="Shape 3"/>
          <p:cNvSpPr/>
          <p:nvPr/>
        </p:nvSpPr>
        <p:spPr>
          <a:xfrm>
            <a:off x="6858000" y="-731520"/>
            <a:ext cx="3200400" cy="3200400"/>
          </a:xfrm>
          <a:prstGeom prst="line">
            <a:avLst/>
          </a:prstGeom>
          <a:solidFill>
            <a:srgbClr val="00C2E0">
              <a:alpha val="7000"/>
            </a:srgbClr>
          </a:solidFill>
          <a:ln w="12700">
            <a:solidFill>
              <a:srgbClr val="00C2E0">
                <a:alpha val="40000"/>
              </a:srgbClr>
            </a:solidFill>
            <a:prstDash val="solid"/>
          </a:ln>
        </p:spPr>
        <p:txBody>
          <a:bodyPr/>
          <a:lstStyle/>
          <a:p>
            <a:endParaRPr lang="en-US"/>
          </a:p>
        </p:txBody>
      </p:sp>
      <p:sp>
        <p:nvSpPr>
          <p:cNvPr id="7" name="Shape 5"/>
          <p:cNvSpPr/>
          <p:nvPr/>
        </p:nvSpPr>
        <p:spPr>
          <a:xfrm>
            <a:off x="502920" y="1005840"/>
            <a:ext cx="2011680" cy="256032"/>
          </a:xfrm>
          <a:prstGeom prst="rect">
            <a:avLst/>
          </a:prstGeom>
          <a:solidFill>
            <a:srgbClr val="00C2E0">
              <a:alpha val="15000"/>
            </a:srgbClr>
          </a:solidFill>
          <a:ln w="12700">
            <a:solidFill>
              <a:srgbClr val="00C2E0"/>
            </a:solidFill>
            <a:prstDash val="solid"/>
          </a:ln>
        </p:spPr>
        <p:txBody>
          <a:bodyPr/>
          <a:lstStyle/>
          <a:p>
            <a:endParaRPr lang="en-US"/>
          </a:p>
        </p:txBody>
      </p:sp>
      <p:sp>
        <p:nvSpPr>
          <p:cNvPr id="8" name="Text 6"/>
          <p:cNvSpPr/>
          <p:nvPr/>
        </p:nvSpPr>
        <p:spPr>
          <a:xfrm>
            <a:off x="502920" y="1005840"/>
            <a:ext cx="2011680" cy="256032"/>
          </a:xfrm>
          <a:prstGeom prst="rect">
            <a:avLst/>
          </a:prstGeom>
          <a:noFill/>
          <a:ln/>
        </p:spPr>
        <p:txBody>
          <a:bodyPr wrap="square" lIns="0" tIns="0" rIns="0" bIns="0" rtlCol="0" anchor="ctr"/>
          <a:lstStyle/>
          <a:p>
            <a:pPr marL="0" indent="0" algn="ctr">
              <a:buNone/>
            </a:pPr>
            <a:r>
              <a:rPr lang="en-US" sz="750" b="1" kern="0" spc="200" dirty="0">
                <a:solidFill>
                  <a:srgbClr val="00C2E0"/>
                </a:solidFill>
              </a:rPr>
              <a:t>AI LABS ASSESSMENT</a:t>
            </a:r>
            <a:endParaRPr lang="en-US" sz="750" dirty="0"/>
          </a:p>
        </p:txBody>
      </p:sp>
      <p:sp>
        <p:nvSpPr>
          <p:cNvPr id="9" name="Text 7"/>
          <p:cNvSpPr/>
          <p:nvPr/>
        </p:nvSpPr>
        <p:spPr>
          <a:xfrm>
            <a:off x="457200" y="1417320"/>
            <a:ext cx="8229600" cy="502920"/>
          </a:xfrm>
          <a:prstGeom prst="rect">
            <a:avLst/>
          </a:prstGeom>
          <a:noFill/>
          <a:ln/>
        </p:spPr>
        <p:txBody>
          <a:bodyPr wrap="square" lIns="0" tIns="0" rIns="0" bIns="0" rtlCol="0" anchor="ctr"/>
          <a:lstStyle/>
          <a:p>
            <a:pPr marL="0" indent="0">
              <a:buNone/>
            </a:pPr>
            <a:r>
              <a:rPr lang="en-US" sz="3000" b="1" dirty="0" err="1">
                <a:solidFill>
                  <a:srgbClr val="E8EDF5"/>
                </a:solidFill>
                <a:latin typeface="Trebuchet MS" pitchFamily="34" charset="0"/>
                <a:ea typeface="Trebuchet MS" pitchFamily="34" charset="-122"/>
                <a:cs typeface="Trebuchet MS" pitchFamily="34" charset="-120"/>
              </a:rPr>
              <a:t>Stratpoint</a:t>
            </a:r>
            <a:endParaRPr lang="en-US" sz="3000" b="1" dirty="0"/>
          </a:p>
        </p:txBody>
      </p:sp>
      <p:sp>
        <p:nvSpPr>
          <p:cNvPr id="10" name="Text 8"/>
          <p:cNvSpPr/>
          <p:nvPr/>
        </p:nvSpPr>
        <p:spPr>
          <a:xfrm>
            <a:off x="457200" y="1901952"/>
            <a:ext cx="8229600" cy="594360"/>
          </a:xfrm>
          <a:prstGeom prst="rect">
            <a:avLst/>
          </a:prstGeom>
          <a:noFill/>
          <a:ln/>
        </p:spPr>
        <p:txBody>
          <a:bodyPr wrap="square" lIns="0" tIns="0" rIns="0" bIns="0"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Case Study Presentation</a:t>
            </a:r>
            <a:endParaRPr lang="en-US" sz="3800" dirty="0"/>
          </a:p>
        </p:txBody>
      </p:sp>
      <p:sp>
        <p:nvSpPr>
          <p:cNvPr id="11" name="Shape 9"/>
          <p:cNvSpPr/>
          <p:nvPr/>
        </p:nvSpPr>
        <p:spPr>
          <a:xfrm>
            <a:off x="457200" y="2578608"/>
            <a:ext cx="2286000" cy="32004"/>
          </a:xfrm>
          <a:prstGeom prst="rect">
            <a:avLst/>
          </a:prstGeom>
          <a:solidFill>
            <a:srgbClr val="00C2E0"/>
          </a:solidFill>
          <a:ln w="12700">
            <a:solidFill>
              <a:srgbClr val="00C2E0"/>
            </a:solidFill>
            <a:prstDash val="solid"/>
          </a:ln>
        </p:spPr>
        <p:txBody>
          <a:bodyPr/>
          <a:lstStyle/>
          <a:p>
            <a:endParaRPr lang="en-US"/>
          </a:p>
        </p:txBody>
      </p:sp>
      <p:sp>
        <p:nvSpPr>
          <p:cNvPr id="12" name="Text 10"/>
          <p:cNvSpPr/>
          <p:nvPr/>
        </p:nvSpPr>
        <p:spPr>
          <a:xfrm>
            <a:off x="457200" y="2715768"/>
            <a:ext cx="5486400" cy="32004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Bren Jay Magtalas</a:t>
            </a:r>
            <a:endParaRPr lang="en-US" sz="1600" dirty="0"/>
          </a:p>
        </p:txBody>
      </p:sp>
      <p:sp>
        <p:nvSpPr>
          <p:cNvPr id="13" name="Text 11"/>
          <p:cNvSpPr/>
          <p:nvPr/>
        </p:nvSpPr>
        <p:spPr>
          <a:xfrm>
            <a:off x="457200" y="3054096"/>
            <a:ext cx="7772400" cy="256032"/>
          </a:xfrm>
          <a:prstGeom prst="rect">
            <a:avLst/>
          </a:prstGeom>
          <a:noFill/>
          <a:ln/>
        </p:spPr>
        <p:txBody>
          <a:bodyPr wrap="square" lIns="0" tIns="0" rIns="0" bIns="0" rtlCol="0" anchor="ctr"/>
          <a:lstStyle/>
          <a:p>
            <a:r>
              <a:rPr lang="en-US" sz="900" dirty="0">
                <a:solidFill>
                  <a:srgbClr val="8A99C0"/>
                </a:solidFill>
                <a:latin typeface="Trebuchet MS" pitchFamily="34" charset="0"/>
                <a:ea typeface="Trebuchet MS" pitchFamily="34" charset="-122"/>
                <a:cs typeface="Trebuchet MS" pitchFamily="34" charset="-120"/>
              </a:rPr>
              <a:t>March 2026  ·  Python  ·  XGBoost  ·  LangChain  ·  Gemini 2.5 Flash  ·  </a:t>
            </a:r>
            <a:r>
              <a:rPr lang="en-US" sz="900" dirty="0" err="1">
                <a:solidFill>
                  <a:srgbClr val="8A99C0"/>
                </a:solidFill>
                <a:latin typeface="Trebuchet MS" pitchFamily="34" charset="0"/>
                <a:ea typeface="Trebuchet MS" pitchFamily="34" charset="-122"/>
                <a:cs typeface="Trebuchet MS" pitchFamily="34" charset="-120"/>
              </a:rPr>
              <a:t>Pydantic</a:t>
            </a:r>
            <a:r>
              <a:rPr lang="en-US" sz="900" dirty="0">
                <a:solidFill>
                  <a:srgbClr val="8A99C0"/>
                </a:solidFill>
                <a:latin typeface="Trebuchet MS" pitchFamily="34" charset="0"/>
                <a:ea typeface="Trebuchet MS" pitchFamily="34" charset="-122"/>
                <a:cs typeface="Trebuchet MS" pitchFamily="34" charset="-120"/>
              </a:rPr>
              <a:t>  · </a:t>
            </a:r>
            <a:r>
              <a:rPr lang="en-US" sz="900" dirty="0" err="1">
                <a:solidFill>
                  <a:srgbClr val="8A99C0"/>
                </a:solidFill>
                <a:latin typeface="Trebuchet MS" pitchFamily="34" charset="0"/>
                <a:ea typeface="Trebuchet MS" pitchFamily="34" charset="-122"/>
                <a:cs typeface="Trebuchet MS" pitchFamily="34" charset="-120"/>
              </a:rPr>
              <a:t>EasyOCR</a:t>
            </a:r>
            <a:r>
              <a:rPr lang="en-US" sz="900" dirty="0">
                <a:solidFill>
                  <a:srgbClr val="8A99C0"/>
                </a:solidFill>
                <a:latin typeface="Trebuchet MS" pitchFamily="34" charset="0"/>
                <a:ea typeface="Trebuchet MS" pitchFamily="34" charset="-122"/>
                <a:cs typeface="Trebuchet MS" pitchFamily="34" charset="-120"/>
              </a:rPr>
              <a:t>  ·  LangGraph  ·  Gradio</a:t>
            </a:r>
            <a:endParaRPr lang="en-US" sz="900" dirty="0"/>
          </a:p>
        </p:txBody>
      </p:sp>
      <p:sp>
        <p:nvSpPr>
          <p:cNvPr id="14" name="Shape 12"/>
          <p:cNvSpPr/>
          <p:nvPr/>
        </p:nvSpPr>
        <p:spPr>
          <a:xfrm>
            <a:off x="457200" y="3493008"/>
            <a:ext cx="3200400" cy="640080"/>
          </a:xfrm>
          <a:prstGeom prst="rect">
            <a:avLst/>
          </a:prstGeom>
          <a:solidFill>
            <a:srgbClr val="00C2E0">
              <a:alpha val="12000"/>
            </a:srgbClr>
          </a:solidFill>
          <a:ln w="12700">
            <a:solidFill>
              <a:srgbClr val="00C2E0"/>
            </a:solidFill>
            <a:prstDash val="solid"/>
          </a:ln>
        </p:spPr>
        <p:txBody>
          <a:bodyPr/>
          <a:lstStyle/>
          <a:p>
            <a:endParaRPr lang="en-US"/>
          </a:p>
        </p:txBody>
      </p:sp>
      <p:sp>
        <p:nvSpPr>
          <p:cNvPr id="15" name="Text 13"/>
          <p:cNvSpPr/>
          <p:nvPr/>
        </p:nvSpPr>
        <p:spPr>
          <a:xfrm>
            <a:off x="457200" y="3493008"/>
            <a:ext cx="3200400" cy="640080"/>
          </a:xfrm>
          <a:prstGeom prst="rect">
            <a:avLst/>
          </a:prstGeom>
          <a:noFill/>
          <a:ln/>
        </p:spPr>
        <p:txBody>
          <a:bodyPr wrap="square" lIns="50800" tIns="50800" rIns="50800" bIns="50800" rtlCol="0" anchor="ctr"/>
          <a:lstStyle/>
          <a:p>
            <a:pPr marL="0" indent="0" algn="ctr">
              <a:buNone/>
            </a:pPr>
            <a:r>
              <a:rPr lang="en-US" sz="900" b="1" dirty="0">
                <a:solidFill>
                  <a:srgbClr val="00C2E0"/>
                </a:solidFill>
              </a:rPr>
              <a:t>CHALLENGE 1</a:t>
            </a:r>
            <a:endParaRPr lang="en-US" sz="900" dirty="0"/>
          </a:p>
          <a:p>
            <a:pPr marL="0" indent="0" algn="ctr">
              <a:buNone/>
            </a:pPr>
            <a:r>
              <a:rPr lang="en-US" sz="1100" dirty="0">
                <a:solidFill>
                  <a:srgbClr val="FFFFFF"/>
                </a:solidFill>
              </a:rPr>
              <a:t>Predicting Solar Output</a:t>
            </a:r>
            <a:endParaRPr lang="en-US" sz="900" dirty="0"/>
          </a:p>
        </p:txBody>
      </p:sp>
      <p:sp>
        <p:nvSpPr>
          <p:cNvPr id="16" name="Shape 14"/>
          <p:cNvSpPr/>
          <p:nvPr/>
        </p:nvSpPr>
        <p:spPr>
          <a:xfrm>
            <a:off x="3840480" y="3493008"/>
            <a:ext cx="3200400" cy="640080"/>
          </a:xfrm>
          <a:prstGeom prst="rect">
            <a:avLst/>
          </a:prstGeom>
          <a:solidFill>
            <a:srgbClr val="7C3AED">
              <a:alpha val="12000"/>
            </a:srgbClr>
          </a:solidFill>
          <a:ln w="12700">
            <a:solidFill>
              <a:srgbClr val="7C3AED"/>
            </a:solidFill>
            <a:prstDash val="solid"/>
          </a:ln>
        </p:spPr>
        <p:txBody>
          <a:bodyPr/>
          <a:lstStyle/>
          <a:p>
            <a:endParaRPr lang="en-US"/>
          </a:p>
        </p:txBody>
      </p:sp>
      <p:sp>
        <p:nvSpPr>
          <p:cNvPr id="17" name="Text 15"/>
          <p:cNvSpPr/>
          <p:nvPr/>
        </p:nvSpPr>
        <p:spPr>
          <a:xfrm>
            <a:off x="3840480" y="3493008"/>
            <a:ext cx="3200400" cy="640080"/>
          </a:xfrm>
          <a:prstGeom prst="rect">
            <a:avLst/>
          </a:prstGeom>
          <a:noFill/>
          <a:ln/>
        </p:spPr>
        <p:txBody>
          <a:bodyPr wrap="square" lIns="50800" tIns="50800" rIns="50800" bIns="50800" rtlCol="0" anchor="ctr"/>
          <a:lstStyle/>
          <a:p>
            <a:pPr marL="0" indent="0" algn="ctr">
              <a:buNone/>
            </a:pPr>
            <a:r>
              <a:rPr lang="en-US" sz="900" b="1" dirty="0">
                <a:solidFill>
                  <a:srgbClr val="9B59D6"/>
                </a:solidFill>
              </a:rPr>
              <a:t>CHALLENGE 2</a:t>
            </a:r>
            <a:endParaRPr lang="en-US" sz="900" dirty="0"/>
          </a:p>
          <a:p>
            <a:pPr marL="0" indent="0" algn="ctr">
              <a:buNone/>
            </a:pPr>
            <a:r>
              <a:rPr lang="en-US" sz="1100" dirty="0">
                <a:solidFill>
                  <a:srgbClr val="FFFFFF"/>
                </a:solidFill>
              </a:rPr>
              <a:t>Extracting Receipt Data</a:t>
            </a:r>
            <a:endParaRPr lang="en-US" sz="900" dirty="0"/>
          </a:p>
        </p:txBody>
      </p:sp>
      <p:sp>
        <p:nvSpPr>
          <p:cNvPr id="18" name="Shape 1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19" name="Shape 1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20" name="Text 18"/>
          <p:cNvSpPr/>
          <p:nvPr/>
        </p:nvSpPr>
        <p:spPr>
          <a:xfrm>
            <a:off x="274320" y="4983480"/>
            <a:ext cx="8595360" cy="164592"/>
          </a:xfrm>
          <a:prstGeom prst="rect">
            <a:avLst/>
          </a:prstGeom>
          <a:noFill/>
          <a:ln/>
        </p:spPr>
        <p:txBody>
          <a:bodyPr wrap="square" lIns="0" tIns="0" rIns="0" bIns="0" rtlCol="0" anchor="ctr"/>
          <a:lstStyle/>
          <a:p>
            <a:pPr marL="0" indent="0">
              <a:buNone/>
            </a:pPr>
            <a:endParaRPr lang="en-US" sz="650" dirty="0"/>
          </a:p>
        </p:txBody>
      </p:sp>
      <p:sp>
        <p:nvSpPr>
          <p:cNvPr id="22" name="Text 12">
            <a:extLst>
              <a:ext uri="{FF2B5EF4-FFF2-40B4-BE49-F238E27FC236}">
                <a16:creationId xmlns:a16="http://schemas.microsoft.com/office/drawing/2014/main" id="{8201E27F-0A02-5D03-7788-C3243E77426F}"/>
              </a:ext>
            </a:extLst>
          </p:cNvPr>
          <p:cNvSpPr/>
          <p:nvPr/>
        </p:nvSpPr>
        <p:spPr>
          <a:xfrm>
            <a:off x="274320" y="4983480"/>
            <a:ext cx="7315200" cy="164592"/>
          </a:xfrm>
          <a:prstGeom prst="rect">
            <a:avLst/>
          </a:prstGeom>
          <a:noFill/>
          <a:ln/>
        </p:spPr>
        <p:txBody>
          <a:bodyPr wrap="square" lIns="0" tIns="0" rIns="0" bIns="0" rtlCol="0" anchor="ctr"/>
          <a:lstStyle/>
          <a:p>
            <a:r>
              <a:rPr lang="en-US" sz="700" dirty="0">
                <a:solidFill>
                  <a:srgbClr val="8A99C0"/>
                </a:solidFill>
                <a:hlinkClick r:id="rId3"/>
              </a:rPr>
              <a:t>https://github.com/BrenJay23/ai_labs_assessment</a:t>
            </a:r>
            <a:endParaRPr lang="en-US" sz="700" dirty="0">
              <a:solidFill>
                <a:srgbClr val="8A99C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C2E0"/>
          </a:solidFill>
          <a:ln w="12700">
            <a:solidFill>
              <a:srgbClr val="00C2E0"/>
            </a:solidFill>
            <a:prstDash val="solid"/>
          </a:ln>
        </p:spPr>
        <p:txBody>
          <a:bodyPr/>
          <a:lstStyle/>
          <a:p>
            <a:endParaRPr lang="en-US"/>
          </a:p>
        </p:txBody>
      </p:sp>
      <p:sp>
        <p:nvSpPr>
          <p:cNvPr id="3" name="Shape 1"/>
          <p:cNvSpPr/>
          <p:nvPr/>
        </p:nvSpPr>
        <p:spPr>
          <a:xfrm>
            <a:off x="5029200" y="-914400"/>
            <a:ext cx="5486400" cy="5486400"/>
          </a:xfrm>
          <a:prstGeom prst="line">
            <a:avLst/>
          </a:prstGeom>
          <a:solidFill>
            <a:srgbClr val="00C2E0">
              <a:alpha val="7000"/>
            </a:srgbClr>
          </a:solidFill>
          <a:ln w="12700">
            <a:solidFill>
              <a:srgbClr val="00C2E0">
                <a:alpha val="30000"/>
              </a:srgbClr>
            </a:solidFill>
            <a:prstDash val="solid"/>
          </a:ln>
        </p:spPr>
        <p:txBody>
          <a:bodyPr/>
          <a:lstStyle/>
          <a:p>
            <a:endParaRPr lang="en-US"/>
          </a:p>
        </p:txBody>
      </p:sp>
      <p:sp>
        <p:nvSpPr>
          <p:cNvPr id="4" name="Shape 2"/>
          <p:cNvSpPr/>
          <p:nvPr/>
        </p:nvSpPr>
        <p:spPr>
          <a:xfrm>
            <a:off x="5943600" y="457200"/>
            <a:ext cx="2743200" cy="2743200"/>
          </a:xfrm>
          <a:prstGeom prst="line">
            <a:avLst/>
          </a:prstGeom>
          <a:solidFill>
            <a:srgbClr val="00C2E0">
              <a:alpha val="4000"/>
            </a:srgbClr>
          </a:solidFill>
          <a:ln w="12700">
            <a:solidFill>
              <a:srgbClr val="00C2E0">
                <a:alpha val="20000"/>
              </a:srgbClr>
            </a:solidFill>
            <a:prstDash val="solid"/>
          </a:ln>
        </p:spPr>
        <p:txBody>
          <a:bodyPr/>
          <a:lstStyle/>
          <a:p>
            <a:endParaRPr lang="en-US"/>
          </a:p>
        </p:txBody>
      </p:sp>
      <p:sp>
        <p:nvSpPr>
          <p:cNvPr id="5" name="Shape 3"/>
          <p:cNvSpPr/>
          <p:nvPr/>
        </p:nvSpPr>
        <p:spPr>
          <a:xfrm>
            <a:off x="457200" y="1371600"/>
            <a:ext cx="1371600" cy="1371600"/>
          </a:xfrm>
          <a:prstGeom prst="rect">
            <a:avLst/>
          </a:prstGeom>
          <a:solidFill>
            <a:srgbClr val="00C2E0">
              <a:alpha val="15000"/>
            </a:srgbClr>
          </a:solidFill>
          <a:ln w="12700">
            <a:solidFill>
              <a:srgbClr val="00C2E0"/>
            </a:solidFill>
            <a:prstDash val="solid"/>
          </a:ln>
        </p:spPr>
        <p:txBody>
          <a:bodyPr/>
          <a:lstStyle/>
          <a:p>
            <a:endParaRPr lang="en-US"/>
          </a:p>
        </p:txBody>
      </p:sp>
      <p:sp>
        <p:nvSpPr>
          <p:cNvPr id="6" name="Text 4"/>
          <p:cNvSpPr/>
          <p:nvPr/>
        </p:nvSpPr>
        <p:spPr>
          <a:xfrm>
            <a:off x="457200" y="1371600"/>
            <a:ext cx="1371600" cy="1371600"/>
          </a:xfrm>
          <a:prstGeom prst="rect">
            <a:avLst/>
          </a:prstGeom>
          <a:noFill/>
          <a:ln/>
        </p:spPr>
        <p:txBody>
          <a:bodyPr wrap="square" lIns="0" tIns="0" rIns="0" bIns="0" rtlCol="0" anchor="ctr"/>
          <a:lstStyle/>
          <a:p>
            <a:pPr marL="0" indent="0" algn="ctr">
              <a:buNone/>
            </a:pPr>
            <a:r>
              <a:rPr lang="en-US" sz="4400" b="1" dirty="0">
                <a:solidFill>
                  <a:srgbClr val="00C2E0"/>
                </a:solidFill>
                <a:latin typeface="Trebuchet MS" pitchFamily="34" charset="0"/>
                <a:ea typeface="Trebuchet MS" pitchFamily="34" charset="-122"/>
                <a:cs typeface="Trebuchet MS" pitchFamily="34" charset="-120"/>
              </a:rPr>
              <a:t>01</a:t>
            </a:r>
            <a:endParaRPr lang="en-US" sz="4400" dirty="0"/>
          </a:p>
        </p:txBody>
      </p:sp>
      <p:sp>
        <p:nvSpPr>
          <p:cNvPr id="7" name="Text 5"/>
          <p:cNvSpPr/>
          <p:nvPr/>
        </p:nvSpPr>
        <p:spPr>
          <a:xfrm>
            <a:off x="2011680" y="1463040"/>
            <a:ext cx="4572000" cy="365760"/>
          </a:xfrm>
          <a:prstGeom prst="rect">
            <a:avLst/>
          </a:prstGeom>
          <a:noFill/>
          <a:ln/>
        </p:spPr>
        <p:txBody>
          <a:bodyPr wrap="square" lIns="0" tIns="0" rIns="0" bIns="0" rtlCol="0" anchor="ctr"/>
          <a:lstStyle/>
          <a:p>
            <a:pPr marL="0" indent="0">
              <a:buNone/>
            </a:pPr>
            <a:r>
              <a:rPr lang="en-US" sz="1100" b="1" kern="0" spc="400" dirty="0">
                <a:solidFill>
                  <a:srgbClr val="00C2E0"/>
                </a:solidFill>
                <a:latin typeface="Trebuchet MS" pitchFamily="34" charset="0"/>
                <a:ea typeface="Trebuchet MS" pitchFamily="34" charset="-122"/>
                <a:cs typeface="Trebuchet MS" pitchFamily="34" charset="-120"/>
              </a:rPr>
              <a:t>CHALLENGE</a:t>
            </a:r>
            <a:endParaRPr lang="en-US" sz="1100" dirty="0"/>
          </a:p>
        </p:txBody>
      </p:sp>
      <p:sp>
        <p:nvSpPr>
          <p:cNvPr id="8" name="Text 6"/>
          <p:cNvSpPr/>
          <p:nvPr/>
        </p:nvSpPr>
        <p:spPr>
          <a:xfrm>
            <a:off x="2011680" y="1874520"/>
            <a:ext cx="68580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Predicting Solar Output</a:t>
            </a:r>
            <a:endParaRPr lang="en-US" sz="3200" dirty="0"/>
          </a:p>
        </p:txBody>
      </p:sp>
      <p:sp>
        <p:nvSpPr>
          <p:cNvPr id="9" name="Text 7"/>
          <p:cNvSpPr/>
          <p:nvPr/>
        </p:nvSpPr>
        <p:spPr>
          <a:xfrm>
            <a:off x="2011680" y="2542032"/>
            <a:ext cx="6400800" cy="274320"/>
          </a:xfrm>
          <a:prstGeom prst="rect">
            <a:avLst/>
          </a:prstGeom>
          <a:noFill/>
          <a:ln/>
        </p:spPr>
        <p:txBody>
          <a:bodyPr wrap="square" lIns="0" tIns="0" rIns="0" bIns="0" rtlCol="0" anchor="ctr"/>
          <a:lstStyle/>
          <a:p>
            <a:r>
              <a:rPr lang="en-US" sz="1000" dirty="0">
                <a:solidFill>
                  <a:srgbClr val="8A99C0"/>
                </a:solidFill>
                <a:latin typeface="Trebuchet MS" pitchFamily="34" charset="0"/>
                <a:ea typeface="Trebuchet MS" pitchFamily="34" charset="-122"/>
                <a:cs typeface="Trebuchet MS" pitchFamily="34" charset="-120"/>
              </a:rPr>
              <a:t>DataScience  ·  XGBoost  ·  LangChain ReAct Agent  ·  Gemini 2.5 Flash  ·  Gradio</a:t>
            </a:r>
            <a:endParaRPr lang="en-US" sz="1000" dirty="0"/>
          </a:p>
        </p:txBody>
      </p:sp>
      <p:sp>
        <p:nvSpPr>
          <p:cNvPr id="10" name="Shape 8"/>
          <p:cNvSpPr/>
          <p:nvPr/>
        </p:nvSpPr>
        <p:spPr>
          <a:xfrm>
            <a:off x="2011680" y="2926080"/>
            <a:ext cx="3657600" cy="32004"/>
          </a:xfrm>
          <a:prstGeom prst="rect">
            <a:avLst/>
          </a:prstGeom>
          <a:solidFill>
            <a:srgbClr val="00C2E0"/>
          </a:solidFill>
          <a:ln w="12700">
            <a:solidFill>
              <a:srgbClr val="00C2E0"/>
            </a:solidFill>
            <a:prstDash val="solid"/>
          </a:ln>
        </p:spPr>
        <p:txBody>
          <a:bodyPr/>
          <a:lstStyle/>
          <a:p>
            <a:endParaRPr lang="en-US"/>
          </a:p>
        </p:txBody>
      </p:sp>
      <p:sp>
        <p:nvSpPr>
          <p:cNvPr id="11" name="Text 9"/>
          <p:cNvSpPr/>
          <p:nvPr/>
        </p:nvSpPr>
        <p:spPr>
          <a:xfrm>
            <a:off x="2011680" y="3063240"/>
            <a:ext cx="4572000" cy="256032"/>
          </a:xfrm>
          <a:prstGeom prst="rect">
            <a:avLst/>
          </a:prstGeom>
          <a:noFill/>
          <a:ln/>
        </p:spPr>
        <p:txBody>
          <a:bodyPr wrap="square" lIns="0" tIns="0" rIns="0" bIns="0" rtlCol="0" anchor="ctr"/>
          <a:lstStyle/>
          <a:p>
            <a:pPr marL="0" indent="0">
              <a:buNone/>
            </a:pPr>
            <a:endParaRPr lang="en-US" sz="900" dirty="0"/>
          </a:p>
        </p:txBody>
      </p:sp>
      <p:sp>
        <p:nvSpPr>
          <p:cNvPr id="12" name="Shape 10"/>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13" name="Shape 11"/>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4" name="Text 12"/>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The Problem: Predicting Solar Output from Weather</a:t>
            </a:r>
            <a:endParaRPr lang="en-US" sz="1700" dirty="0"/>
          </a:p>
        </p:txBody>
      </p:sp>
      <p:sp>
        <p:nvSpPr>
          <p:cNvPr id="5" name="Shape 3"/>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658368"/>
            <a:ext cx="5120640" cy="1920240"/>
          </a:xfrm>
          <a:prstGeom prst="rect">
            <a:avLst/>
          </a:prstGeom>
          <a:solidFill>
            <a:srgbClr val="111838"/>
          </a:solidFill>
          <a:ln w="12700">
            <a:solidFill>
              <a:srgbClr val="1E2A5A"/>
            </a:solidFill>
            <a:prstDash val="solid"/>
          </a:ln>
        </p:spPr>
        <p:txBody>
          <a:bodyPr/>
          <a:lstStyle/>
          <a:p>
            <a:endParaRPr lang="en-US"/>
          </a:p>
        </p:txBody>
      </p:sp>
      <p:sp>
        <p:nvSpPr>
          <p:cNvPr id="13" name="Shape 11"/>
          <p:cNvSpPr/>
          <p:nvPr/>
        </p:nvSpPr>
        <p:spPr>
          <a:xfrm>
            <a:off x="274320" y="658368"/>
            <a:ext cx="54864" cy="1920240"/>
          </a:xfrm>
          <a:prstGeom prst="rect">
            <a:avLst/>
          </a:prstGeom>
          <a:solidFill>
            <a:srgbClr val="00C2E0"/>
          </a:solidFill>
          <a:ln w="12700">
            <a:solidFill>
              <a:srgbClr val="00C2E0"/>
            </a:solidFill>
            <a:prstDash val="solid"/>
          </a:ln>
        </p:spPr>
        <p:txBody>
          <a:bodyPr/>
          <a:lstStyle/>
          <a:p>
            <a:endParaRPr lang="en-US"/>
          </a:p>
        </p:txBody>
      </p:sp>
      <p:sp>
        <p:nvSpPr>
          <p:cNvPr id="14" name="Text 12"/>
          <p:cNvSpPr/>
          <p:nvPr/>
        </p:nvSpPr>
        <p:spPr>
          <a:xfrm>
            <a:off x="475488" y="713232"/>
            <a:ext cx="4754880" cy="274320"/>
          </a:xfrm>
          <a:prstGeom prst="rect">
            <a:avLst/>
          </a:prstGeom>
          <a:noFill/>
          <a:ln/>
        </p:spPr>
        <p:txBody>
          <a:bodyPr wrap="square" lIns="0" tIns="0" rIns="0" bIns="0" rtlCol="0" anchor="ctr"/>
          <a:lstStyle/>
          <a:p>
            <a:pPr marL="0" indent="0">
              <a:buNone/>
            </a:pPr>
            <a:r>
              <a:rPr lang="en-US" sz="1400" b="1" dirty="0">
                <a:solidFill>
                  <a:srgbClr val="00C2E0"/>
                </a:solidFill>
                <a:latin typeface="Trebuchet MS" pitchFamily="34" charset="0"/>
                <a:ea typeface="Trebuchet MS" pitchFamily="34" charset="-122"/>
                <a:cs typeface="Trebuchet MS" pitchFamily="34" charset="-120"/>
              </a:rPr>
              <a:t>The Stakes</a:t>
            </a:r>
            <a:endParaRPr lang="en-US" sz="1400" dirty="0"/>
          </a:p>
        </p:txBody>
      </p:sp>
      <p:sp>
        <p:nvSpPr>
          <p:cNvPr id="15" name="Text 13"/>
          <p:cNvSpPr/>
          <p:nvPr/>
        </p:nvSpPr>
        <p:spPr>
          <a:xfrm>
            <a:off x="475488" y="1024128"/>
            <a:ext cx="4754880" cy="1463040"/>
          </a:xfrm>
          <a:prstGeom prst="rect">
            <a:avLst/>
          </a:prstGeom>
          <a:noFill/>
          <a:ln/>
        </p:spPr>
        <p:txBody>
          <a:bodyPr wrap="square" lIns="0" tIns="0" rIns="0" bIns="0" rtlCol="0" anchor="ctr"/>
          <a:lstStyle/>
          <a:p>
            <a:pPr marL="0" indent="0">
              <a:buNone/>
            </a:pPr>
            <a:r>
              <a:rPr lang="en-US" sz="1200" dirty="0">
                <a:solidFill>
                  <a:srgbClr val="E8EDF5"/>
                </a:solidFill>
              </a:rPr>
              <a:t>Solar power is highly susceptible to weather. Unlike fossil fuel or nuclear plants, fluctuating solar output directly threatens grid stability for communities that depend on solar farms. Grid operators need advance predictions to deploy mitigation strategies — spinning up reserves, load shedding.</a:t>
            </a:r>
            <a:endParaRPr lang="en-US" sz="1200" dirty="0"/>
          </a:p>
        </p:txBody>
      </p:sp>
      <p:sp>
        <p:nvSpPr>
          <p:cNvPr id="16" name="Shape 14"/>
          <p:cNvSpPr/>
          <p:nvPr/>
        </p:nvSpPr>
        <p:spPr>
          <a:xfrm>
            <a:off x="5577840" y="658368"/>
            <a:ext cx="3291840" cy="1920240"/>
          </a:xfrm>
          <a:prstGeom prst="rect">
            <a:avLst/>
          </a:prstGeom>
          <a:solidFill>
            <a:srgbClr val="161E45"/>
          </a:solidFill>
          <a:ln w="12700">
            <a:solidFill>
              <a:srgbClr val="1E2A5A"/>
            </a:solidFill>
            <a:prstDash val="solid"/>
          </a:ln>
        </p:spPr>
        <p:txBody>
          <a:bodyPr/>
          <a:lstStyle/>
          <a:p>
            <a:endParaRPr lang="en-US"/>
          </a:p>
        </p:txBody>
      </p:sp>
      <p:sp>
        <p:nvSpPr>
          <p:cNvPr id="17" name="Shape 15"/>
          <p:cNvSpPr/>
          <p:nvPr/>
        </p:nvSpPr>
        <p:spPr>
          <a:xfrm>
            <a:off x="5577840" y="658368"/>
            <a:ext cx="54864" cy="1920240"/>
          </a:xfrm>
          <a:prstGeom prst="rect">
            <a:avLst/>
          </a:prstGeom>
          <a:solidFill>
            <a:srgbClr val="7C3AED"/>
          </a:solidFill>
          <a:ln w="12700">
            <a:solidFill>
              <a:srgbClr val="7C3AED"/>
            </a:solidFill>
            <a:prstDash val="solid"/>
          </a:ln>
        </p:spPr>
        <p:txBody>
          <a:bodyPr/>
          <a:lstStyle/>
          <a:p>
            <a:endParaRPr lang="en-US"/>
          </a:p>
        </p:txBody>
      </p:sp>
      <p:sp>
        <p:nvSpPr>
          <p:cNvPr id="18" name="Text 16"/>
          <p:cNvSpPr/>
          <p:nvPr/>
        </p:nvSpPr>
        <p:spPr>
          <a:xfrm>
            <a:off x="5779008" y="713232"/>
            <a:ext cx="2926080" cy="256032"/>
          </a:xfrm>
          <a:prstGeom prst="rect">
            <a:avLst/>
          </a:prstGeom>
          <a:noFill/>
          <a:ln/>
        </p:spPr>
        <p:txBody>
          <a:bodyPr wrap="square" lIns="0" tIns="0" rIns="0" bIns="0" rtlCol="0" anchor="ctr"/>
          <a:lstStyle/>
          <a:p>
            <a:pPr marL="0" indent="0">
              <a:buNone/>
            </a:pPr>
            <a:r>
              <a:rPr lang="en-US" sz="1400" b="1" dirty="0">
                <a:solidFill>
                  <a:srgbClr val="9B59D6"/>
                </a:solidFill>
                <a:latin typeface="Trebuchet MS" pitchFamily="34" charset="0"/>
                <a:ea typeface="Trebuchet MS" pitchFamily="34" charset="-122"/>
                <a:cs typeface="Trebuchet MS" pitchFamily="34" charset="-120"/>
              </a:rPr>
              <a:t>Goal</a:t>
            </a:r>
            <a:endParaRPr lang="en-US" sz="1400" dirty="0"/>
          </a:p>
        </p:txBody>
      </p:sp>
      <p:sp>
        <p:nvSpPr>
          <p:cNvPr id="19" name="Text 17"/>
          <p:cNvSpPr/>
          <p:nvPr/>
        </p:nvSpPr>
        <p:spPr>
          <a:xfrm>
            <a:off x="5779008" y="1024128"/>
            <a:ext cx="2926080" cy="548640"/>
          </a:xfrm>
          <a:prstGeom prst="rect">
            <a:avLst/>
          </a:prstGeom>
          <a:noFill/>
          <a:ln/>
        </p:spPr>
        <p:txBody>
          <a:bodyPr wrap="square" lIns="0" tIns="0" rIns="0" bIns="0" rtlCol="0" anchor="ctr"/>
          <a:lstStyle/>
          <a:p>
            <a:pPr marL="0" indent="0">
              <a:buNone/>
            </a:pPr>
            <a:r>
              <a:rPr lang="en-US" sz="1200" b="1" dirty="0">
                <a:solidFill>
                  <a:srgbClr val="00C2E0"/>
                </a:solidFill>
              </a:rPr>
              <a:t>1  </a:t>
            </a:r>
            <a:r>
              <a:rPr lang="en-US" sz="1200" dirty="0">
                <a:solidFill>
                  <a:srgbClr val="E8EDF5"/>
                </a:solidFill>
              </a:rPr>
              <a:t>Predict daily solar energy yield (kWh) for Australian cities given weather conditions</a:t>
            </a:r>
            <a:endParaRPr lang="en-US" sz="1200" dirty="0"/>
          </a:p>
        </p:txBody>
      </p:sp>
      <p:sp>
        <p:nvSpPr>
          <p:cNvPr id="20" name="Text 18"/>
          <p:cNvSpPr/>
          <p:nvPr/>
        </p:nvSpPr>
        <p:spPr>
          <a:xfrm>
            <a:off x="5779008" y="1581912"/>
            <a:ext cx="2926080" cy="548640"/>
          </a:xfrm>
          <a:prstGeom prst="rect">
            <a:avLst/>
          </a:prstGeom>
          <a:noFill/>
          <a:ln/>
        </p:spPr>
        <p:txBody>
          <a:bodyPr wrap="square" lIns="0" tIns="0" rIns="0" bIns="0" rtlCol="0" anchor="ctr"/>
          <a:lstStyle/>
          <a:p>
            <a:pPr marL="0" indent="0">
              <a:buNone/>
            </a:pPr>
            <a:r>
              <a:rPr lang="en-US" sz="1200" b="1" dirty="0">
                <a:solidFill>
                  <a:srgbClr val="00C2E0"/>
                </a:solidFill>
              </a:rPr>
              <a:t>2  </a:t>
            </a:r>
            <a:r>
              <a:rPr lang="en-US" sz="1200" dirty="0">
                <a:solidFill>
                  <a:srgbClr val="E8EDF5"/>
                </a:solidFill>
              </a:rPr>
              <a:t>Expose predictions via an LLM-powered agent answering natural language questions</a:t>
            </a:r>
            <a:endParaRPr lang="en-US" sz="1200" dirty="0"/>
          </a:p>
        </p:txBody>
      </p:sp>
      <p:sp>
        <p:nvSpPr>
          <p:cNvPr id="21" name="Shape 19"/>
          <p:cNvSpPr/>
          <p:nvPr/>
        </p:nvSpPr>
        <p:spPr>
          <a:xfrm>
            <a:off x="274320" y="2724912"/>
            <a:ext cx="54864" cy="256032"/>
          </a:xfrm>
          <a:prstGeom prst="rect">
            <a:avLst/>
          </a:prstGeom>
          <a:solidFill>
            <a:srgbClr val="00C2E0"/>
          </a:solidFill>
          <a:ln w="12700">
            <a:solidFill>
              <a:srgbClr val="00C2E0"/>
            </a:solidFill>
            <a:prstDash val="solid"/>
          </a:ln>
        </p:spPr>
        <p:txBody>
          <a:bodyPr/>
          <a:lstStyle/>
          <a:p>
            <a:endParaRPr lang="en-US"/>
          </a:p>
        </p:txBody>
      </p:sp>
      <p:sp>
        <p:nvSpPr>
          <p:cNvPr id="22" name="Text 20"/>
          <p:cNvSpPr/>
          <p:nvPr/>
        </p:nvSpPr>
        <p:spPr>
          <a:xfrm>
            <a:off x="402336" y="2724912"/>
            <a:ext cx="3657600" cy="256032"/>
          </a:xfrm>
          <a:prstGeom prst="rect">
            <a:avLst/>
          </a:prstGeom>
          <a:noFill/>
          <a:ln/>
        </p:spPr>
        <p:txBody>
          <a:bodyPr wrap="square" lIns="0" tIns="0" rIns="0" bIns="0" rtlCol="0" anchor="ctr"/>
          <a:lstStyle/>
          <a:p>
            <a:pPr marL="0" indent="0">
              <a:buNone/>
            </a:pPr>
            <a:r>
              <a:rPr lang="en-US" sz="1600" b="1" dirty="0">
                <a:solidFill>
                  <a:srgbClr val="00C2E0"/>
                </a:solidFill>
                <a:latin typeface="Trebuchet MS" pitchFamily="34" charset="0"/>
                <a:ea typeface="Trebuchet MS" pitchFamily="34" charset="-122"/>
                <a:cs typeface="Trebuchet MS" pitchFamily="34" charset="-120"/>
              </a:rPr>
              <a:t>DATA SOURCES</a:t>
            </a:r>
            <a:endParaRPr lang="en-US" sz="1600" dirty="0"/>
          </a:p>
        </p:txBody>
      </p:sp>
      <p:sp>
        <p:nvSpPr>
          <p:cNvPr id="23" name="Shape 21"/>
          <p:cNvSpPr/>
          <p:nvPr/>
        </p:nvSpPr>
        <p:spPr>
          <a:xfrm>
            <a:off x="274320" y="3063240"/>
            <a:ext cx="4206240" cy="1691640"/>
          </a:xfrm>
          <a:prstGeom prst="rect">
            <a:avLst/>
          </a:prstGeom>
          <a:solidFill>
            <a:srgbClr val="111838"/>
          </a:solidFill>
          <a:ln w="12700">
            <a:solidFill>
              <a:srgbClr val="1E2A5A"/>
            </a:solidFill>
            <a:prstDash val="solid"/>
          </a:ln>
        </p:spPr>
        <p:txBody>
          <a:bodyPr/>
          <a:lstStyle/>
          <a:p>
            <a:endParaRPr lang="en-US"/>
          </a:p>
        </p:txBody>
      </p:sp>
      <p:sp>
        <p:nvSpPr>
          <p:cNvPr id="24" name="Shape 22"/>
          <p:cNvSpPr/>
          <p:nvPr/>
        </p:nvSpPr>
        <p:spPr>
          <a:xfrm>
            <a:off x="274320" y="3063240"/>
            <a:ext cx="54864" cy="1691640"/>
          </a:xfrm>
          <a:prstGeom prst="rect">
            <a:avLst/>
          </a:prstGeom>
          <a:solidFill>
            <a:srgbClr val="00C2E0"/>
          </a:solidFill>
          <a:ln w="12700">
            <a:solidFill>
              <a:srgbClr val="00C2E0"/>
            </a:solidFill>
            <a:prstDash val="solid"/>
          </a:ln>
        </p:spPr>
        <p:txBody>
          <a:bodyPr/>
          <a:lstStyle/>
          <a:p>
            <a:endParaRPr lang="en-US"/>
          </a:p>
        </p:txBody>
      </p:sp>
      <p:sp>
        <p:nvSpPr>
          <p:cNvPr id="25" name="Text 23"/>
          <p:cNvSpPr/>
          <p:nvPr/>
        </p:nvSpPr>
        <p:spPr>
          <a:xfrm>
            <a:off x="475488" y="3118104"/>
            <a:ext cx="3840480" cy="256032"/>
          </a:xfrm>
          <a:prstGeom prst="rect">
            <a:avLst/>
          </a:prstGeom>
          <a:noFill/>
          <a:ln/>
        </p:spPr>
        <p:txBody>
          <a:bodyPr wrap="square" lIns="0" tIns="0" rIns="0" bIns="0" rtlCol="0" anchor="ctr"/>
          <a:lstStyle/>
          <a:p>
            <a:pPr marL="0" indent="0">
              <a:buNone/>
            </a:pPr>
            <a:r>
              <a:rPr lang="en-US" sz="1400" b="1" dirty="0">
                <a:solidFill>
                  <a:srgbClr val="00C2E0"/>
                </a:solidFill>
              </a:rPr>
              <a:t>Global Solar Atlas</a:t>
            </a:r>
            <a:endParaRPr lang="en-US" sz="1400" dirty="0"/>
          </a:p>
        </p:txBody>
      </p:sp>
      <p:sp>
        <p:nvSpPr>
          <p:cNvPr id="26" name="Text 24"/>
          <p:cNvSpPr/>
          <p:nvPr/>
        </p:nvSpPr>
        <p:spPr>
          <a:xfrm>
            <a:off x="475488" y="3401568"/>
            <a:ext cx="3840480" cy="1280160"/>
          </a:xfrm>
          <a:prstGeom prst="rect">
            <a:avLst/>
          </a:prstGeom>
          <a:noFill/>
          <a:ln/>
        </p:spPr>
        <p:txBody>
          <a:bodyPr wrap="square" lIns="0" tIns="0" rIns="0" bIns="0" rtlCol="0" anchor="ctr"/>
          <a:lstStyle/>
          <a:p>
            <a:pPr marL="0" indent="0">
              <a:buNone/>
            </a:pPr>
            <a:r>
              <a:rPr lang="en-US" sz="1200" dirty="0">
                <a:solidFill>
                  <a:srgbClr val="E8EDF5"/>
                </a:solidFill>
              </a:rPr>
              <a:t>Monthly PVOUT TIFFs (EPSG:4326)</a:t>
            </a:r>
            <a:endParaRPr lang="en-US" sz="1200" dirty="0"/>
          </a:p>
          <a:p>
            <a:pPr marL="0" indent="0">
              <a:buNone/>
            </a:pPr>
            <a:r>
              <a:rPr lang="en-US" sz="1200" dirty="0">
                <a:solidFill>
                  <a:srgbClr val="E8EDF5"/>
                </a:solidFill>
              </a:rPr>
              <a:t>12 raster files · kWh/kWp/day · Australia</a:t>
            </a:r>
            <a:endParaRPr lang="en-US" sz="1200" dirty="0"/>
          </a:p>
        </p:txBody>
      </p:sp>
      <p:sp>
        <p:nvSpPr>
          <p:cNvPr id="27" name="Shape 25"/>
          <p:cNvSpPr/>
          <p:nvPr/>
        </p:nvSpPr>
        <p:spPr>
          <a:xfrm>
            <a:off x="4663440" y="3063240"/>
            <a:ext cx="4206240" cy="1691640"/>
          </a:xfrm>
          <a:prstGeom prst="rect">
            <a:avLst/>
          </a:prstGeom>
          <a:solidFill>
            <a:srgbClr val="111838"/>
          </a:solidFill>
          <a:ln w="12700">
            <a:solidFill>
              <a:srgbClr val="1E2A5A"/>
            </a:solidFill>
            <a:prstDash val="solid"/>
          </a:ln>
        </p:spPr>
        <p:txBody>
          <a:bodyPr/>
          <a:lstStyle/>
          <a:p>
            <a:endParaRPr lang="en-US"/>
          </a:p>
        </p:txBody>
      </p:sp>
      <p:sp>
        <p:nvSpPr>
          <p:cNvPr id="28" name="Shape 26"/>
          <p:cNvSpPr/>
          <p:nvPr/>
        </p:nvSpPr>
        <p:spPr>
          <a:xfrm>
            <a:off x="4663440" y="3063240"/>
            <a:ext cx="54864" cy="1691640"/>
          </a:xfrm>
          <a:prstGeom prst="rect">
            <a:avLst/>
          </a:prstGeom>
          <a:solidFill>
            <a:srgbClr val="F59E0B"/>
          </a:solidFill>
          <a:ln w="12700">
            <a:solidFill>
              <a:srgbClr val="F59E0B"/>
            </a:solidFill>
            <a:prstDash val="solid"/>
          </a:ln>
        </p:spPr>
        <p:txBody>
          <a:bodyPr/>
          <a:lstStyle/>
          <a:p>
            <a:endParaRPr lang="en-US"/>
          </a:p>
        </p:txBody>
      </p:sp>
      <p:sp>
        <p:nvSpPr>
          <p:cNvPr id="29" name="Text 27"/>
          <p:cNvSpPr/>
          <p:nvPr/>
        </p:nvSpPr>
        <p:spPr>
          <a:xfrm>
            <a:off x="4864608" y="3118104"/>
            <a:ext cx="3840480" cy="256032"/>
          </a:xfrm>
          <a:prstGeom prst="rect">
            <a:avLst/>
          </a:prstGeom>
          <a:noFill/>
          <a:ln/>
        </p:spPr>
        <p:txBody>
          <a:bodyPr wrap="square" lIns="0" tIns="0" rIns="0" bIns="0" rtlCol="0" anchor="ctr"/>
          <a:lstStyle/>
          <a:p>
            <a:pPr marL="0" indent="0">
              <a:buNone/>
            </a:pPr>
            <a:r>
              <a:rPr lang="en-US" sz="1400" b="1" dirty="0">
                <a:solidFill>
                  <a:srgbClr val="F59E0B"/>
                </a:solidFill>
              </a:rPr>
              <a:t>Kaggle Australia Daily Weather</a:t>
            </a:r>
            <a:endParaRPr lang="en-US" sz="1400" dirty="0"/>
          </a:p>
        </p:txBody>
      </p:sp>
      <p:sp>
        <p:nvSpPr>
          <p:cNvPr id="30" name="Text 28"/>
          <p:cNvSpPr/>
          <p:nvPr/>
        </p:nvSpPr>
        <p:spPr>
          <a:xfrm>
            <a:off x="4864608" y="3401568"/>
            <a:ext cx="3840480" cy="1280160"/>
          </a:xfrm>
          <a:prstGeom prst="rect">
            <a:avLst/>
          </a:prstGeom>
          <a:noFill/>
          <a:ln/>
        </p:spPr>
        <p:txBody>
          <a:bodyPr wrap="square" lIns="0" tIns="0" rIns="0" bIns="0" rtlCol="0" anchor="ctr"/>
          <a:lstStyle/>
          <a:p>
            <a:pPr marL="0" indent="0">
              <a:buNone/>
            </a:pPr>
            <a:r>
              <a:rPr lang="en-US" sz="1200" dirty="0">
                <a:solidFill>
                  <a:srgbClr val="E8EDF5"/>
                </a:solidFill>
              </a:rPr>
              <a:t>145,460 rows  ·  49 locations  ·  2007 – 2017</a:t>
            </a:r>
            <a:endParaRPr lang="en-US" sz="1200" dirty="0"/>
          </a:p>
          <a:p>
            <a:pPr marL="0" indent="0">
              <a:buNone/>
            </a:pPr>
            <a:r>
              <a:rPr lang="en-US" sz="1200" dirty="0">
                <a:solidFill>
                  <a:srgbClr val="E8EDF5"/>
                </a:solidFill>
              </a:rPr>
              <a:t>Tabular weather regressors for solar yield prediction</a:t>
            </a:r>
            <a:endParaRPr lang="en-US" sz="1200" dirty="0"/>
          </a:p>
        </p:txBody>
      </p:sp>
      <p:sp>
        <p:nvSpPr>
          <p:cNvPr id="7" name="Text 12">
            <a:extLst>
              <a:ext uri="{FF2B5EF4-FFF2-40B4-BE49-F238E27FC236}">
                <a16:creationId xmlns:a16="http://schemas.microsoft.com/office/drawing/2014/main" id="{420BDB43-7B7D-383A-FCF9-F57B487B3FEC}"/>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Solution Architecture</a:t>
            </a:r>
            <a:endParaRPr lang="en-US" sz="1700" dirty="0"/>
          </a:p>
        </p:txBody>
      </p:sp>
      <p:sp>
        <p:nvSpPr>
          <p:cNvPr id="5" name="Shape 3"/>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00C2E0"/>
          </a:solidFill>
          <a:ln w="12700">
            <a:solidFill>
              <a:srgbClr val="00C2E0"/>
            </a:solidFill>
            <a:prstDash val="solid"/>
          </a:ln>
        </p:spPr>
        <p:txBody>
          <a:bodyPr/>
          <a:lstStyle/>
          <a:p>
            <a:endParaRPr lang="en-US"/>
          </a:p>
        </p:txBody>
      </p:sp>
      <p:sp>
        <p:nvSpPr>
          <p:cNvPr id="13" name="Text 11"/>
          <p:cNvSpPr/>
          <p:nvPr/>
        </p:nvSpPr>
        <p:spPr>
          <a:xfrm>
            <a:off x="402336" y="594360"/>
            <a:ext cx="3657600" cy="256032"/>
          </a:xfrm>
          <a:prstGeom prst="rect">
            <a:avLst/>
          </a:prstGeom>
          <a:noFill/>
          <a:ln/>
        </p:spPr>
        <p:txBody>
          <a:bodyPr wrap="square" lIns="0" tIns="0" rIns="0" bIns="0" rtlCol="0" anchor="ctr"/>
          <a:lstStyle/>
          <a:p>
            <a:pPr marL="0" indent="0">
              <a:buNone/>
            </a:pPr>
            <a:r>
              <a:rPr lang="en-US" sz="1400" b="1" dirty="0">
                <a:solidFill>
                  <a:srgbClr val="00C2E0"/>
                </a:solidFill>
                <a:latin typeface="Trebuchet MS" pitchFamily="34" charset="0"/>
                <a:ea typeface="Trebuchet MS" pitchFamily="34" charset="-122"/>
                <a:cs typeface="Trebuchet MS" pitchFamily="34" charset="-120"/>
              </a:rPr>
              <a:t>TWO-PHASE SYSTEM</a:t>
            </a:r>
            <a:endParaRPr lang="en-US" sz="1400" dirty="0"/>
          </a:p>
        </p:txBody>
      </p:sp>
      <p:sp>
        <p:nvSpPr>
          <p:cNvPr id="14" name="Shape 12"/>
          <p:cNvSpPr/>
          <p:nvPr/>
        </p:nvSpPr>
        <p:spPr>
          <a:xfrm>
            <a:off x="274320" y="914400"/>
            <a:ext cx="4160520" cy="3913632"/>
          </a:xfrm>
          <a:prstGeom prst="rect">
            <a:avLst/>
          </a:prstGeom>
          <a:solidFill>
            <a:srgbClr val="111838"/>
          </a:solidFill>
          <a:ln w="12700">
            <a:solidFill>
              <a:srgbClr val="1E2A5A"/>
            </a:solidFill>
            <a:prstDash val="solid"/>
          </a:ln>
        </p:spPr>
        <p:txBody>
          <a:bodyPr/>
          <a:lstStyle/>
          <a:p>
            <a:endParaRPr lang="en-US"/>
          </a:p>
        </p:txBody>
      </p:sp>
      <p:sp>
        <p:nvSpPr>
          <p:cNvPr id="15" name="Shape 13"/>
          <p:cNvSpPr/>
          <p:nvPr/>
        </p:nvSpPr>
        <p:spPr>
          <a:xfrm>
            <a:off x="274320" y="914400"/>
            <a:ext cx="54864" cy="3913632"/>
          </a:xfrm>
          <a:prstGeom prst="rect">
            <a:avLst/>
          </a:prstGeom>
          <a:solidFill>
            <a:srgbClr val="00C2E0"/>
          </a:solidFill>
          <a:ln w="12700">
            <a:solidFill>
              <a:srgbClr val="00C2E0"/>
            </a:solidFill>
            <a:prstDash val="solid"/>
          </a:ln>
        </p:spPr>
        <p:txBody>
          <a:bodyPr/>
          <a:lstStyle/>
          <a:p>
            <a:endParaRPr lang="en-US"/>
          </a:p>
        </p:txBody>
      </p:sp>
      <p:sp>
        <p:nvSpPr>
          <p:cNvPr id="16" name="Text 14"/>
          <p:cNvSpPr/>
          <p:nvPr/>
        </p:nvSpPr>
        <p:spPr>
          <a:xfrm>
            <a:off x="475488" y="969264"/>
            <a:ext cx="3840480" cy="256032"/>
          </a:xfrm>
          <a:prstGeom prst="rect">
            <a:avLst/>
          </a:prstGeom>
          <a:noFill/>
          <a:ln/>
        </p:spPr>
        <p:txBody>
          <a:bodyPr wrap="square" lIns="0" tIns="0" rIns="0" bIns="0" rtlCol="0" anchor="ctr"/>
          <a:lstStyle/>
          <a:p>
            <a:pPr marL="0" indent="0">
              <a:buNone/>
            </a:pPr>
            <a:r>
              <a:rPr lang="en-US" sz="1200" b="1" kern="0" spc="100" dirty="0">
                <a:solidFill>
                  <a:srgbClr val="00C2E0"/>
                </a:solidFill>
              </a:rPr>
              <a:t>OFFLINE — Training Phase</a:t>
            </a:r>
            <a:endParaRPr lang="en-US" sz="1200" dirty="0"/>
          </a:p>
        </p:txBody>
      </p:sp>
      <p:sp>
        <p:nvSpPr>
          <p:cNvPr id="17" name="Shape 15"/>
          <p:cNvSpPr/>
          <p:nvPr/>
        </p:nvSpPr>
        <p:spPr>
          <a:xfrm>
            <a:off x="475488" y="1298448"/>
            <a:ext cx="3657600" cy="438912"/>
          </a:xfrm>
          <a:prstGeom prst="rect">
            <a:avLst/>
          </a:prstGeom>
          <a:solidFill>
            <a:srgbClr val="161E45"/>
          </a:solidFill>
          <a:ln w="12700">
            <a:solidFill>
              <a:srgbClr val="1E2A5A"/>
            </a:solidFill>
            <a:prstDash val="solid"/>
          </a:ln>
        </p:spPr>
        <p:txBody>
          <a:bodyPr/>
          <a:lstStyle/>
          <a:p>
            <a:endParaRPr lang="en-US"/>
          </a:p>
        </p:txBody>
      </p:sp>
      <p:sp>
        <p:nvSpPr>
          <p:cNvPr id="18" name="Text 16"/>
          <p:cNvSpPr/>
          <p:nvPr/>
        </p:nvSpPr>
        <p:spPr>
          <a:xfrm>
            <a:off x="585216" y="1316736"/>
            <a:ext cx="3438144" cy="219456"/>
          </a:xfrm>
          <a:prstGeom prst="rect">
            <a:avLst/>
          </a:prstGeom>
          <a:noFill/>
          <a:ln/>
        </p:spPr>
        <p:txBody>
          <a:bodyPr wrap="square" lIns="0" tIns="0" rIns="0" bIns="0" rtlCol="0" anchor="ctr"/>
          <a:lstStyle/>
          <a:p>
            <a:pPr marL="0" indent="0">
              <a:buNone/>
            </a:pPr>
            <a:r>
              <a:rPr lang="en-US" sz="1000" b="1" dirty="0">
                <a:solidFill>
                  <a:srgbClr val="FFFFFF"/>
                </a:solidFill>
              </a:rPr>
              <a:t>Global Solar Atlas TIFFs</a:t>
            </a:r>
            <a:endParaRPr lang="en-US" sz="1000" dirty="0"/>
          </a:p>
        </p:txBody>
      </p:sp>
      <p:sp>
        <p:nvSpPr>
          <p:cNvPr id="19" name="Text 17"/>
          <p:cNvSpPr/>
          <p:nvPr/>
        </p:nvSpPr>
        <p:spPr>
          <a:xfrm>
            <a:off x="585216" y="1517904"/>
            <a:ext cx="3438144" cy="182880"/>
          </a:xfrm>
          <a:prstGeom prst="rect">
            <a:avLst/>
          </a:prstGeom>
          <a:noFill/>
          <a:ln/>
        </p:spPr>
        <p:txBody>
          <a:bodyPr wrap="square" lIns="0" tIns="0" rIns="0" bIns="0" rtlCol="0" anchor="ctr"/>
          <a:lstStyle/>
          <a:p>
            <a:pPr marL="0" indent="0">
              <a:buNone/>
            </a:pPr>
            <a:r>
              <a:rPr lang="en-US" sz="800" dirty="0">
                <a:solidFill>
                  <a:srgbClr val="8A99C0"/>
                </a:solidFill>
              </a:rPr>
              <a:t>12 monthly PVOUT rasters</a:t>
            </a:r>
            <a:endParaRPr lang="en-US" sz="800" dirty="0"/>
          </a:p>
        </p:txBody>
      </p:sp>
      <p:sp>
        <p:nvSpPr>
          <p:cNvPr id="20" name="Shape 18"/>
          <p:cNvSpPr/>
          <p:nvPr/>
        </p:nvSpPr>
        <p:spPr>
          <a:xfrm>
            <a:off x="2103120" y="1737360"/>
            <a:ext cx="36576" cy="128016"/>
          </a:xfrm>
          <a:prstGeom prst="rect">
            <a:avLst/>
          </a:prstGeom>
          <a:solidFill>
            <a:srgbClr val="00C2E0"/>
          </a:solidFill>
          <a:ln w="12700">
            <a:solidFill>
              <a:srgbClr val="00C2E0"/>
            </a:solidFill>
            <a:prstDash val="solid"/>
          </a:ln>
        </p:spPr>
        <p:txBody>
          <a:bodyPr/>
          <a:lstStyle/>
          <a:p>
            <a:endParaRPr lang="en-US"/>
          </a:p>
        </p:txBody>
      </p:sp>
      <p:sp>
        <p:nvSpPr>
          <p:cNvPr id="21" name="Shape 19"/>
          <p:cNvSpPr/>
          <p:nvPr/>
        </p:nvSpPr>
        <p:spPr>
          <a:xfrm>
            <a:off x="475488" y="1865376"/>
            <a:ext cx="3657600" cy="438912"/>
          </a:xfrm>
          <a:prstGeom prst="rect">
            <a:avLst/>
          </a:prstGeom>
          <a:solidFill>
            <a:srgbClr val="161E45"/>
          </a:solidFill>
          <a:ln w="12700">
            <a:solidFill>
              <a:srgbClr val="1E2A5A"/>
            </a:solidFill>
            <a:prstDash val="solid"/>
          </a:ln>
        </p:spPr>
        <p:txBody>
          <a:bodyPr/>
          <a:lstStyle/>
          <a:p>
            <a:endParaRPr lang="en-US"/>
          </a:p>
        </p:txBody>
      </p:sp>
      <p:sp>
        <p:nvSpPr>
          <p:cNvPr id="22" name="Text 20"/>
          <p:cNvSpPr/>
          <p:nvPr/>
        </p:nvSpPr>
        <p:spPr>
          <a:xfrm>
            <a:off x="585216" y="1883664"/>
            <a:ext cx="3438144" cy="219456"/>
          </a:xfrm>
          <a:prstGeom prst="rect">
            <a:avLst/>
          </a:prstGeom>
          <a:noFill/>
          <a:ln/>
        </p:spPr>
        <p:txBody>
          <a:bodyPr wrap="square" lIns="0" tIns="0" rIns="0" bIns="0" rtlCol="0" anchor="ctr"/>
          <a:lstStyle/>
          <a:p>
            <a:pPr marL="0" indent="0">
              <a:buNone/>
            </a:pPr>
            <a:r>
              <a:rPr lang="en-US" sz="1000" b="1" dirty="0">
                <a:solidFill>
                  <a:srgbClr val="FFFFFF"/>
                </a:solidFill>
              </a:rPr>
              <a:t>Rasterio Extraction</a:t>
            </a:r>
            <a:endParaRPr lang="en-US" sz="1000" dirty="0"/>
          </a:p>
        </p:txBody>
      </p:sp>
      <p:sp>
        <p:nvSpPr>
          <p:cNvPr id="23" name="Text 21"/>
          <p:cNvSpPr/>
          <p:nvPr/>
        </p:nvSpPr>
        <p:spPr>
          <a:xfrm>
            <a:off x="585216" y="2084832"/>
            <a:ext cx="3438144" cy="182880"/>
          </a:xfrm>
          <a:prstGeom prst="rect">
            <a:avLst/>
          </a:prstGeom>
          <a:noFill/>
          <a:ln/>
        </p:spPr>
        <p:txBody>
          <a:bodyPr wrap="square" lIns="0" tIns="0" rIns="0" bIns="0" rtlCol="0" anchor="ctr"/>
          <a:lstStyle/>
          <a:p>
            <a:pPr marL="0" indent="0">
              <a:buNone/>
            </a:pPr>
            <a:r>
              <a:rPr lang="en-US" sz="800" dirty="0">
                <a:solidFill>
                  <a:srgbClr val="8A99C0"/>
                </a:solidFill>
              </a:rPr>
              <a:t>Bounding box average per city</a:t>
            </a:r>
            <a:endParaRPr lang="en-US" sz="800" dirty="0"/>
          </a:p>
        </p:txBody>
      </p:sp>
      <p:sp>
        <p:nvSpPr>
          <p:cNvPr id="24" name="Shape 22"/>
          <p:cNvSpPr/>
          <p:nvPr/>
        </p:nvSpPr>
        <p:spPr>
          <a:xfrm>
            <a:off x="2103120" y="2304288"/>
            <a:ext cx="36576" cy="128016"/>
          </a:xfrm>
          <a:prstGeom prst="rect">
            <a:avLst/>
          </a:prstGeom>
          <a:solidFill>
            <a:srgbClr val="00C2E0"/>
          </a:solidFill>
          <a:ln w="12700">
            <a:solidFill>
              <a:srgbClr val="00C2E0"/>
            </a:solidFill>
            <a:prstDash val="solid"/>
          </a:ln>
        </p:spPr>
        <p:txBody>
          <a:bodyPr/>
          <a:lstStyle/>
          <a:p>
            <a:endParaRPr lang="en-US"/>
          </a:p>
        </p:txBody>
      </p:sp>
      <p:sp>
        <p:nvSpPr>
          <p:cNvPr id="25" name="Shape 23"/>
          <p:cNvSpPr/>
          <p:nvPr/>
        </p:nvSpPr>
        <p:spPr>
          <a:xfrm>
            <a:off x="475488" y="2432304"/>
            <a:ext cx="3657600" cy="438912"/>
          </a:xfrm>
          <a:prstGeom prst="rect">
            <a:avLst/>
          </a:prstGeom>
          <a:solidFill>
            <a:srgbClr val="161E45"/>
          </a:solidFill>
          <a:ln w="12700">
            <a:solidFill>
              <a:srgbClr val="1E2A5A"/>
            </a:solidFill>
            <a:prstDash val="solid"/>
          </a:ln>
        </p:spPr>
        <p:txBody>
          <a:bodyPr/>
          <a:lstStyle/>
          <a:p>
            <a:endParaRPr lang="en-US"/>
          </a:p>
        </p:txBody>
      </p:sp>
      <p:sp>
        <p:nvSpPr>
          <p:cNvPr id="26" name="Text 24"/>
          <p:cNvSpPr/>
          <p:nvPr/>
        </p:nvSpPr>
        <p:spPr>
          <a:xfrm>
            <a:off x="585216" y="2450592"/>
            <a:ext cx="3438144" cy="219456"/>
          </a:xfrm>
          <a:prstGeom prst="rect">
            <a:avLst/>
          </a:prstGeom>
          <a:noFill/>
          <a:ln/>
        </p:spPr>
        <p:txBody>
          <a:bodyPr wrap="square" lIns="0" tIns="0" rIns="0" bIns="0" rtlCol="0" anchor="ctr"/>
          <a:lstStyle/>
          <a:p>
            <a:pPr marL="0" indent="0">
              <a:buNone/>
            </a:pPr>
            <a:r>
              <a:rPr lang="en-US" sz="1000" b="1" dirty="0">
                <a:solidFill>
                  <a:srgbClr val="FFFFFF"/>
                </a:solidFill>
              </a:rPr>
              <a:t>Kaggle weatherAUS.csv</a:t>
            </a:r>
            <a:endParaRPr lang="en-US" sz="1000" dirty="0"/>
          </a:p>
        </p:txBody>
      </p:sp>
      <p:sp>
        <p:nvSpPr>
          <p:cNvPr id="27" name="Text 25"/>
          <p:cNvSpPr/>
          <p:nvPr/>
        </p:nvSpPr>
        <p:spPr>
          <a:xfrm>
            <a:off x="585216" y="2651760"/>
            <a:ext cx="3438144" cy="182880"/>
          </a:xfrm>
          <a:prstGeom prst="rect">
            <a:avLst/>
          </a:prstGeom>
          <a:noFill/>
          <a:ln/>
        </p:spPr>
        <p:txBody>
          <a:bodyPr wrap="square" lIns="0" tIns="0" rIns="0" bIns="0" rtlCol="0" anchor="ctr"/>
          <a:lstStyle/>
          <a:p>
            <a:pPr marL="0" indent="0">
              <a:buNone/>
            </a:pPr>
            <a:r>
              <a:rPr lang="en-US" sz="800" dirty="0">
                <a:solidFill>
                  <a:srgbClr val="8A99C0"/>
                </a:solidFill>
              </a:rPr>
              <a:t>2009 train  ·  2010 holdout</a:t>
            </a:r>
            <a:endParaRPr lang="en-US" sz="800" dirty="0"/>
          </a:p>
        </p:txBody>
      </p:sp>
      <p:sp>
        <p:nvSpPr>
          <p:cNvPr id="28" name="Shape 26"/>
          <p:cNvSpPr/>
          <p:nvPr/>
        </p:nvSpPr>
        <p:spPr>
          <a:xfrm>
            <a:off x="2103120" y="2871216"/>
            <a:ext cx="36576" cy="128016"/>
          </a:xfrm>
          <a:prstGeom prst="rect">
            <a:avLst/>
          </a:prstGeom>
          <a:solidFill>
            <a:srgbClr val="00C2E0"/>
          </a:solidFill>
          <a:ln w="12700">
            <a:solidFill>
              <a:srgbClr val="00C2E0"/>
            </a:solidFill>
            <a:prstDash val="solid"/>
          </a:ln>
        </p:spPr>
        <p:txBody>
          <a:bodyPr/>
          <a:lstStyle/>
          <a:p>
            <a:endParaRPr lang="en-US"/>
          </a:p>
        </p:txBody>
      </p:sp>
      <p:sp>
        <p:nvSpPr>
          <p:cNvPr id="29" name="Shape 27"/>
          <p:cNvSpPr/>
          <p:nvPr/>
        </p:nvSpPr>
        <p:spPr>
          <a:xfrm>
            <a:off x="475488" y="2999232"/>
            <a:ext cx="3657600" cy="438912"/>
          </a:xfrm>
          <a:prstGeom prst="rect">
            <a:avLst/>
          </a:prstGeom>
          <a:solidFill>
            <a:srgbClr val="161E45"/>
          </a:solidFill>
          <a:ln w="12700">
            <a:solidFill>
              <a:srgbClr val="1E2A5A"/>
            </a:solidFill>
            <a:prstDash val="solid"/>
          </a:ln>
        </p:spPr>
        <p:txBody>
          <a:bodyPr/>
          <a:lstStyle/>
          <a:p>
            <a:endParaRPr lang="en-US"/>
          </a:p>
        </p:txBody>
      </p:sp>
      <p:sp>
        <p:nvSpPr>
          <p:cNvPr id="30" name="Text 28"/>
          <p:cNvSpPr/>
          <p:nvPr/>
        </p:nvSpPr>
        <p:spPr>
          <a:xfrm>
            <a:off x="585216" y="3017520"/>
            <a:ext cx="3438144" cy="219456"/>
          </a:xfrm>
          <a:prstGeom prst="rect">
            <a:avLst/>
          </a:prstGeom>
          <a:noFill/>
          <a:ln/>
        </p:spPr>
        <p:txBody>
          <a:bodyPr wrap="square" lIns="0" tIns="0" rIns="0" bIns="0" rtlCol="0" anchor="ctr"/>
          <a:lstStyle/>
          <a:p>
            <a:pPr marL="0" indent="0">
              <a:buNone/>
            </a:pPr>
            <a:r>
              <a:rPr lang="en-US" sz="1000" b="1" dirty="0">
                <a:solidFill>
                  <a:srgbClr val="FFFFFF"/>
                </a:solidFill>
              </a:rPr>
              <a:t>Monthly Aggregation</a:t>
            </a:r>
            <a:endParaRPr lang="en-US" sz="1000" dirty="0"/>
          </a:p>
        </p:txBody>
      </p:sp>
      <p:sp>
        <p:nvSpPr>
          <p:cNvPr id="31" name="Text 29"/>
          <p:cNvSpPr/>
          <p:nvPr/>
        </p:nvSpPr>
        <p:spPr>
          <a:xfrm>
            <a:off x="585216" y="3218688"/>
            <a:ext cx="3438144" cy="182880"/>
          </a:xfrm>
          <a:prstGeom prst="rect">
            <a:avLst/>
          </a:prstGeom>
          <a:noFill/>
          <a:ln/>
        </p:spPr>
        <p:txBody>
          <a:bodyPr wrap="square" lIns="0" tIns="0" rIns="0" bIns="0" rtlCol="0" anchor="ctr"/>
          <a:lstStyle/>
          <a:p>
            <a:pPr marL="0" indent="0">
              <a:buNone/>
            </a:pPr>
            <a:r>
              <a:rPr lang="en-US" sz="800" dirty="0">
                <a:solidFill>
                  <a:srgbClr val="8A99C0"/>
                </a:solidFill>
              </a:rPr>
              <a:t>528 rows · 44 cities × 12 months</a:t>
            </a:r>
            <a:endParaRPr lang="en-US" sz="800" dirty="0"/>
          </a:p>
        </p:txBody>
      </p:sp>
      <p:sp>
        <p:nvSpPr>
          <p:cNvPr id="32" name="Shape 30"/>
          <p:cNvSpPr/>
          <p:nvPr/>
        </p:nvSpPr>
        <p:spPr>
          <a:xfrm>
            <a:off x="2103120" y="3438144"/>
            <a:ext cx="36576" cy="128016"/>
          </a:xfrm>
          <a:prstGeom prst="rect">
            <a:avLst/>
          </a:prstGeom>
          <a:solidFill>
            <a:srgbClr val="00C2E0"/>
          </a:solidFill>
          <a:ln w="12700">
            <a:solidFill>
              <a:srgbClr val="00C2E0"/>
            </a:solidFill>
            <a:prstDash val="solid"/>
          </a:ln>
        </p:spPr>
        <p:txBody>
          <a:bodyPr/>
          <a:lstStyle/>
          <a:p>
            <a:endParaRPr lang="en-US"/>
          </a:p>
        </p:txBody>
      </p:sp>
      <p:sp>
        <p:nvSpPr>
          <p:cNvPr id="33" name="Shape 31"/>
          <p:cNvSpPr/>
          <p:nvPr/>
        </p:nvSpPr>
        <p:spPr>
          <a:xfrm>
            <a:off x="475488" y="3566160"/>
            <a:ext cx="3657600" cy="438912"/>
          </a:xfrm>
          <a:prstGeom prst="rect">
            <a:avLst/>
          </a:prstGeom>
          <a:solidFill>
            <a:srgbClr val="00C2E0"/>
          </a:solidFill>
          <a:ln w="12700">
            <a:solidFill>
              <a:srgbClr val="0098B4"/>
            </a:solidFill>
            <a:prstDash val="solid"/>
          </a:ln>
        </p:spPr>
        <p:txBody>
          <a:bodyPr/>
          <a:lstStyle/>
          <a:p>
            <a:endParaRPr lang="en-US"/>
          </a:p>
        </p:txBody>
      </p:sp>
      <p:sp>
        <p:nvSpPr>
          <p:cNvPr id="34" name="Text 32"/>
          <p:cNvSpPr/>
          <p:nvPr/>
        </p:nvSpPr>
        <p:spPr>
          <a:xfrm>
            <a:off x="585216" y="3584448"/>
            <a:ext cx="3438144" cy="219456"/>
          </a:xfrm>
          <a:prstGeom prst="rect">
            <a:avLst/>
          </a:prstGeom>
          <a:noFill/>
          <a:ln/>
        </p:spPr>
        <p:txBody>
          <a:bodyPr wrap="square" lIns="0" tIns="0" rIns="0" bIns="0" rtlCol="0" anchor="ctr"/>
          <a:lstStyle/>
          <a:p>
            <a:pPr marL="0" indent="0">
              <a:buNone/>
            </a:pPr>
            <a:r>
              <a:rPr lang="en-US" sz="1000" b="1" dirty="0">
                <a:solidFill>
                  <a:srgbClr val="080C22"/>
                </a:solidFill>
              </a:rPr>
              <a:t>XGBoost Regressor</a:t>
            </a:r>
            <a:endParaRPr lang="en-US" sz="1000" dirty="0"/>
          </a:p>
        </p:txBody>
      </p:sp>
      <p:sp>
        <p:nvSpPr>
          <p:cNvPr id="35" name="Text 33"/>
          <p:cNvSpPr/>
          <p:nvPr/>
        </p:nvSpPr>
        <p:spPr>
          <a:xfrm>
            <a:off x="585216" y="3785616"/>
            <a:ext cx="3438144" cy="182880"/>
          </a:xfrm>
          <a:prstGeom prst="rect">
            <a:avLst/>
          </a:prstGeom>
          <a:noFill/>
          <a:ln/>
        </p:spPr>
        <p:txBody>
          <a:bodyPr wrap="square" lIns="0" tIns="0" rIns="0" bIns="0" rtlCol="0" anchor="ctr"/>
          <a:lstStyle/>
          <a:p>
            <a:pPr marL="0" indent="0">
              <a:buNone/>
            </a:pPr>
            <a:r>
              <a:rPr lang="en-US" sz="800" dirty="0">
                <a:solidFill>
                  <a:srgbClr val="0D1340"/>
                </a:solidFill>
              </a:rPr>
              <a:t>Optuna tuned · 100 trials  ·  R² = 0.726</a:t>
            </a:r>
            <a:endParaRPr lang="en-US" sz="800" dirty="0"/>
          </a:p>
        </p:txBody>
      </p:sp>
      <p:sp>
        <p:nvSpPr>
          <p:cNvPr id="36" name="Shape 34"/>
          <p:cNvSpPr/>
          <p:nvPr/>
        </p:nvSpPr>
        <p:spPr>
          <a:xfrm>
            <a:off x="2103120" y="4005072"/>
            <a:ext cx="36576" cy="128016"/>
          </a:xfrm>
          <a:prstGeom prst="rect">
            <a:avLst/>
          </a:prstGeom>
          <a:solidFill>
            <a:srgbClr val="00C2E0"/>
          </a:solidFill>
          <a:ln w="12700">
            <a:solidFill>
              <a:srgbClr val="00C2E0"/>
            </a:solidFill>
            <a:prstDash val="solid"/>
          </a:ln>
        </p:spPr>
        <p:txBody>
          <a:bodyPr/>
          <a:lstStyle/>
          <a:p>
            <a:endParaRPr lang="en-US"/>
          </a:p>
        </p:txBody>
      </p:sp>
      <p:sp>
        <p:nvSpPr>
          <p:cNvPr id="37" name="Shape 35"/>
          <p:cNvSpPr/>
          <p:nvPr/>
        </p:nvSpPr>
        <p:spPr>
          <a:xfrm>
            <a:off x="475488" y="4133088"/>
            <a:ext cx="3657600" cy="438912"/>
          </a:xfrm>
          <a:prstGeom prst="rect">
            <a:avLst/>
          </a:prstGeom>
          <a:solidFill>
            <a:srgbClr val="161E45"/>
          </a:solidFill>
          <a:ln w="12700">
            <a:solidFill>
              <a:srgbClr val="1E2A5A"/>
            </a:solidFill>
            <a:prstDash val="solid"/>
          </a:ln>
        </p:spPr>
        <p:txBody>
          <a:bodyPr/>
          <a:lstStyle/>
          <a:p>
            <a:endParaRPr lang="en-US"/>
          </a:p>
        </p:txBody>
      </p:sp>
      <p:sp>
        <p:nvSpPr>
          <p:cNvPr id="38" name="Text 36"/>
          <p:cNvSpPr/>
          <p:nvPr/>
        </p:nvSpPr>
        <p:spPr>
          <a:xfrm>
            <a:off x="585216" y="4151376"/>
            <a:ext cx="3438144" cy="219456"/>
          </a:xfrm>
          <a:prstGeom prst="rect">
            <a:avLst/>
          </a:prstGeom>
          <a:noFill/>
          <a:ln/>
        </p:spPr>
        <p:txBody>
          <a:bodyPr wrap="square" lIns="0" tIns="0" rIns="0" bIns="0" rtlCol="0" anchor="ctr"/>
          <a:lstStyle/>
          <a:p>
            <a:pPr marL="0" indent="0">
              <a:buNone/>
            </a:pPr>
            <a:r>
              <a:rPr lang="en-US" sz="1000" b="1" dirty="0">
                <a:solidFill>
                  <a:srgbClr val="FFFFFF"/>
                </a:solidFill>
              </a:rPr>
              <a:t>Saved Artifacts</a:t>
            </a:r>
            <a:endParaRPr lang="en-US" sz="1000" dirty="0"/>
          </a:p>
        </p:txBody>
      </p:sp>
      <p:sp>
        <p:nvSpPr>
          <p:cNvPr id="39" name="Text 37"/>
          <p:cNvSpPr/>
          <p:nvPr/>
        </p:nvSpPr>
        <p:spPr>
          <a:xfrm>
            <a:off x="585216" y="4352544"/>
            <a:ext cx="3438144" cy="182880"/>
          </a:xfrm>
          <a:prstGeom prst="rect">
            <a:avLst/>
          </a:prstGeom>
          <a:noFill/>
          <a:ln/>
        </p:spPr>
        <p:txBody>
          <a:bodyPr wrap="square" lIns="0" tIns="0" rIns="0" bIns="0" rtlCol="0" anchor="ctr"/>
          <a:lstStyle/>
          <a:p>
            <a:pPr marL="0" indent="0">
              <a:buNone/>
            </a:pPr>
            <a:r>
              <a:rPr lang="en-US" sz="800" dirty="0">
                <a:solidFill>
                  <a:srgbClr val="8A99C0"/>
                </a:solidFill>
              </a:rPr>
              <a:t>model · encoders · feature_cols · holdout</a:t>
            </a:r>
            <a:endParaRPr lang="en-US" sz="800" dirty="0"/>
          </a:p>
        </p:txBody>
      </p:sp>
      <p:sp>
        <p:nvSpPr>
          <p:cNvPr id="40" name="Shape 38"/>
          <p:cNvSpPr/>
          <p:nvPr/>
        </p:nvSpPr>
        <p:spPr>
          <a:xfrm>
            <a:off x="4709160" y="914400"/>
            <a:ext cx="4160520" cy="3913632"/>
          </a:xfrm>
          <a:prstGeom prst="rect">
            <a:avLst/>
          </a:prstGeom>
          <a:solidFill>
            <a:srgbClr val="111838"/>
          </a:solidFill>
          <a:ln w="12700">
            <a:solidFill>
              <a:srgbClr val="1E2A5A"/>
            </a:solidFill>
            <a:prstDash val="solid"/>
          </a:ln>
        </p:spPr>
        <p:txBody>
          <a:bodyPr/>
          <a:lstStyle/>
          <a:p>
            <a:endParaRPr lang="en-US"/>
          </a:p>
        </p:txBody>
      </p:sp>
      <p:sp>
        <p:nvSpPr>
          <p:cNvPr id="41" name="Shape 39"/>
          <p:cNvSpPr/>
          <p:nvPr/>
        </p:nvSpPr>
        <p:spPr>
          <a:xfrm>
            <a:off x="4709160" y="914400"/>
            <a:ext cx="54864" cy="3913632"/>
          </a:xfrm>
          <a:prstGeom prst="rect">
            <a:avLst/>
          </a:prstGeom>
          <a:solidFill>
            <a:srgbClr val="7C3AED"/>
          </a:solidFill>
          <a:ln w="12700">
            <a:solidFill>
              <a:srgbClr val="7C3AED"/>
            </a:solidFill>
            <a:prstDash val="solid"/>
          </a:ln>
        </p:spPr>
        <p:txBody>
          <a:bodyPr/>
          <a:lstStyle/>
          <a:p>
            <a:endParaRPr lang="en-US"/>
          </a:p>
        </p:txBody>
      </p:sp>
      <p:sp>
        <p:nvSpPr>
          <p:cNvPr id="42" name="Text 40"/>
          <p:cNvSpPr/>
          <p:nvPr/>
        </p:nvSpPr>
        <p:spPr>
          <a:xfrm>
            <a:off x="4910328" y="969264"/>
            <a:ext cx="3840480" cy="256032"/>
          </a:xfrm>
          <a:prstGeom prst="rect">
            <a:avLst/>
          </a:prstGeom>
          <a:noFill/>
          <a:ln/>
        </p:spPr>
        <p:txBody>
          <a:bodyPr wrap="square" lIns="0" tIns="0" rIns="0" bIns="0" rtlCol="0" anchor="ctr"/>
          <a:lstStyle/>
          <a:p>
            <a:pPr marL="0" indent="0">
              <a:buNone/>
            </a:pPr>
            <a:r>
              <a:rPr lang="en-US" sz="1200" b="1" kern="0" spc="100" dirty="0">
                <a:solidFill>
                  <a:srgbClr val="9B59D6"/>
                </a:solidFill>
              </a:rPr>
              <a:t>ONLINE — Agent Serving Phase</a:t>
            </a:r>
            <a:endParaRPr lang="en-US" sz="1200" dirty="0"/>
          </a:p>
        </p:txBody>
      </p:sp>
      <p:sp>
        <p:nvSpPr>
          <p:cNvPr id="43" name="Shape 41"/>
          <p:cNvSpPr/>
          <p:nvPr/>
        </p:nvSpPr>
        <p:spPr>
          <a:xfrm>
            <a:off x="4910328" y="1298448"/>
            <a:ext cx="3657600" cy="438912"/>
          </a:xfrm>
          <a:prstGeom prst="rect">
            <a:avLst/>
          </a:prstGeom>
          <a:solidFill>
            <a:srgbClr val="161E45"/>
          </a:solidFill>
          <a:ln w="12700">
            <a:solidFill>
              <a:srgbClr val="1E2A5A"/>
            </a:solidFill>
            <a:prstDash val="solid"/>
          </a:ln>
        </p:spPr>
        <p:txBody>
          <a:bodyPr/>
          <a:lstStyle/>
          <a:p>
            <a:endParaRPr lang="en-US"/>
          </a:p>
        </p:txBody>
      </p:sp>
      <p:sp>
        <p:nvSpPr>
          <p:cNvPr id="44" name="Text 42"/>
          <p:cNvSpPr/>
          <p:nvPr/>
        </p:nvSpPr>
        <p:spPr>
          <a:xfrm>
            <a:off x="5020056" y="1316736"/>
            <a:ext cx="3438144" cy="219456"/>
          </a:xfrm>
          <a:prstGeom prst="rect">
            <a:avLst/>
          </a:prstGeom>
          <a:noFill/>
          <a:ln/>
        </p:spPr>
        <p:txBody>
          <a:bodyPr wrap="square" lIns="0" tIns="0" rIns="0" bIns="0" rtlCol="0" anchor="ctr"/>
          <a:lstStyle/>
          <a:p>
            <a:pPr marL="0" indent="0">
              <a:buNone/>
            </a:pPr>
            <a:r>
              <a:rPr lang="en-US" sz="1000" b="1" dirty="0">
                <a:solidFill>
                  <a:srgbClr val="E8EDF5"/>
                </a:solidFill>
              </a:rPr>
              <a:t>User Question (Natural Language)</a:t>
            </a:r>
            <a:endParaRPr lang="en-US" sz="1000" b="1" dirty="0"/>
          </a:p>
        </p:txBody>
      </p:sp>
      <p:sp>
        <p:nvSpPr>
          <p:cNvPr id="45" name="Text 43"/>
          <p:cNvSpPr/>
          <p:nvPr/>
        </p:nvSpPr>
        <p:spPr>
          <a:xfrm>
            <a:off x="5020056" y="1517904"/>
            <a:ext cx="3438144" cy="182880"/>
          </a:xfrm>
          <a:prstGeom prst="rect">
            <a:avLst/>
          </a:prstGeom>
          <a:noFill/>
          <a:ln/>
        </p:spPr>
        <p:txBody>
          <a:bodyPr wrap="square" lIns="0" tIns="0" rIns="0" bIns="0" rtlCol="0" anchor="ctr"/>
          <a:lstStyle/>
          <a:p>
            <a:pPr marL="0" indent="0">
              <a:buNone/>
            </a:pPr>
            <a:r>
              <a:rPr lang="en-US" sz="800" dirty="0">
                <a:solidFill>
                  <a:srgbClr val="8A99C0"/>
                </a:solidFill>
              </a:rPr>
              <a:t>via Gradio Chat UI</a:t>
            </a:r>
            <a:endParaRPr lang="en-US" sz="800" dirty="0"/>
          </a:p>
        </p:txBody>
      </p:sp>
      <p:sp>
        <p:nvSpPr>
          <p:cNvPr id="46" name="Shape 44"/>
          <p:cNvSpPr/>
          <p:nvPr/>
        </p:nvSpPr>
        <p:spPr>
          <a:xfrm>
            <a:off x="6556248" y="1737360"/>
            <a:ext cx="36576" cy="128016"/>
          </a:xfrm>
          <a:prstGeom prst="rect">
            <a:avLst/>
          </a:prstGeom>
          <a:solidFill>
            <a:srgbClr val="7C3AED"/>
          </a:solidFill>
          <a:ln w="12700">
            <a:solidFill>
              <a:srgbClr val="7C3AED"/>
            </a:solidFill>
            <a:prstDash val="solid"/>
          </a:ln>
        </p:spPr>
        <p:txBody>
          <a:bodyPr/>
          <a:lstStyle/>
          <a:p>
            <a:endParaRPr lang="en-US"/>
          </a:p>
        </p:txBody>
      </p:sp>
      <p:sp>
        <p:nvSpPr>
          <p:cNvPr id="47" name="Shape 45"/>
          <p:cNvSpPr/>
          <p:nvPr/>
        </p:nvSpPr>
        <p:spPr>
          <a:xfrm>
            <a:off x="4910328" y="1865376"/>
            <a:ext cx="3657600" cy="438912"/>
          </a:xfrm>
          <a:prstGeom prst="rect">
            <a:avLst/>
          </a:prstGeom>
          <a:solidFill>
            <a:srgbClr val="7C3AED"/>
          </a:solidFill>
          <a:ln w="12700">
            <a:solidFill>
              <a:srgbClr val="7C3AED"/>
            </a:solidFill>
            <a:prstDash val="solid"/>
          </a:ln>
        </p:spPr>
        <p:txBody>
          <a:bodyPr/>
          <a:lstStyle/>
          <a:p>
            <a:endParaRPr lang="en-US"/>
          </a:p>
        </p:txBody>
      </p:sp>
      <p:sp>
        <p:nvSpPr>
          <p:cNvPr id="48" name="Text 46"/>
          <p:cNvSpPr/>
          <p:nvPr/>
        </p:nvSpPr>
        <p:spPr>
          <a:xfrm>
            <a:off x="5020056" y="1883664"/>
            <a:ext cx="3438144" cy="219456"/>
          </a:xfrm>
          <a:prstGeom prst="rect">
            <a:avLst/>
          </a:prstGeom>
          <a:noFill/>
          <a:ln/>
        </p:spPr>
        <p:txBody>
          <a:bodyPr wrap="square" lIns="0" tIns="0" rIns="0" bIns="0" rtlCol="0" anchor="ctr"/>
          <a:lstStyle/>
          <a:p>
            <a:pPr marL="0" indent="0">
              <a:buNone/>
            </a:pPr>
            <a:r>
              <a:rPr lang="en-US" sz="1000" b="1" dirty="0">
                <a:solidFill>
                  <a:srgbClr val="FFFFFF"/>
                </a:solidFill>
              </a:rPr>
              <a:t>LangChain ReAct Agent</a:t>
            </a:r>
            <a:endParaRPr lang="en-US" sz="1000" dirty="0"/>
          </a:p>
        </p:txBody>
      </p:sp>
      <p:sp>
        <p:nvSpPr>
          <p:cNvPr id="49" name="Text 47"/>
          <p:cNvSpPr/>
          <p:nvPr/>
        </p:nvSpPr>
        <p:spPr>
          <a:xfrm>
            <a:off x="5020056" y="2084832"/>
            <a:ext cx="3438144" cy="182880"/>
          </a:xfrm>
          <a:prstGeom prst="rect">
            <a:avLst/>
          </a:prstGeom>
          <a:noFill/>
          <a:ln/>
        </p:spPr>
        <p:txBody>
          <a:bodyPr wrap="square" lIns="0" tIns="0" rIns="0" bIns="0" rtlCol="0" anchor="ctr"/>
          <a:lstStyle/>
          <a:p>
            <a:pPr marL="0" indent="0">
              <a:buNone/>
            </a:pPr>
            <a:r>
              <a:rPr lang="en-US" sz="800" dirty="0">
                <a:solidFill>
                  <a:srgbClr val="E8EDF5"/>
                </a:solidFill>
              </a:rPr>
              <a:t>Gemini 2.5 Flash backbone</a:t>
            </a:r>
            <a:endParaRPr lang="en-US" sz="800" dirty="0"/>
          </a:p>
        </p:txBody>
      </p:sp>
      <p:sp>
        <p:nvSpPr>
          <p:cNvPr id="50" name="Shape 48"/>
          <p:cNvSpPr/>
          <p:nvPr/>
        </p:nvSpPr>
        <p:spPr>
          <a:xfrm>
            <a:off x="6556248" y="2304288"/>
            <a:ext cx="36576" cy="128016"/>
          </a:xfrm>
          <a:prstGeom prst="rect">
            <a:avLst/>
          </a:prstGeom>
          <a:solidFill>
            <a:srgbClr val="7C3AED"/>
          </a:solidFill>
          <a:ln w="12700">
            <a:solidFill>
              <a:srgbClr val="7C3AED"/>
            </a:solidFill>
            <a:prstDash val="solid"/>
          </a:ln>
        </p:spPr>
        <p:txBody>
          <a:bodyPr/>
          <a:lstStyle/>
          <a:p>
            <a:endParaRPr lang="en-US"/>
          </a:p>
        </p:txBody>
      </p:sp>
      <p:sp>
        <p:nvSpPr>
          <p:cNvPr id="51" name="Shape 49"/>
          <p:cNvSpPr/>
          <p:nvPr/>
        </p:nvSpPr>
        <p:spPr>
          <a:xfrm>
            <a:off x="4910328" y="2432304"/>
            <a:ext cx="3657600" cy="438912"/>
          </a:xfrm>
          <a:prstGeom prst="rect">
            <a:avLst/>
          </a:prstGeom>
          <a:solidFill>
            <a:srgbClr val="161E45"/>
          </a:solidFill>
          <a:ln w="12700">
            <a:solidFill>
              <a:srgbClr val="1E2A5A"/>
            </a:solidFill>
            <a:prstDash val="solid"/>
          </a:ln>
        </p:spPr>
        <p:txBody>
          <a:bodyPr/>
          <a:lstStyle/>
          <a:p>
            <a:endParaRPr lang="en-US"/>
          </a:p>
        </p:txBody>
      </p:sp>
      <p:sp>
        <p:nvSpPr>
          <p:cNvPr id="52" name="Text 50"/>
          <p:cNvSpPr/>
          <p:nvPr/>
        </p:nvSpPr>
        <p:spPr>
          <a:xfrm>
            <a:off x="5020056" y="2450592"/>
            <a:ext cx="3438144" cy="219456"/>
          </a:xfrm>
          <a:prstGeom prst="rect">
            <a:avLst/>
          </a:prstGeom>
          <a:noFill/>
          <a:ln/>
        </p:spPr>
        <p:txBody>
          <a:bodyPr wrap="square" lIns="0" tIns="0" rIns="0" bIns="0" rtlCol="0" anchor="ctr"/>
          <a:lstStyle/>
          <a:p>
            <a:pPr marL="0" indent="0">
              <a:buNone/>
            </a:pPr>
            <a:r>
              <a:rPr lang="en-US" sz="1000" b="1" dirty="0">
                <a:solidFill>
                  <a:srgbClr val="E8EDF5"/>
                </a:solidFill>
              </a:rPr>
              <a:t>Tool: get_city_weather_stats</a:t>
            </a:r>
            <a:endParaRPr lang="en-US" sz="1000" b="1" dirty="0"/>
          </a:p>
        </p:txBody>
      </p:sp>
      <p:sp>
        <p:nvSpPr>
          <p:cNvPr id="53" name="Text 51"/>
          <p:cNvSpPr/>
          <p:nvPr/>
        </p:nvSpPr>
        <p:spPr>
          <a:xfrm>
            <a:off x="5020056" y="2651760"/>
            <a:ext cx="3438144" cy="182880"/>
          </a:xfrm>
          <a:prstGeom prst="rect">
            <a:avLst/>
          </a:prstGeom>
          <a:noFill/>
          <a:ln/>
        </p:spPr>
        <p:txBody>
          <a:bodyPr wrap="square" lIns="0" tIns="0" rIns="0" bIns="0" rtlCol="0" anchor="ctr"/>
          <a:lstStyle/>
          <a:p>
            <a:pPr marL="0" indent="0">
              <a:buNone/>
            </a:pPr>
            <a:r>
              <a:rPr lang="en-US" sz="800" dirty="0">
                <a:solidFill>
                  <a:srgbClr val="8A99C0"/>
                </a:solidFill>
              </a:rPr>
              <a:t>rapidfuzz city match · historical lookup</a:t>
            </a:r>
            <a:endParaRPr lang="en-US" sz="800" dirty="0"/>
          </a:p>
        </p:txBody>
      </p:sp>
      <p:sp>
        <p:nvSpPr>
          <p:cNvPr id="54" name="Shape 52"/>
          <p:cNvSpPr/>
          <p:nvPr/>
        </p:nvSpPr>
        <p:spPr>
          <a:xfrm>
            <a:off x="6556248" y="2871216"/>
            <a:ext cx="36576" cy="128016"/>
          </a:xfrm>
          <a:prstGeom prst="rect">
            <a:avLst/>
          </a:prstGeom>
          <a:solidFill>
            <a:srgbClr val="7C3AED"/>
          </a:solidFill>
          <a:ln w="12700">
            <a:solidFill>
              <a:srgbClr val="7C3AED"/>
            </a:solidFill>
            <a:prstDash val="solid"/>
          </a:ln>
        </p:spPr>
        <p:txBody>
          <a:bodyPr/>
          <a:lstStyle/>
          <a:p>
            <a:endParaRPr lang="en-US"/>
          </a:p>
        </p:txBody>
      </p:sp>
      <p:sp>
        <p:nvSpPr>
          <p:cNvPr id="55" name="Shape 53"/>
          <p:cNvSpPr/>
          <p:nvPr/>
        </p:nvSpPr>
        <p:spPr>
          <a:xfrm>
            <a:off x="4910328" y="2999232"/>
            <a:ext cx="3657600" cy="438912"/>
          </a:xfrm>
          <a:prstGeom prst="rect">
            <a:avLst/>
          </a:prstGeom>
          <a:solidFill>
            <a:srgbClr val="161E45"/>
          </a:solidFill>
          <a:ln w="12700">
            <a:solidFill>
              <a:srgbClr val="1E2A5A"/>
            </a:solidFill>
            <a:prstDash val="solid"/>
          </a:ln>
        </p:spPr>
        <p:txBody>
          <a:bodyPr/>
          <a:lstStyle/>
          <a:p>
            <a:endParaRPr lang="en-US"/>
          </a:p>
        </p:txBody>
      </p:sp>
      <p:sp>
        <p:nvSpPr>
          <p:cNvPr id="56" name="Text 54"/>
          <p:cNvSpPr/>
          <p:nvPr/>
        </p:nvSpPr>
        <p:spPr>
          <a:xfrm>
            <a:off x="5020056" y="3017520"/>
            <a:ext cx="3438144" cy="219456"/>
          </a:xfrm>
          <a:prstGeom prst="rect">
            <a:avLst/>
          </a:prstGeom>
          <a:noFill/>
          <a:ln/>
        </p:spPr>
        <p:txBody>
          <a:bodyPr wrap="square" lIns="0" tIns="0" rIns="0" bIns="0" rtlCol="0" anchor="ctr"/>
          <a:lstStyle/>
          <a:p>
            <a:pPr marL="0" indent="0">
              <a:buNone/>
            </a:pPr>
            <a:r>
              <a:rPr lang="en-US" sz="1000" b="1" dirty="0">
                <a:solidFill>
                  <a:srgbClr val="E8EDF5"/>
                </a:solidFill>
              </a:rPr>
              <a:t>Tool: predict_solar_yield</a:t>
            </a:r>
            <a:endParaRPr lang="en-US" sz="1000" b="1" dirty="0"/>
          </a:p>
        </p:txBody>
      </p:sp>
      <p:sp>
        <p:nvSpPr>
          <p:cNvPr id="57" name="Text 55"/>
          <p:cNvSpPr/>
          <p:nvPr/>
        </p:nvSpPr>
        <p:spPr>
          <a:xfrm>
            <a:off x="5020056" y="3218688"/>
            <a:ext cx="3438144" cy="182880"/>
          </a:xfrm>
          <a:prstGeom prst="rect">
            <a:avLst/>
          </a:prstGeom>
          <a:noFill/>
          <a:ln/>
        </p:spPr>
        <p:txBody>
          <a:bodyPr wrap="square" lIns="0" tIns="0" rIns="0" bIns="0" rtlCol="0" anchor="ctr"/>
          <a:lstStyle/>
          <a:p>
            <a:pPr marL="0" indent="0">
              <a:buNone/>
            </a:pPr>
            <a:r>
              <a:rPr lang="en-US" sz="800" dirty="0">
                <a:solidFill>
                  <a:srgbClr val="8A99C0"/>
                </a:solidFill>
              </a:rPr>
              <a:t>WeatherInput → XGBoost → yield formula</a:t>
            </a:r>
            <a:endParaRPr lang="en-US" sz="800" dirty="0"/>
          </a:p>
        </p:txBody>
      </p:sp>
      <p:sp>
        <p:nvSpPr>
          <p:cNvPr id="58" name="Shape 56"/>
          <p:cNvSpPr/>
          <p:nvPr/>
        </p:nvSpPr>
        <p:spPr>
          <a:xfrm>
            <a:off x="6556248" y="3438144"/>
            <a:ext cx="36576" cy="128016"/>
          </a:xfrm>
          <a:prstGeom prst="rect">
            <a:avLst/>
          </a:prstGeom>
          <a:solidFill>
            <a:srgbClr val="7C3AED"/>
          </a:solidFill>
          <a:ln w="12700">
            <a:solidFill>
              <a:srgbClr val="7C3AED"/>
            </a:solidFill>
            <a:prstDash val="solid"/>
          </a:ln>
        </p:spPr>
        <p:txBody>
          <a:bodyPr/>
          <a:lstStyle/>
          <a:p>
            <a:endParaRPr lang="en-US"/>
          </a:p>
        </p:txBody>
      </p:sp>
      <p:sp>
        <p:nvSpPr>
          <p:cNvPr id="59" name="Shape 57"/>
          <p:cNvSpPr/>
          <p:nvPr/>
        </p:nvSpPr>
        <p:spPr>
          <a:xfrm>
            <a:off x="4910328" y="3566160"/>
            <a:ext cx="3657600" cy="438912"/>
          </a:xfrm>
          <a:prstGeom prst="rect">
            <a:avLst/>
          </a:prstGeom>
          <a:solidFill>
            <a:srgbClr val="161E45"/>
          </a:solidFill>
          <a:ln w="12700">
            <a:solidFill>
              <a:srgbClr val="1E2A5A"/>
            </a:solidFill>
            <a:prstDash val="solid"/>
          </a:ln>
        </p:spPr>
        <p:txBody>
          <a:bodyPr/>
          <a:lstStyle/>
          <a:p>
            <a:endParaRPr lang="en-US"/>
          </a:p>
        </p:txBody>
      </p:sp>
      <p:sp>
        <p:nvSpPr>
          <p:cNvPr id="60" name="Text 58"/>
          <p:cNvSpPr/>
          <p:nvPr/>
        </p:nvSpPr>
        <p:spPr>
          <a:xfrm>
            <a:off x="5020056" y="3584448"/>
            <a:ext cx="3438144" cy="219456"/>
          </a:xfrm>
          <a:prstGeom prst="rect">
            <a:avLst/>
          </a:prstGeom>
          <a:noFill/>
          <a:ln/>
        </p:spPr>
        <p:txBody>
          <a:bodyPr wrap="square" lIns="0" tIns="0" rIns="0" bIns="0" rtlCol="0" anchor="ctr"/>
          <a:lstStyle/>
          <a:p>
            <a:pPr marL="0" indent="0">
              <a:buNone/>
            </a:pPr>
            <a:r>
              <a:rPr lang="en-US" sz="1000" b="1" dirty="0">
                <a:solidFill>
                  <a:srgbClr val="E8EDF5"/>
                </a:solidFill>
              </a:rPr>
              <a:t>LangGraph MemorySaver</a:t>
            </a:r>
            <a:endParaRPr lang="en-US" sz="1000" b="1" dirty="0"/>
          </a:p>
        </p:txBody>
      </p:sp>
      <p:sp>
        <p:nvSpPr>
          <p:cNvPr id="61" name="Text 59"/>
          <p:cNvSpPr/>
          <p:nvPr/>
        </p:nvSpPr>
        <p:spPr>
          <a:xfrm>
            <a:off x="5020056" y="3785616"/>
            <a:ext cx="3438144" cy="182880"/>
          </a:xfrm>
          <a:prstGeom prst="rect">
            <a:avLst/>
          </a:prstGeom>
          <a:noFill/>
          <a:ln/>
        </p:spPr>
        <p:txBody>
          <a:bodyPr wrap="square" lIns="0" tIns="0" rIns="0" bIns="0" rtlCol="0" anchor="ctr"/>
          <a:lstStyle/>
          <a:p>
            <a:pPr marL="0" indent="0">
              <a:buNone/>
            </a:pPr>
            <a:r>
              <a:rPr lang="en-US" sz="800" dirty="0">
                <a:solidFill>
                  <a:srgbClr val="8A99C0"/>
                </a:solidFill>
              </a:rPr>
              <a:t>Persists weather context across turns</a:t>
            </a:r>
            <a:endParaRPr lang="en-US" sz="800" dirty="0"/>
          </a:p>
        </p:txBody>
      </p:sp>
      <p:sp>
        <p:nvSpPr>
          <p:cNvPr id="62" name="Shape 60"/>
          <p:cNvSpPr/>
          <p:nvPr/>
        </p:nvSpPr>
        <p:spPr>
          <a:xfrm>
            <a:off x="6556248" y="4005072"/>
            <a:ext cx="36576" cy="128016"/>
          </a:xfrm>
          <a:prstGeom prst="rect">
            <a:avLst/>
          </a:prstGeom>
          <a:solidFill>
            <a:srgbClr val="7C3AED"/>
          </a:solidFill>
          <a:ln w="12700">
            <a:solidFill>
              <a:srgbClr val="7C3AED"/>
            </a:solidFill>
            <a:prstDash val="solid"/>
          </a:ln>
        </p:spPr>
        <p:txBody>
          <a:bodyPr/>
          <a:lstStyle/>
          <a:p>
            <a:endParaRPr lang="en-US"/>
          </a:p>
        </p:txBody>
      </p:sp>
      <p:sp>
        <p:nvSpPr>
          <p:cNvPr id="63" name="Shape 61"/>
          <p:cNvSpPr/>
          <p:nvPr/>
        </p:nvSpPr>
        <p:spPr>
          <a:xfrm>
            <a:off x="4910328" y="4133088"/>
            <a:ext cx="3657600" cy="438912"/>
          </a:xfrm>
          <a:prstGeom prst="rect">
            <a:avLst/>
          </a:prstGeom>
          <a:solidFill>
            <a:srgbClr val="161E45"/>
          </a:solidFill>
          <a:ln w="12700">
            <a:solidFill>
              <a:srgbClr val="1E2A5A"/>
            </a:solidFill>
            <a:prstDash val="solid"/>
          </a:ln>
        </p:spPr>
        <p:txBody>
          <a:bodyPr/>
          <a:lstStyle/>
          <a:p>
            <a:endParaRPr lang="en-US"/>
          </a:p>
        </p:txBody>
      </p:sp>
      <p:sp>
        <p:nvSpPr>
          <p:cNvPr id="64" name="Text 62"/>
          <p:cNvSpPr/>
          <p:nvPr/>
        </p:nvSpPr>
        <p:spPr>
          <a:xfrm>
            <a:off x="5020056" y="4151376"/>
            <a:ext cx="3438144" cy="219456"/>
          </a:xfrm>
          <a:prstGeom prst="rect">
            <a:avLst/>
          </a:prstGeom>
          <a:noFill/>
          <a:ln/>
        </p:spPr>
        <p:txBody>
          <a:bodyPr wrap="square" lIns="0" tIns="0" rIns="0" bIns="0" rtlCol="0" anchor="ctr"/>
          <a:lstStyle/>
          <a:p>
            <a:pPr marL="0" indent="0">
              <a:buNone/>
            </a:pPr>
            <a:r>
              <a:rPr lang="en-US" sz="1000" b="1" dirty="0">
                <a:solidFill>
                  <a:srgbClr val="E8EDF5"/>
                </a:solidFill>
              </a:rPr>
              <a:t>Gradio Chat UI</a:t>
            </a:r>
            <a:endParaRPr lang="en-US" sz="1000" b="1" dirty="0"/>
          </a:p>
        </p:txBody>
      </p:sp>
      <p:sp>
        <p:nvSpPr>
          <p:cNvPr id="65" name="Text 63"/>
          <p:cNvSpPr/>
          <p:nvPr/>
        </p:nvSpPr>
        <p:spPr>
          <a:xfrm>
            <a:off x="5020056" y="4352544"/>
            <a:ext cx="3438144" cy="182880"/>
          </a:xfrm>
          <a:prstGeom prst="rect">
            <a:avLst/>
          </a:prstGeom>
          <a:noFill/>
          <a:ln/>
        </p:spPr>
        <p:txBody>
          <a:bodyPr wrap="square" lIns="0" tIns="0" rIns="0" bIns="0" rtlCol="0" anchor="ctr"/>
          <a:lstStyle/>
          <a:p>
            <a:pPr marL="0" indent="0">
              <a:buNone/>
            </a:pPr>
            <a:r>
              <a:rPr lang="en-US" sz="800" dirty="0">
                <a:solidFill>
                  <a:srgbClr val="8A99C0"/>
                </a:solidFill>
              </a:rPr>
              <a:t>Tool call observability panel</a:t>
            </a:r>
            <a:endParaRPr lang="en-US" sz="800" dirty="0"/>
          </a:p>
        </p:txBody>
      </p:sp>
      <p:sp>
        <p:nvSpPr>
          <p:cNvPr id="66" name="Shape 64"/>
          <p:cNvSpPr/>
          <p:nvPr/>
        </p:nvSpPr>
        <p:spPr>
          <a:xfrm>
            <a:off x="4187952" y="2651760"/>
            <a:ext cx="521208" cy="36576"/>
          </a:xfrm>
          <a:prstGeom prst="rect">
            <a:avLst/>
          </a:prstGeom>
          <a:solidFill>
            <a:srgbClr val="8A99C0"/>
          </a:solidFill>
          <a:ln w="12700">
            <a:solidFill>
              <a:srgbClr val="8A99C0"/>
            </a:solidFill>
            <a:prstDash val="solid"/>
          </a:ln>
        </p:spPr>
        <p:txBody>
          <a:bodyPr/>
          <a:lstStyle/>
          <a:p>
            <a:endParaRPr lang="en-US"/>
          </a:p>
        </p:txBody>
      </p:sp>
      <p:sp>
        <p:nvSpPr>
          <p:cNvPr id="7" name="Text 12">
            <a:extLst>
              <a:ext uri="{FF2B5EF4-FFF2-40B4-BE49-F238E27FC236}">
                <a16:creationId xmlns:a16="http://schemas.microsoft.com/office/drawing/2014/main" id="{C8B163F3-623F-D1B1-53A3-45B0EB69B5FC}"/>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Assumptions and Limitations</a:t>
            </a:r>
            <a:endParaRPr lang="en-US" sz="1700" dirty="0"/>
          </a:p>
        </p:txBody>
      </p:sp>
      <p:sp>
        <p:nvSpPr>
          <p:cNvPr id="5" name="Shape 3"/>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00C2E0"/>
          </a:solidFill>
          <a:ln w="12700">
            <a:solidFill>
              <a:srgbClr val="00C2E0"/>
            </a:solidFill>
            <a:prstDash val="solid"/>
          </a:ln>
        </p:spPr>
        <p:txBody>
          <a:bodyPr/>
          <a:lstStyle/>
          <a:p>
            <a:endParaRPr lang="en-US"/>
          </a:p>
        </p:txBody>
      </p:sp>
      <p:sp>
        <p:nvSpPr>
          <p:cNvPr id="13" name="Text 11"/>
          <p:cNvSpPr/>
          <p:nvPr/>
        </p:nvSpPr>
        <p:spPr>
          <a:xfrm>
            <a:off x="402336" y="594360"/>
            <a:ext cx="3657600" cy="256032"/>
          </a:xfrm>
          <a:prstGeom prst="rect">
            <a:avLst/>
          </a:prstGeom>
          <a:noFill/>
          <a:ln/>
        </p:spPr>
        <p:txBody>
          <a:bodyPr wrap="square" lIns="0" tIns="0" rIns="0" bIns="0" rtlCol="0" anchor="ctr"/>
          <a:lstStyle/>
          <a:p>
            <a:pPr marL="0" indent="0">
              <a:buNone/>
            </a:pPr>
            <a:r>
              <a:rPr lang="en-US" sz="1400" b="1" dirty="0">
                <a:solidFill>
                  <a:srgbClr val="00C2E0"/>
                </a:solidFill>
                <a:latin typeface="Trebuchet MS" pitchFamily="34" charset="0"/>
                <a:ea typeface="Trebuchet MS" pitchFamily="34" charset="-122"/>
                <a:cs typeface="Trebuchet MS" pitchFamily="34" charset="-120"/>
              </a:rPr>
              <a:t>KEY DATA ASSUMPTIONS</a:t>
            </a:r>
            <a:endParaRPr lang="en-US" sz="1400" dirty="0"/>
          </a:p>
        </p:txBody>
      </p:sp>
      <p:sp>
        <p:nvSpPr>
          <p:cNvPr id="14" name="Shape 12"/>
          <p:cNvSpPr/>
          <p:nvPr/>
        </p:nvSpPr>
        <p:spPr>
          <a:xfrm>
            <a:off x="274320" y="914400"/>
            <a:ext cx="4160520" cy="1042416"/>
          </a:xfrm>
          <a:prstGeom prst="rect">
            <a:avLst/>
          </a:prstGeom>
          <a:solidFill>
            <a:srgbClr val="111838"/>
          </a:solidFill>
          <a:ln w="12700">
            <a:solidFill>
              <a:srgbClr val="1E2A5A"/>
            </a:solidFill>
            <a:prstDash val="solid"/>
          </a:ln>
        </p:spPr>
        <p:txBody>
          <a:bodyPr/>
          <a:lstStyle/>
          <a:p>
            <a:endParaRPr lang="en-US"/>
          </a:p>
        </p:txBody>
      </p:sp>
      <p:sp>
        <p:nvSpPr>
          <p:cNvPr id="15" name="Shape 13"/>
          <p:cNvSpPr/>
          <p:nvPr/>
        </p:nvSpPr>
        <p:spPr>
          <a:xfrm>
            <a:off x="274320" y="914400"/>
            <a:ext cx="54864" cy="1042416"/>
          </a:xfrm>
          <a:prstGeom prst="rect">
            <a:avLst/>
          </a:prstGeom>
          <a:solidFill>
            <a:srgbClr val="00C2E0"/>
          </a:solidFill>
          <a:ln w="12700">
            <a:solidFill>
              <a:srgbClr val="00C2E0"/>
            </a:solidFill>
            <a:prstDash val="solid"/>
          </a:ln>
        </p:spPr>
        <p:txBody>
          <a:bodyPr/>
          <a:lstStyle/>
          <a:p>
            <a:endParaRPr lang="en-US"/>
          </a:p>
        </p:txBody>
      </p:sp>
      <p:sp>
        <p:nvSpPr>
          <p:cNvPr id="16" name="Text 14"/>
          <p:cNvSpPr/>
          <p:nvPr/>
        </p:nvSpPr>
        <p:spPr>
          <a:xfrm>
            <a:off x="475488" y="969264"/>
            <a:ext cx="3840480" cy="256032"/>
          </a:xfrm>
          <a:prstGeom prst="rect">
            <a:avLst/>
          </a:prstGeom>
          <a:noFill/>
          <a:ln/>
        </p:spPr>
        <p:txBody>
          <a:bodyPr wrap="square" lIns="0" tIns="0" rIns="0" bIns="0" rtlCol="0" anchor="ctr"/>
          <a:lstStyle/>
          <a:p>
            <a:r>
              <a:rPr lang="en-US" sz="1200" b="1" dirty="0">
                <a:solidFill>
                  <a:srgbClr val="00C2E0"/>
                </a:solidFill>
                <a:latin typeface="Trebuchet MS" pitchFamily="34" charset="0"/>
                <a:ea typeface="Trebuchet MS" pitchFamily="34" charset="-122"/>
                <a:cs typeface="Trebuchet MS" pitchFamily="34" charset="-120"/>
              </a:rPr>
              <a:t>Original dataset was used w/ dates</a:t>
            </a:r>
            <a:endParaRPr lang="en-US" sz="1200" dirty="0"/>
          </a:p>
        </p:txBody>
      </p:sp>
      <p:sp>
        <p:nvSpPr>
          <p:cNvPr id="17" name="Text 15"/>
          <p:cNvSpPr/>
          <p:nvPr/>
        </p:nvSpPr>
        <p:spPr>
          <a:xfrm>
            <a:off x="475488" y="1252728"/>
            <a:ext cx="3840480" cy="630936"/>
          </a:xfrm>
          <a:prstGeom prst="rect">
            <a:avLst/>
          </a:prstGeom>
          <a:noFill/>
          <a:ln/>
        </p:spPr>
        <p:txBody>
          <a:bodyPr wrap="square" lIns="0" tIns="0" rIns="0" bIns="0" rtlCol="0" anchor="ctr"/>
          <a:lstStyle/>
          <a:p>
            <a:r>
              <a:rPr lang="en-US" sz="1000" dirty="0">
                <a:solidFill>
                  <a:srgbClr val="E8EDF5"/>
                </a:solidFill>
              </a:rPr>
              <a:t>The provided dataset does not contain date column and is a random interleaved sample, making it impossible to extract a specific year. The Original dataset with dates included was utilized instead</a:t>
            </a:r>
            <a:endParaRPr lang="en-US" sz="1000" dirty="0"/>
          </a:p>
        </p:txBody>
      </p:sp>
      <p:sp>
        <p:nvSpPr>
          <p:cNvPr id="18" name="Shape 16"/>
          <p:cNvSpPr/>
          <p:nvPr/>
        </p:nvSpPr>
        <p:spPr>
          <a:xfrm>
            <a:off x="274320" y="2048256"/>
            <a:ext cx="4160520" cy="1042416"/>
          </a:xfrm>
          <a:prstGeom prst="rect">
            <a:avLst/>
          </a:prstGeom>
          <a:solidFill>
            <a:srgbClr val="111838"/>
          </a:solidFill>
          <a:ln w="12700">
            <a:solidFill>
              <a:srgbClr val="1E2A5A"/>
            </a:solidFill>
            <a:prstDash val="solid"/>
          </a:ln>
        </p:spPr>
        <p:txBody>
          <a:bodyPr/>
          <a:lstStyle/>
          <a:p>
            <a:endParaRPr lang="en-US"/>
          </a:p>
        </p:txBody>
      </p:sp>
      <p:sp>
        <p:nvSpPr>
          <p:cNvPr id="19" name="Shape 17"/>
          <p:cNvSpPr/>
          <p:nvPr/>
        </p:nvSpPr>
        <p:spPr>
          <a:xfrm>
            <a:off x="274320" y="2048256"/>
            <a:ext cx="54864" cy="1042416"/>
          </a:xfrm>
          <a:prstGeom prst="rect">
            <a:avLst/>
          </a:prstGeom>
          <a:solidFill>
            <a:srgbClr val="00C2E0"/>
          </a:solidFill>
          <a:ln w="12700">
            <a:solidFill>
              <a:srgbClr val="00C2E0"/>
            </a:solidFill>
            <a:prstDash val="solid"/>
          </a:ln>
        </p:spPr>
        <p:txBody>
          <a:bodyPr/>
          <a:lstStyle/>
          <a:p>
            <a:endParaRPr lang="en-US"/>
          </a:p>
        </p:txBody>
      </p:sp>
      <p:sp>
        <p:nvSpPr>
          <p:cNvPr id="20" name="Text 18"/>
          <p:cNvSpPr/>
          <p:nvPr/>
        </p:nvSpPr>
        <p:spPr>
          <a:xfrm>
            <a:off x="475488" y="2103120"/>
            <a:ext cx="3840480" cy="256032"/>
          </a:xfrm>
          <a:prstGeom prst="rect">
            <a:avLst/>
          </a:prstGeom>
          <a:noFill/>
          <a:ln/>
        </p:spPr>
        <p:txBody>
          <a:bodyPr wrap="square" lIns="0" tIns="0" rIns="0" bIns="0" rtlCol="0" anchor="ctr"/>
          <a:lstStyle/>
          <a:p>
            <a:r>
              <a:rPr lang="en-US" sz="1200" b="1" dirty="0">
                <a:solidFill>
                  <a:srgbClr val="00C2E0"/>
                </a:solidFill>
                <a:latin typeface="Trebuchet MS" pitchFamily="34" charset="0"/>
                <a:ea typeface="Trebuchet MS" pitchFamily="34" charset="-122"/>
                <a:cs typeface="Trebuchet MS" pitchFamily="34" charset="-120"/>
              </a:rPr>
              <a:t>2009 train  /  2010 holdout</a:t>
            </a:r>
            <a:endParaRPr lang="en-US" sz="1200" dirty="0"/>
          </a:p>
        </p:txBody>
      </p:sp>
      <p:sp>
        <p:nvSpPr>
          <p:cNvPr id="21" name="Text 19"/>
          <p:cNvSpPr/>
          <p:nvPr/>
        </p:nvSpPr>
        <p:spPr>
          <a:xfrm>
            <a:off x="475488" y="2276856"/>
            <a:ext cx="3840480" cy="679704"/>
          </a:xfrm>
          <a:prstGeom prst="rect">
            <a:avLst/>
          </a:prstGeom>
          <a:noFill/>
          <a:ln/>
        </p:spPr>
        <p:txBody>
          <a:bodyPr wrap="square" lIns="0" tIns="0" rIns="0" bIns="0" rtlCol="0" anchor="ctr"/>
          <a:lstStyle/>
          <a:p>
            <a:r>
              <a:rPr lang="en-US" sz="1000" dirty="0">
                <a:solidFill>
                  <a:srgbClr val="E8EDF5"/>
                </a:solidFill>
              </a:rPr>
              <a:t>Sunshine feature has best quality in these years — 30 cities, ~37% missingness. KDE plots confirm no distribution shift.</a:t>
            </a:r>
            <a:endParaRPr lang="en-US" sz="1000" dirty="0"/>
          </a:p>
        </p:txBody>
      </p:sp>
      <p:sp>
        <p:nvSpPr>
          <p:cNvPr id="22" name="Shape 20"/>
          <p:cNvSpPr/>
          <p:nvPr/>
        </p:nvSpPr>
        <p:spPr>
          <a:xfrm>
            <a:off x="4709160" y="914400"/>
            <a:ext cx="4160520" cy="1042416"/>
          </a:xfrm>
          <a:prstGeom prst="rect">
            <a:avLst/>
          </a:prstGeom>
          <a:solidFill>
            <a:srgbClr val="111838"/>
          </a:solidFill>
          <a:ln w="12700">
            <a:solidFill>
              <a:srgbClr val="1E2A5A"/>
            </a:solidFill>
            <a:prstDash val="solid"/>
          </a:ln>
        </p:spPr>
        <p:txBody>
          <a:bodyPr/>
          <a:lstStyle/>
          <a:p>
            <a:endParaRPr lang="en-US"/>
          </a:p>
        </p:txBody>
      </p:sp>
      <p:sp>
        <p:nvSpPr>
          <p:cNvPr id="23" name="Shape 21"/>
          <p:cNvSpPr/>
          <p:nvPr/>
        </p:nvSpPr>
        <p:spPr>
          <a:xfrm>
            <a:off x="4709160" y="914400"/>
            <a:ext cx="54864" cy="1042416"/>
          </a:xfrm>
          <a:prstGeom prst="rect">
            <a:avLst/>
          </a:prstGeom>
          <a:solidFill>
            <a:srgbClr val="00C2E0"/>
          </a:solidFill>
          <a:ln w="12700">
            <a:solidFill>
              <a:srgbClr val="00C2E0"/>
            </a:solidFill>
            <a:prstDash val="solid"/>
          </a:ln>
        </p:spPr>
        <p:txBody>
          <a:bodyPr/>
          <a:lstStyle/>
          <a:p>
            <a:endParaRPr lang="en-US"/>
          </a:p>
        </p:txBody>
      </p:sp>
      <p:sp>
        <p:nvSpPr>
          <p:cNvPr id="24" name="Text 22"/>
          <p:cNvSpPr/>
          <p:nvPr/>
        </p:nvSpPr>
        <p:spPr>
          <a:xfrm>
            <a:off x="4910328" y="969264"/>
            <a:ext cx="3840480" cy="256032"/>
          </a:xfrm>
          <a:prstGeom prst="rect">
            <a:avLst/>
          </a:prstGeom>
          <a:noFill/>
          <a:ln/>
        </p:spPr>
        <p:txBody>
          <a:bodyPr wrap="square" lIns="0" tIns="0" rIns="0" bIns="0" rtlCol="0" anchor="ctr"/>
          <a:lstStyle/>
          <a:p>
            <a:r>
              <a:rPr lang="en-US" sz="1200" b="1" dirty="0">
                <a:solidFill>
                  <a:srgbClr val="00C2E0"/>
                </a:solidFill>
                <a:latin typeface="Trebuchet MS" pitchFamily="34" charset="0"/>
                <a:ea typeface="Trebuchet MS" pitchFamily="34" charset="-122"/>
                <a:cs typeface="Trebuchet MS" pitchFamily="34" charset="-120"/>
              </a:rPr>
              <a:t>Monthly PVOUT as target</a:t>
            </a:r>
            <a:endParaRPr lang="en-US" sz="1200" dirty="0"/>
          </a:p>
        </p:txBody>
      </p:sp>
      <p:sp>
        <p:nvSpPr>
          <p:cNvPr id="25" name="Text 23"/>
          <p:cNvSpPr/>
          <p:nvPr/>
        </p:nvSpPr>
        <p:spPr>
          <a:xfrm>
            <a:off x="4910328" y="1252728"/>
            <a:ext cx="3840480" cy="630936"/>
          </a:xfrm>
          <a:prstGeom prst="rect">
            <a:avLst/>
          </a:prstGeom>
          <a:noFill/>
          <a:ln/>
        </p:spPr>
        <p:txBody>
          <a:bodyPr wrap="square" lIns="0" tIns="0" rIns="0" bIns="0" rtlCol="0" anchor="ctr"/>
          <a:lstStyle/>
          <a:p>
            <a:r>
              <a:rPr lang="en-US" sz="1000" dirty="0">
                <a:solidFill>
                  <a:srgbClr val="E8EDF5"/>
                </a:solidFill>
              </a:rPr>
              <a:t>12× more target variation than yearly. Model learns genuine seasonal patterns. Yearly averages collapse all months into one number.</a:t>
            </a:r>
          </a:p>
        </p:txBody>
      </p:sp>
      <p:sp>
        <p:nvSpPr>
          <p:cNvPr id="26" name="Shape 24"/>
          <p:cNvSpPr/>
          <p:nvPr/>
        </p:nvSpPr>
        <p:spPr>
          <a:xfrm>
            <a:off x="4709160" y="2048256"/>
            <a:ext cx="4160520" cy="1042416"/>
          </a:xfrm>
          <a:prstGeom prst="rect">
            <a:avLst/>
          </a:prstGeom>
          <a:solidFill>
            <a:srgbClr val="111838"/>
          </a:solidFill>
          <a:ln w="12700">
            <a:solidFill>
              <a:srgbClr val="1E2A5A"/>
            </a:solidFill>
            <a:prstDash val="solid"/>
          </a:ln>
        </p:spPr>
        <p:txBody>
          <a:bodyPr/>
          <a:lstStyle/>
          <a:p>
            <a:endParaRPr lang="en-US" dirty="0"/>
          </a:p>
        </p:txBody>
      </p:sp>
      <p:sp>
        <p:nvSpPr>
          <p:cNvPr id="27" name="Shape 25"/>
          <p:cNvSpPr/>
          <p:nvPr/>
        </p:nvSpPr>
        <p:spPr>
          <a:xfrm>
            <a:off x="4709160" y="2048256"/>
            <a:ext cx="54864" cy="1042416"/>
          </a:xfrm>
          <a:prstGeom prst="rect">
            <a:avLst/>
          </a:prstGeom>
          <a:solidFill>
            <a:srgbClr val="00C2E0"/>
          </a:solidFill>
          <a:ln w="12700">
            <a:solidFill>
              <a:srgbClr val="00C2E0"/>
            </a:solidFill>
            <a:prstDash val="solid"/>
          </a:ln>
        </p:spPr>
        <p:txBody>
          <a:bodyPr/>
          <a:lstStyle/>
          <a:p>
            <a:endParaRPr lang="en-US"/>
          </a:p>
        </p:txBody>
      </p:sp>
      <p:sp>
        <p:nvSpPr>
          <p:cNvPr id="28" name="Text 26"/>
          <p:cNvSpPr/>
          <p:nvPr/>
        </p:nvSpPr>
        <p:spPr>
          <a:xfrm>
            <a:off x="4896612" y="2103120"/>
            <a:ext cx="3840480" cy="256032"/>
          </a:xfrm>
          <a:prstGeom prst="rect">
            <a:avLst/>
          </a:prstGeom>
          <a:noFill/>
          <a:ln/>
        </p:spPr>
        <p:txBody>
          <a:bodyPr wrap="square" lIns="0" tIns="0" rIns="0" bIns="0" rtlCol="0" anchor="ctr"/>
          <a:lstStyle/>
          <a:p>
            <a:r>
              <a:rPr lang="en-US" sz="1200" b="1" dirty="0">
                <a:solidFill>
                  <a:srgbClr val="00C2E0"/>
                </a:solidFill>
                <a:latin typeface="Trebuchet MS" pitchFamily="34" charset="0"/>
                <a:ea typeface="Trebuchet MS" pitchFamily="34" charset="-122"/>
                <a:cs typeface="Trebuchet MS" pitchFamily="34" charset="-120"/>
              </a:rPr>
              <a:t>Per city per month aggregation</a:t>
            </a:r>
            <a:endParaRPr lang="en-US" sz="1200" dirty="0"/>
          </a:p>
        </p:txBody>
      </p:sp>
      <p:sp>
        <p:nvSpPr>
          <p:cNvPr id="29" name="Text 27"/>
          <p:cNvSpPr/>
          <p:nvPr/>
        </p:nvSpPr>
        <p:spPr>
          <a:xfrm>
            <a:off x="4896612" y="2276856"/>
            <a:ext cx="3840480" cy="679704"/>
          </a:xfrm>
          <a:prstGeom prst="rect">
            <a:avLst/>
          </a:prstGeom>
          <a:noFill/>
          <a:ln/>
        </p:spPr>
        <p:txBody>
          <a:bodyPr wrap="square" lIns="0" tIns="0" rIns="0" bIns="0" rtlCol="0" anchor="ctr"/>
          <a:lstStyle/>
          <a:p>
            <a:pPr marL="0" indent="0">
              <a:buNone/>
            </a:pPr>
            <a:endParaRPr lang="en-US" sz="1000" dirty="0"/>
          </a:p>
        </p:txBody>
      </p:sp>
      <p:sp>
        <p:nvSpPr>
          <p:cNvPr id="30" name="Shape 28"/>
          <p:cNvSpPr/>
          <p:nvPr/>
        </p:nvSpPr>
        <p:spPr>
          <a:xfrm>
            <a:off x="274320" y="3255264"/>
            <a:ext cx="54864" cy="256032"/>
          </a:xfrm>
          <a:prstGeom prst="rect">
            <a:avLst/>
          </a:prstGeom>
          <a:solidFill>
            <a:srgbClr val="F59E0B"/>
          </a:solidFill>
          <a:ln w="12700">
            <a:solidFill>
              <a:srgbClr val="F59E0B"/>
            </a:solidFill>
            <a:prstDash val="solid"/>
          </a:ln>
        </p:spPr>
        <p:txBody>
          <a:bodyPr/>
          <a:lstStyle/>
          <a:p>
            <a:endParaRPr lang="en-US"/>
          </a:p>
        </p:txBody>
      </p:sp>
      <p:sp>
        <p:nvSpPr>
          <p:cNvPr id="31" name="Text 29"/>
          <p:cNvSpPr/>
          <p:nvPr/>
        </p:nvSpPr>
        <p:spPr>
          <a:xfrm>
            <a:off x="402336" y="3255264"/>
            <a:ext cx="3657600" cy="256032"/>
          </a:xfrm>
          <a:prstGeom prst="rect">
            <a:avLst/>
          </a:prstGeom>
          <a:noFill/>
          <a:ln/>
        </p:spPr>
        <p:txBody>
          <a:bodyPr wrap="square" lIns="0" tIns="0" rIns="0" bIns="0" rtlCol="0" anchor="ctr"/>
          <a:lstStyle/>
          <a:p>
            <a:pPr marL="0" indent="0">
              <a:buNone/>
            </a:pPr>
            <a:r>
              <a:rPr lang="en-US" sz="1400" b="1" dirty="0">
                <a:solidFill>
                  <a:srgbClr val="F59E0B"/>
                </a:solidFill>
                <a:latin typeface="Trebuchet MS" pitchFamily="34" charset="0"/>
                <a:ea typeface="Trebuchet MS" pitchFamily="34" charset="-122"/>
                <a:cs typeface="Trebuchet MS" pitchFamily="34" charset="-120"/>
              </a:rPr>
              <a:t>KNOWN LIMITATIONS</a:t>
            </a:r>
            <a:endParaRPr lang="en-US" sz="1400" dirty="0"/>
          </a:p>
        </p:txBody>
      </p:sp>
      <p:sp>
        <p:nvSpPr>
          <p:cNvPr id="32" name="Shape 30"/>
          <p:cNvSpPr/>
          <p:nvPr/>
        </p:nvSpPr>
        <p:spPr>
          <a:xfrm>
            <a:off x="274320" y="3584448"/>
            <a:ext cx="2715768" cy="1261872"/>
          </a:xfrm>
          <a:prstGeom prst="rect">
            <a:avLst/>
          </a:prstGeom>
          <a:solidFill>
            <a:srgbClr val="161E45"/>
          </a:solidFill>
          <a:ln w="12700">
            <a:solidFill>
              <a:srgbClr val="1E2A5A"/>
            </a:solidFill>
            <a:prstDash val="solid"/>
          </a:ln>
        </p:spPr>
        <p:txBody>
          <a:bodyPr/>
          <a:lstStyle/>
          <a:p>
            <a:endParaRPr lang="en-US"/>
          </a:p>
        </p:txBody>
      </p:sp>
      <p:sp>
        <p:nvSpPr>
          <p:cNvPr id="33" name="Shape 31"/>
          <p:cNvSpPr/>
          <p:nvPr/>
        </p:nvSpPr>
        <p:spPr>
          <a:xfrm>
            <a:off x="274320" y="3584448"/>
            <a:ext cx="54864" cy="1261872"/>
          </a:xfrm>
          <a:prstGeom prst="rect">
            <a:avLst/>
          </a:prstGeom>
          <a:solidFill>
            <a:srgbClr val="F59E0B"/>
          </a:solidFill>
          <a:ln w="12700">
            <a:solidFill>
              <a:srgbClr val="F59E0B"/>
            </a:solidFill>
            <a:prstDash val="solid"/>
          </a:ln>
        </p:spPr>
        <p:txBody>
          <a:bodyPr/>
          <a:lstStyle/>
          <a:p>
            <a:endParaRPr lang="en-US"/>
          </a:p>
        </p:txBody>
      </p:sp>
      <p:sp>
        <p:nvSpPr>
          <p:cNvPr id="34" name="Text 32"/>
          <p:cNvSpPr/>
          <p:nvPr/>
        </p:nvSpPr>
        <p:spPr>
          <a:xfrm>
            <a:off x="475488" y="3639312"/>
            <a:ext cx="2377440" cy="256032"/>
          </a:xfrm>
          <a:prstGeom prst="rect">
            <a:avLst/>
          </a:prstGeom>
          <a:noFill/>
          <a:ln/>
        </p:spPr>
        <p:txBody>
          <a:bodyPr wrap="square" lIns="0" tIns="0" rIns="0" bIns="0" rtlCol="0" anchor="ctr"/>
          <a:lstStyle/>
          <a:p>
            <a:pPr marL="0" indent="0">
              <a:buNone/>
            </a:pPr>
            <a:r>
              <a:rPr lang="en-US" sz="1200" b="1" dirty="0">
                <a:solidFill>
                  <a:srgbClr val="F59E0B"/>
                </a:solidFill>
              </a:rPr>
              <a:t>Theoretical Yield</a:t>
            </a:r>
            <a:endParaRPr lang="en-US" sz="1200" dirty="0"/>
          </a:p>
        </p:txBody>
      </p:sp>
      <p:sp>
        <p:nvSpPr>
          <p:cNvPr id="35" name="Text 33"/>
          <p:cNvSpPr/>
          <p:nvPr/>
        </p:nvSpPr>
        <p:spPr>
          <a:xfrm>
            <a:off x="475488" y="3922776"/>
            <a:ext cx="2377440" cy="877824"/>
          </a:xfrm>
          <a:prstGeom prst="rect">
            <a:avLst/>
          </a:prstGeom>
          <a:noFill/>
          <a:ln/>
        </p:spPr>
        <p:txBody>
          <a:bodyPr wrap="square" lIns="0" tIns="0" rIns="0" bIns="0" rtlCol="0" anchor="ctr"/>
          <a:lstStyle/>
          <a:p>
            <a:pPr marL="0" indent="0">
              <a:buNone/>
            </a:pPr>
            <a:r>
              <a:rPr lang="en-US" sz="1000" dirty="0">
                <a:solidFill>
                  <a:srgbClr val="E8EDF5"/>
                </a:solidFill>
              </a:rPr>
              <a:t>Predictions = theoretical yield.</a:t>
            </a:r>
          </a:p>
          <a:p>
            <a:pPr marL="0" indent="0">
              <a:buNone/>
            </a:pPr>
            <a:r>
              <a:rPr lang="en-US" sz="1000" dirty="0">
                <a:solidFill>
                  <a:srgbClr val="E8EDF5"/>
                </a:solidFill>
              </a:rPr>
              <a:t>PVOUT is from Global Solar Atlas simulation with assumed losses </a:t>
            </a:r>
            <a:endParaRPr lang="en-US" sz="1000" dirty="0"/>
          </a:p>
        </p:txBody>
      </p:sp>
      <p:sp>
        <p:nvSpPr>
          <p:cNvPr id="36" name="Shape 34"/>
          <p:cNvSpPr/>
          <p:nvPr/>
        </p:nvSpPr>
        <p:spPr>
          <a:xfrm>
            <a:off x="3172968" y="3584448"/>
            <a:ext cx="2715768" cy="1261872"/>
          </a:xfrm>
          <a:prstGeom prst="rect">
            <a:avLst/>
          </a:prstGeom>
          <a:solidFill>
            <a:srgbClr val="161E45"/>
          </a:solidFill>
          <a:ln w="12700">
            <a:solidFill>
              <a:srgbClr val="1E2A5A"/>
            </a:solidFill>
            <a:prstDash val="solid"/>
          </a:ln>
        </p:spPr>
        <p:txBody>
          <a:bodyPr/>
          <a:lstStyle/>
          <a:p>
            <a:endParaRPr lang="en-US"/>
          </a:p>
        </p:txBody>
      </p:sp>
      <p:sp>
        <p:nvSpPr>
          <p:cNvPr id="37" name="Shape 35"/>
          <p:cNvSpPr/>
          <p:nvPr/>
        </p:nvSpPr>
        <p:spPr>
          <a:xfrm>
            <a:off x="3172968" y="3584448"/>
            <a:ext cx="54864" cy="1261872"/>
          </a:xfrm>
          <a:prstGeom prst="rect">
            <a:avLst/>
          </a:prstGeom>
          <a:solidFill>
            <a:srgbClr val="F59E0B"/>
          </a:solidFill>
          <a:ln w="12700">
            <a:solidFill>
              <a:srgbClr val="F59E0B"/>
            </a:solidFill>
            <a:prstDash val="solid"/>
          </a:ln>
        </p:spPr>
        <p:txBody>
          <a:bodyPr/>
          <a:lstStyle/>
          <a:p>
            <a:endParaRPr lang="en-US"/>
          </a:p>
        </p:txBody>
      </p:sp>
      <p:sp>
        <p:nvSpPr>
          <p:cNvPr id="38" name="Text 36"/>
          <p:cNvSpPr/>
          <p:nvPr/>
        </p:nvSpPr>
        <p:spPr>
          <a:xfrm>
            <a:off x="3374136" y="3639312"/>
            <a:ext cx="2377440" cy="256032"/>
          </a:xfrm>
          <a:prstGeom prst="rect">
            <a:avLst/>
          </a:prstGeom>
          <a:noFill/>
          <a:ln/>
        </p:spPr>
        <p:txBody>
          <a:bodyPr wrap="square" lIns="0" tIns="0" rIns="0" bIns="0" rtlCol="0" anchor="ctr"/>
          <a:lstStyle/>
          <a:p>
            <a:pPr marL="0" indent="0">
              <a:buNone/>
            </a:pPr>
            <a:r>
              <a:rPr lang="en-US" sz="1200" b="1" dirty="0">
                <a:solidFill>
                  <a:srgbClr val="F59E0B"/>
                </a:solidFill>
              </a:rPr>
              <a:t>Sunshine Missingness</a:t>
            </a:r>
            <a:endParaRPr lang="en-US" sz="1200" dirty="0"/>
          </a:p>
        </p:txBody>
      </p:sp>
      <p:sp>
        <p:nvSpPr>
          <p:cNvPr id="39" name="Text 37"/>
          <p:cNvSpPr/>
          <p:nvPr/>
        </p:nvSpPr>
        <p:spPr>
          <a:xfrm>
            <a:off x="3374136" y="3922776"/>
            <a:ext cx="2377440" cy="877824"/>
          </a:xfrm>
          <a:prstGeom prst="rect">
            <a:avLst/>
          </a:prstGeom>
          <a:noFill/>
          <a:ln/>
        </p:spPr>
        <p:txBody>
          <a:bodyPr wrap="square" lIns="0" tIns="0" rIns="0" bIns="0" rtlCol="0" anchor="ctr"/>
          <a:lstStyle/>
          <a:p>
            <a:pPr marL="0" indent="0">
              <a:buNone/>
            </a:pPr>
            <a:r>
              <a:rPr lang="en-US" sz="1000" dirty="0">
                <a:solidFill>
                  <a:srgbClr val="E8EDF5"/>
                </a:solidFill>
              </a:rPr>
              <a:t>36–37% missing in training data. XGBoost handles natively; correlated features (MaxTemp, Humidity9am) compensate.</a:t>
            </a:r>
            <a:endParaRPr lang="en-US" sz="1000" dirty="0"/>
          </a:p>
        </p:txBody>
      </p:sp>
      <p:sp>
        <p:nvSpPr>
          <p:cNvPr id="40" name="Shape 38"/>
          <p:cNvSpPr/>
          <p:nvPr/>
        </p:nvSpPr>
        <p:spPr>
          <a:xfrm>
            <a:off x="6071616" y="3584448"/>
            <a:ext cx="2715768" cy="1261872"/>
          </a:xfrm>
          <a:prstGeom prst="rect">
            <a:avLst/>
          </a:prstGeom>
          <a:solidFill>
            <a:srgbClr val="161E45"/>
          </a:solidFill>
          <a:ln w="12700">
            <a:solidFill>
              <a:srgbClr val="1E2A5A"/>
            </a:solidFill>
            <a:prstDash val="solid"/>
          </a:ln>
        </p:spPr>
        <p:txBody>
          <a:bodyPr/>
          <a:lstStyle/>
          <a:p>
            <a:endParaRPr lang="en-US"/>
          </a:p>
        </p:txBody>
      </p:sp>
      <p:sp>
        <p:nvSpPr>
          <p:cNvPr id="41" name="Shape 39"/>
          <p:cNvSpPr/>
          <p:nvPr/>
        </p:nvSpPr>
        <p:spPr>
          <a:xfrm>
            <a:off x="6071616" y="3584448"/>
            <a:ext cx="54864" cy="1261872"/>
          </a:xfrm>
          <a:prstGeom prst="rect">
            <a:avLst/>
          </a:prstGeom>
          <a:solidFill>
            <a:srgbClr val="F59E0B"/>
          </a:solidFill>
          <a:ln w="12700">
            <a:solidFill>
              <a:srgbClr val="F59E0B"/>
            </a:solidFill>
            <a:prstDash val="solid"/>
          </a:ln>
        </p:spPr>
        <p:txBody>
          <a:bodyPr/>
          <a:lstStyle/>
          <a:p>
            <a:endParaRPr lang="en-US"/>
          </a:p>
        </p:txBody>
      </p:sp>
      <p:sp>
        <p:nvSpPr>
          <p:cNvPr id="42" name="Text 40"/>
          <p:cNvSpPr/>
          <p:nvPr/>
        </p:nvSpPr>
        <p:spPr>
          <a:xfrm>
            <a:off x="6272784" y="3639312"/>
            <a:ext cx="2377440" cy="256032"/>
          </a:xfrm>
          <a:prstGeom prst="rect">
            <a:avLst/>
          </a:prstGeom>
          <a:noFill/>
          <a:ln/>
        </p:spPr>
        <p:txBody>
          <a:bodyPr wrap="square" lIns="0" tIns="0" rIns="0" bIns="0" rtlCol="0" anchor="ctr"/>
          <a:lstStyle/>
          <a:p>
            <a:pPr marL="0" indent="0">
              <a:buNone/>
            </a:pPr>
            <a:r>
              <a:rPr lang="en-US" sz="1200" b="1" dirty="0">
                <a:solidFill>
                  <a:srgbClr val="F59E0B"/>
                </a:solidFill>
              </a:rPr>
              <a:t>Single-Year Solar Data</a:t>
            </a:r>
            <a:endParaRPr lang="en-US" sz="1200" dirty="0"/>
          </a:p>
        </p:txBody>
      </p:sp>
      <p:sp>
        <p:nvSpPr>
          <p:cNvPr id="43" name="Text 41"/>
          <p:cNvSpPr/>
          <p:nvPr/>
        </p:nvSpPr>
        <p:spPr>
          <a:xfrm>
            <a:off x="6272784" y="3922776"/>
            <a:ext cx="2377440" cy="877824"/>
          </a:xfrm>
          <a:prstGeom prst="rect">
            <a:avLst/>
          </a:prstGeom>
          <a:noFill/>
          <a:ln/>
        </p:spPr>
        <p:txBody>
          <a:bodyPr wrap="square" lIns="0" tIns="0" rIns="0" bIns="0" rtlCol="0" anchor="ctr"/>
          <a:lstStyle/>
          <a:p>
            <a:pPr marL="0" indent="0">
              <a:buNone/>
            </a:pPr>
            <a:r>
              <a:rPr lang="en-US" sz="1000" dirty="0">
                <a:solidFill>
                  <a:srgbClr val="E8EDF5"/>
                </a:solidFill>
              </a:rPr>
              <a:t>Assessment requirement. True year-to-year solar irradiance variation is not captured in the model.</a:t>
            </a:r>
            <a:endParaRPr lang="en-US" sz="1000" dirty="0"/>
          </a:p>
        </p:txBody>
      </p:sp>
      <p:sp>
        <p:nvSpPr>
          <p:cNvPr id="7" name="Text 12">
            <a:extLst>
              <a:ext uri="{FF2B5EF4-FFF2-40B4-BE49-F238E27FC236}">
                <a16:creationId xmlns:a16="http://schemas.microsoft.com/office/drawing/2014/main" id="{5BDC0E37-6432-CA69-2242-6BA84B20C517}"/>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
        <p:nvSpPr>
          <p:cNvPr id="45" name="Text 23">
            <a:extLst>
              <a:ext uri="{FF2B5EF4-FFF2-40B4-BE49-F238E27FC236}">
                <a16:creationId xmlns:a16="http://schemas.microsoft.com/office/drawing/2014/main" id="{E9624D81-AE48-C05D-0A7D-51619B8EE630}"/>
              </a:ext>
            </a:extLst>
          </p:cNvPr>
          <p:cNvSpPr/>
          <p:nvPr/>
        </p:nvSpPr>
        <p:spPr>
          <a:xfrm>
            <a:off x="4910328" y="2359152"/>
            <a:ext cx="3840480" cy="630936"/>
          </a:xfrm>
          <a:prstGeom prst="rect">
            <a:avLst/>
          </a:prstGeom>
          <a:noFill/>
          <a:ln/>
        </p:spPr>
        <p:txBody>
          <a:bodyPr wrap="square" lIns="0" tIns="0" rIns="0" bIns="0" rtlCol="0" anchor="ctr"/>
          <a:lstStyle/>
          <a:p>
            <a:r>
              <a:rPr lang="en-US" sz="1000" dirty="0">
                <a:solidFill>
                  <a:srgbClr val="E8EDF5"/>
                </a:solidFill>
              </a:rPr>
              <a:t>528 rows (44 cities × 12 months). Eliminates granularity mismatch between daily rows and monthly PVOUT targets.</a:t>
            </a:r>
            <a:endParaRPr lang="en-US" sz="1000" dirty="0"/>
          </a:p>
          <a:p>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0C22"/>
        </a:solidFill>
        <a:effectLst/>
      </p:bgPr>
    </p:bg>
    <p:spTree>
      <p:nvGrpSpPr>
        <p:cNvPr id="1" name="">
          <a:extLst>
            <a:ext uri="{FF2B5EF4-FFF2-40B4-BE49-F238E27FC236}">
              <a16:creationId xmlns:a16="http://schemas.microsoft.com/office/drawing/2014/main" id="{7093A587-1478-B3FC-7552-4F685FEDA1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4D972F3-3D31-D9AF-2616-6F826AFA4D61}"/>
              </a:ext>
            </a:extLst>
          </p:cNvPr>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a:extLst>
              <a:ext uri="{FF2B5EF4-FFF2-40B4-BE49-F238E27FC236}">
                <a16:creationId xmlns:a16="http://schemas.microsoft.com/office/drawing/2014/main" id="{ED8CEBA8-3383-E1FD-0CD9-208FA349BF58}"/>
              </a:ext>
            </a:extLst>
          </p:cNvPr>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a:extLst>
              <a:ext uri="{FF2B5EF4-FFF2-40B4-BE49-F238E27FC236}">
                <a16:creationId xmlns:a16="http://schemas.microsoft.com/office/drawing/2014/main" id="{DD9D4C8F-FABD-BE9F-A346-332929498902}"/>
              </a:ext>
            </a:extLst>
          </p:cNvPr>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Data Preparation</a:t>
            </a:r>
            <a:endParaRPr lang="en-US" sz="1700" dirty="0"/>
          </a:p>
        </p:txBody>
      </p:sp>
      <p:sp>
        <p:nvSpPr>
          <p:cNvPr id="5" name="Shape 3">
            <a:extLst>
              <a:ext uri="{FF2B5EF4-FFF2-40B4-BE49-F238E27FC236}">
                <a16:creationId xmlns:a16="http://schemas.microsoft.com/office/drawing/2014/main" id="{BB69A4D4-6096-CABC-5E79-E3F3C2CC9531}"/>
              </a:ext>
            </a:extLst>
          </p:cNvPr>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a:extLst>
              <a:ext uri="{FF2B5EF4-FFF2-40B4-BE49-F238E27FC236}">
                <a16:creationId xmlns:a16="http://schemas.microsoft.com/office/drawing/2014/main" id="{F2BCA8DB-D97C-0F70-370A-AF12006A0020}"/>
              </a:ext>
            </a:extLst>
          </p:cNvPr>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a:extLst>
              <a:ext uri="{FF2B5EF4-FFF2-40B4-BE49-F238E27FC236}">
                <a16:creationId xmlns:a16="http://schemas.microsoft.com/office/drawing/2014/main" id="{527CE5E5-1153-A7F7-37C4-EB1BB4240D81}"/>
              </a:ext>
            </a:extLst>
          </p:cNvPr>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a:extLst>
              <a:ext uri="{FF2B5EF4-FFF2-40B4-BE49-F238E27FC236}">
                <a16:creationId xmlns:a16="http://schemas.microsoft.com/office/drawing/2014/main" id="{56E02B0B-CB26-14E5-F0DC-9482D7167FD8}"/>
              </a:ext>
            </a:extLst>
          </p:cNvPr>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pic>
        <p:nvPicPr>
          <p:cNvPr id="7" name="Picture 6">
            <a:extLst>
              <a:ext uri="{FF2B5EF4-FFF2-40B4-BE49-F238E27FC236}">
                <a16:creationId xmlns:a16="http://schemas.microsoft.com/office/drawing/2014/main" id="{8A68DC49-7F12-642F-0775-3E9DE379AF80}"/>
              </a:ext>
            </a:extLst>
          </p:cNvPr>
          <p:cNvPicPr>
            <a:picLocks noChangeAspect="1"/>
          </p:cNvPicPr>
          <p:nvPr/>
        </p:nvPicPr>
        <p:blipFill>
          <a:blip r:embed="rId3"/>
          <a:stretch>
            <a:fillRect/>
          </a:stretch>
        </p:blipFill>
        <p:spPr>
          <a:xfrm>
            <a:off x="137160" y="678180"/>
            <a:ext cx="5017110" cy="1980438"/>
          </a:xfrm>
          <a:prstGeom prst="rect">
            <a:avLst/>
          </a:prstGeom>
        </p:spPr>
      </p:pic>
      <p:pic>
        <p:nvPicPr>
          <p:cNvPr id="12" name="Picture 11">
            <a:extLst>
              <a:ext uri="{FF2B5EF4-FFF2-40B4-BE49-F238E27FC236}">
                <a16:creationId xmlns:a16="http://schemas.microsoft.com/office/drawing/2014/main" id="{8B436544-D95D-F270-A271-4B1C2AF80ABE}"/>
              </a:ext>
            </a:extLst>
          </p:cNvPr>
          <p:cNvPicPr>
            <a:picLocks noChangeAspect="1"/>
          </p:cNvPicPr>
          <p:nvPr/>
        </p:nvPicPr>
        <p:blipFill>
          <a:blip r:embed="rId4"/>
          <a:stretch>
            <a:fillRect/>
          </a:stretch>
        </p:blipFill>
        <p:spPr>
          <a:xfrm>
            <a:off x="3136055" y="2846261"/>
            <a:ext cx="5750693" cy="1887854"/>
          </a:xfrm>
          <a:prstGeom prst="rect">
            <a:avLst/>
          </a:prstGeom>
        </p:spPr>
      </p:pic>
      <p:sp>
        <p:nvSpPr>
          <p:cNvPr id="10" name="Text 12">
            <a:extLst>
              <a:ext uri="{FF2B5EF4-FFF2-40B4-BE49-F238E27FC236}">
                <a16:creationId xmlns:a16="http://schemas.microsoft.com/office/drawing/2014/main" id="{18471E3D-8872-2F00-30AB-7CB5EA71E264}"/>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
        <p:nvSpPr>
          <p:cNvPr id="11" name="Shape 34">
            <a:extLst>
              <a:ext uri="{FF2B5EF4-FFF2-40B4-BE49-F238E27FC236}">
                <a16:creationId xmlns:a16="http://schemas.microsoft.com/office/drawing/2014/main" id="{136A8AE7-DD03-3B33-2A6E-D02A62EE21A6}"/>
              </a:ext>
            </a:extLst>
          </p:cNvPr>
          <p:cNvSpPr/>
          <p:nvPr/>
        </p:nvSpPr>
        <p:spPr>
          <a:xfrm>
            <a:off x="137160" y="3203448"/>
            <a:ext cx="2715768" cy="1261872"/>
          </a:xfrm>
          <a:prstGeom prst="rect">
            <a:avLst/>
          </a:prstGeom>
          <a:solidFill>
            <a:srgbClr val="161E45"/>
          </a:solidFill>
          <a:ln w="12700">
            <a:solidFill>
              <a:srgbClr val="1E2A5A"/>
            </a:solidFill>
            <a:prstDash val="solid"/>
          </a:ln>
        </p:spPr>
        <p:txBody>
          <a:bodyPr/>
          <a:lstStyle/>
          <a:p>
            <a:endParaRPr lang="en-US"/>
          </a:p>
        </p:txBody>
      </p:sp>
      <p:sp>
        <p:nvSpPr>
          <p:cNvPr id="13" name="Shape 35">
            <a:extLst>
              <a:ext uri="{FF2B5EF4-FFF2-40B4-BE49-F238E27FC236}">
                <a16:creationId xmlns:a16="http://schemas.microsoft.com/office/drawing/2014/main" id="{518145B1-4E5E-750A-7623-0BFC0BB076DD}"/>
              </a:ext>
            </a:extLst>
          </p:cNvPr>
          <p:cNvSpPr/>
          <p:nvPr/>
        </p:nvSpPr>
        <p:spPr>
          <a:xfrm>
            <a:off x="137160" y="3203448"/>
            <a:ext cx="54864" cy="1261872"/>
          </a:xfrm>
          <a:prstGeom prst="rect">
            <a:avLst/>
          </a:prstGeom>
          <a:solidFill>
            <a:srgbClr val="F59E0B"/>
          </a:solidFill>
          <a:ln w="12700">
            <a:solidFill>
              <a:srgbClr val="F59E0B"/>
            </a:solidFill>
            <a:prstDash val="solid"/>
          </a:ln>
        </p:spPr>
        <p:txBody>
          <a:bodyPr/>
          <a:lstStyle/>
          <a:p>
            <a:endParaRPr lang="en-US"/>
          </a:p>
        </p:txBody>
      </p:sp>
      <p:sp>
        <p:nvSpPr>
          <p:cNvPr id="14" name="Text 36">
            <a:extLst>
              <a:ext uri="{FF2B5EF4-FFF2-40B4-BE49-F238E27FC236}">
                <a16:creationId xmlns:a16="http://schemas.microsoft.com/office/drawing/2014/main" id="{BFE9C861-9E10-0976-3C79-197A5C281407}"/>
              </a:ext>
            </a:extLst>
          </p:cNvPr>
          <p:cNvSpPr/>
          <p:nvPr/>
        </p:nvSpPr>
        <p:spPr>
          <a:xfrm>
            <a:off x="338328" y="3258312"/>
            <a:ext cx="2377440" cy="256032"/>
          </a:xfrm>
          <a:prstGeom prst="rect">
            <a:avLst/>
          </a:prstGeom>
          <a:noFill/>
          <a:ln/>
        </p:spPr>
        <p:txBody>
          <a:bodyPr wrap="square" lIns="0" tIns="0" rIns="0" bIns="0" rtlCol="0" anchor="ctr"/>
          <a:lstStyle/>
          <a:p>
            <a:pPr marL="0" indent="0">
              <a:buNone/>
            </a:pPr>
            <a:r>
              <a:rPr lang="en-US" sz="1200" b="1" dirty="0">
                <a:solidFill>
                  <a:srgbClr val="F59E0B"/>
                </a:solidFill>
              </a:rPr>
              <a:t>Sunshine Missingness</a:t>
            </a:r>
            <a:endParaRPr lang="en-US" sz="1200" dirty="0"/>
          </a:p>
        </p:txBody>
      </p:sp>
      <p:sp>
        <p:nvSpPr>
          <p:cNvPr id="15" name="Text 37">
            <a:extLst>
              <a:ext uri="{FF2B5EF4-FFF2-40B4-BE49-F238E27FC236}">
                <a16:creationId xmlns:a16="http://schemas.microsoft.com/office/drawing/2014/main" id="{FE887A1B-14A7-DECD-E4B4-795F7EA18549}"/>
              </a:ext>
            </a:extLst>
          </p:cNvPr>
          <p:cNvSpPr/>
          <p:nvPr/>
        </p:nvSpPr>
        <p:spPr>
          <a:xfrm>
            <a:off x="338328" y="3541776"/>
            <a:ext cx="2377440" cy="877824"/>
          </a:xfrm>
          <a:prstGeom prst="rect">
            <a:avLst/>
          </a:prstGeom>
          <a:noFill/>
          <a:ln/>
        </p:spPr>
        <p:txBody>
          <a:bodyPr wrap="square" lIns="0" tIns="0" rIns="0" bIns="0" rtlCol="0" anchor="ctr"/>
          <a:lstStyle/>
          <a:p>
            <a:pPr marL="0" indent="0">
              <a:buNone/>
            </a:pPr>
            <a:r>
              <a:rPr lang="en-US" sz="1000" dirty="0">
                <a:solidFill>
                  <a:srgbClr val="E8EDF5"/>
                </a:solidFill>
              </a:rPr>
              <a:t>36–37% missing in training data. XGBoost handles natively; correlated features (MaxTemp, Humidity9am) compensate.</a:t>
            </a:r>
            <a:endParaRPr lang="en-US" sz="1000" dirty="0"/>
          </a:p>
        </p:txBody>
      </p:sp>
      <p:sp>
        <p:nvSpPr>
          <p:cNvPr id="16" name="Shape 12">
            <a:extLst>
              <a:ext uri="{FF2B5EF4-FFF2-40B4-BE49-F238E27FC236}">
                <a16:creationId xmlns:a16="http://schemas.microsoft.com/office/drawing/2014/main" id="{E21386DE-FEAA-D793-AB7B-63CCA7B30C98}"/>
              </a:ext>
            </a:extLst>
          </p:cNvPr>
          <p:cNvSpPr/>
          <p:nvPr/>
        </p:nvSpPr>
        <p:spPr>
          <a:xfrm>
            <a:off x="5659341" y="1043654"/>
            <a:ext cx="2971800" cy="1261872"/>
          </a:xfrm>
          <a:prstGeom prst="rect">
            <a:avLst/>
          </a:prstGeom>
          <a:solidFill>
            <a:srgbClr val="111838"/>
          </a:solidFill>
          <a:ln w="12700">
            <a:solidFill>
              <a:srgbClr val="1E2A5A"/>
            </a:solidFill>
            <a:prstDash val="solid"/>
          </a:ln>
        </p:spPr>
        <p:txBody>
          <a:bodyPr/>
          <a:lstStyle/>
          <a:p>
            <a:endParaRPr lang="en-US"/>
          </a:p>
        </p:txBody>
      </p:sp>
      <p:sp>
        <p:nvSpPr>
          <p:cNvPr id="17" name="Shape 13">
            <a:extLst>
              <a:ext uri="{FF2B5EF4-FFF2-40B4-BE49-F238E27FC236}">
                <a16:creationId xmlns:a16="http://schemas.microsoft.com/office/drawing/2014/main" id="{7B0B4C4B-5377-62F6-3A83-B3136B8C716D}"/>
              </a:ext>
            </a:extLst>
          </p:cNvPr>
          <p:cNvSpPr/>
          <p:nvPr/>
        </p:nvSpPr>
        <p:spPr>
          <a:xfrm>
            <a:off x="5659341" y="1043654"/>
            <a:ext cx="54864" cy="1261872"/>
          </a:xfrm>
          <a:prstGeom prst="rect">
            <a:avLst/>
          </a:prstGeom>
          <a:solidFill>
            <a:srgbClr val="00C2E0"/>
          </a:solidFill>
          <a:ln w="12700">
            <a:solidFill>
              <a:srgbClr val="00C2E0"/>
            </a:solidFill>
            <a:prstDash val="solid"/>
          </a:ln>
        </p:spPr>
        <p:txBody>
          <a:bodyPr/>
          <a:lstStyle/>
          <a:p>
            <a:endParaRPr lang="en-US"/>
          </a:p>
        </p:txBody>
      </p:sp>
      <p:sp>
        <p:nvSpPr>
          <p:cNvPr id="18" name="Text 14">
            <a:extLst>
              <a:ext uri="{FF2B5EF4-FFF2-40B4-BE49-F238E27FC236}">
                <a16:creationId xmlns:a16="http://schemas.microsoft.com/office/drawing/2014/main" id="{D8F5171D-D84C-1E8C-EF8C-526B81B6561C}"/>
              </a:ext>
            </a:extLst>
          </p:cNvPr>
          <p:cNvSpPr/>
          <p:nvPr/>
        </p:nvSpPr>
        <p:spPr>
          <a:xfrm>
            <a:off x="5860509" y="1098518"/>
            <a:ext cx="2743200" cy="256032"/>
          </a:xfrm>
          <a:prstGeom prst="rect">
            <a:avLst/>
          </a:prstGeom>
          <a:noFill/>
          <a:ln/>
        </p:spPr>
        <p:txBody>
          <a:bodyPr wrap="square" lIns="0" tIns="0" rIns="0" bIns="0" rtlCol="0" anchor="ctr"/>
          <a:lstStyle/>
          <a:p>
            <a:pPr marL="0" indent="0">
              <a:buNone/>
            </a:pPr>
            <a:r>
              <a:rPr lang="en-US" sz="1200" b="1" dirty="0">
                <a:solidFill>
                  <a:srgbClr val="00C2E0"/>
                </a:solidFill>
                <a:latin typeface="Trebuchet MS" pitchFamily="34" charset="0"/>
                <a:ea typeface="Trebuchet MS" pitchFamily="34" charset="-122"/>
                <a:cs typeface="Trebuchet MS" pitchFamily="34" charset="-120"/>
              </a:rPr>
              <a:t>2009 train  /  2010 holdout</a:t>
            </a:r>
            <a:endParaRPr lang="en-US" sz="1200" dirty="0"/>
          </a:p>
        </p:txBody>
      </p:sp>
      <p:sp>
        <p:nvSpPr>
          <p:cNvPr id="19" name="Text 15">
            <a:extLst>
              <a:ext uri="{FF2B5EF4-FFF2-40B4-BE49-F238E27FC236}">
                <a16:creationId xmlns:a16="http://schemas.microsoft.com/office/drawing/2014/main" id="{DE31685C-8E9B-901C-10E5-2D35A030F7D5}"/>
              </a:ext>
            </a:extLst>
          </p:cNvPr>
          <p:cNvSpPr/>
          <p:nvPr/>
        </p:nvSpPr>
        <p:spPr>
          <a:xfrm>
            <a:off x="5860509" y="1381982"/>
            <a:ext cx="2743200" cy="763764"/>
          </a:xfrm>
          <a:prstGeom prst="rect">
            <a:avLst/>
          </a:prstGeom>
          <a:noFill/>
          <a:ln/>
        </p:spPr>
        <p:txBody>
          <a:bodyPr wrap="square" lIns="0" tIns="0" rIns="0" bIns="0" rtlCol="0" anchor="ctr"/>
          <a:lstStyle/>
          <a:p>
            <a:pPr marL="0" indent="0">
              <a:buNone/>
            </a:pPr>
            <a:r>
              <a:rPr lang="en-US" sz="1000" dirty="0">
                <a:solidFill>
                  <a:srgbClr val="E8EDF5"/>
                </a:solidFill>
              </a:rPr>
              <a:t>Sunshine feature has best quality in these years — 30 cities, ~37% missingness. KDE plots confirm no distribution shift.</a:t>
            </a:r>
            <a:endParaRPr lang="en-US" sz="1000" dirty="0"/>
          </a:p>
        </p:txBody>
      </p:sp>
    </p:spTree>
    <p:extLst>
      <p:ext uri="{BB962C8B-B14F-4D97-AF65-F5344CB8AC3E}">
        <p14:creationId xmlns:p14="http://schemas.microsoft.com/office/powerpoint/2010/main" val="1715599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Data Preparation</a:t>
            </a:r>
            <a:endParaRPr lang="en-US" sz="1700" dirty="0"/>
          </a:p>
        </p:txBody>
      </p:sp>
      <p:sp>
        <p:nvSpPr>
          <p:cNvPr id="5" name="Shape 3"/>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00C2E0"/>
          </a:solidFill>
          <a:ln w="12700">
            <a:solidFill>
              <a:srgbClr val="00C2E0"/>
            </a:solidFill>
            <a:prstDash val="solid"/>
          </a:ln>
        </p:spPr>
        <p:txBody>
          <a:bodyPr/>
          <a:lstStyle/>
          <a:p>
            <a:endParaRPr lang="en-US"/>
          </a:p>
        </p:txBody>
      </p:sp>
      <p:sp>
        <p:nvSpPr>
          <p:cNvPr id="13" name="Text 11"/>
          <p:cNvSpPr/>
          <p:nvPr/>
        </p:nvSpPr>
        <p:spPr>
          <a:xfrm>
            <a:off x="402336" y="594360"/>
            <a:ext cx="3657600" cy="256032"/>
          </a:xfrm>
          <a:prstGeom prst="rect">
            <a:avLst/>
          </a:prstGeom>
          <a:noFill/>
          <a:ln/>
        </p:spPr>
        <p:txBody>
          <a:bodyPr wrap="square" lIns="0" tIns="0" rIns="0" bIns="0" rtlCol="0" anchor="ctr"/>
          <a:lstStyle/>
          <a:p>
            <a:pPr marL="0" indent="0">
              <a:buNone/>
            </a:pPr>
            <a:r>
              <a:rPr lang="en-US" sz="1400" b="1" dirty="0">
                <a:solidFill>
                  <a:srgbClr val="00C2E0"/>
                </a:solidFill>
                <a:latin typeface="Trebuchet MS" pitchFamily="34" charset="0"/>
                <a:ea typeface="Trebuchet MS" pitchFamily="34" charset="-122"/>
                <a:cs typeface="Trebuchet MS" pitchFamily="34" charset="-120"/>
              </a:rPr>
              <a:t>MONTHLY PVOUT EXTRACTION  (Rasterio)</a:t>
            </a:r>
            <a:endParaRPr lang="en-US" sz="1400" dirty="0"/>
          </a:p>
        </p:txBody>
      </p:sp>
      <p:sp>
        <p:nvSpPr>
          <p:cNvPr id="14" name="Shape 12"/>
          <p:cNvSpPr/>
          <p:nvPr/>
        </p:nvSpPr>
        <p:spPr>
          <a:xfrm>
            <a:off x="274320" y="941832"/>
            <a:ext cx="4160520" cy="3904488"/>
          </a:xfrm>
          <a:prstGeom prst="rect">
            <a:avLst/>
          </a:prstGeom>
          <a:solidFill>
            <a:srgbClr val="111838"/>
          </a:solidFill>
          <a:ln w="12700">
            <a:solidFill>
              <a:srgbClr val="1E2A5A"/>
            </a:solidFill>
            <a:prstDash val="solid"/>
          </a:ln>
        </p:spPr>
        <p:txBody>
          <a:bodyPr/>
          <a:lstStyle/>
          <a:p>
            <a:endParaRPr lang="en-US"/>
          </a:p>
        </p:txBody>
      </p:sp>
      <p:sp>
        <p:nvSpPr>
          <p:cNvPr id="15" name="Shape 13"/>
          <p:cNvSpPr/>
          <p:nvPr/>
        </p:nvSpPr>
        <p:spPr>
          <a:xfrm>
            <a:off x="274320" y="941832"/>
            <a:ext cx="54864" cy="3904488"/>
          </a:xfrm>
          <a:prstGeom prst="rect">
            <a:avLst/>
          </a:prstGeom>
          <a:solidFill>
            <a:srgbClr val="00C2E0"/>
          </a:solidFill>
          <a:ln w="12700">
            <a:solidFill>
              <a:srgbClr val="00C2E0"/>
            </a:solidFill>
            <a:prstDash val="solid"/>
          </a:ln>
        </p:spPr>
        <p:txBody>
          <a:bodyPr/>
          <a:lstStyle/>
          <a:p>
            <a:endParaRPr lang="en-US"/>
          </a:p>
        </p:txBody>
      </p:sp>
      <p:sp>
        <p:nvSpPr>
          <p:cNvPr id="16" name="Shape 14"/>
          <p:cNvSpPr/>
          <p:nvPr/>
        </p:nvSpPr>
        <p:spPr>
          <a:xfrm>
            <a:off x="475488" y="960120"/>
            <a:ext cx="347472" cy="347472"/>
          </a:xfrm>
          <a:prstGeom prst="line">
            <a:avLst/>
          </a:prstGeom>
          <a:solidFill>
            <a:srgbClr val="00C2E0">
              <a:alpha val="80000"/>
            </a:srgbClr>
          </a:solidFill>
          <a:ln w="12700">
            <a:solidFill>
              <a:srgbClr val="00C2E0"/>
            </a:solidFill>
            <a:prstDash val="solid"/>
          </a:ln>
        </p:spPr>
        <p:txBody>
          <a:bodyPr/>
          <a:lstStyle/>
          <a:p>
            <a:endParaRPr lang="en-US"/>
          </a:p>
        </p:txBody>
      </p:sp>
      <p:sp>
        <p:nvSpPr>
          <p:cNvPr id="17" name="Text 15"/>
          <p:cNvSpPr/>
          <p:nvPr/>
        </p:nvSpPr>
        <p:spPr>
          <a:xfrm>
            <a:off x="475488" y="960120"/>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1</a:t>
            </a:r>
          </a:p>
        </p:txBody>
      </p:sp>
      <p:sp>
        <p:nvSpPr>
          <p:cNvPr id="18" name="Text 16"/>
          <p:cNvSpPr/>
          <p:nvPr/>
        </p:nvSpPr>
        <p:spPr>
          <a:xfrm>
            <a:off x="932688" y="960120"/>
            <a:ext cx="3383280" cy="256032"/>
          </a:xfrm>
          <a:prstGeom prst="rect">
            <a:avLst/>
          </a:prstGeom>
          <a:noFill/>
          <a:ln/>
        </p:spPr>
        <p:txBody>
          <a:bodyPr wrap="square" lIns="0" tIns="0" rIns="0" bIns="0" rtlCol="0" anchor="ctr"/>
          <a:lstStyle/>
          <a:p>
            <a:pPr marL="0" indent="0">
              <a:buNone/>
            </a:pPr>
            <a:r>
              <a:rPr lang="en-US" sz="1200" b="1" dirty="0">
                <a:solidFill>
                  <a:srgbClr val="FFFFFF"/>
                </a:solidFill>
              </a:rPr>
              <a:t>Geocode cities</a:t>
            </a:r>
            <a:endParaRPr lang="en-US" sz="1200" dirty="0"/>
          </a:p>
        </p:txBody>
      </p:sp>
      <p:sp>
        <p:nvSpPr>
          <p:cNvPr id="19" name="Text 17"/>
          <p:cNvSpPr/>
          <p:nvPr/>
        </p:nvSpPr>
        <p:spPr>
          <a:xfrm>
            <a:off x="932688" y="1234440"/>
            <a:ext cx="3383280" cy="548640"/>
          </a:xfrm>
          <a:prstGeom prst="rect">
            <a:avLst/>
          </a:prstGeom>
          <a:noFill/>
          <a:ln/>
        </p:spPr>
        <p:txBody>
          <a:bodyPr wrap="square" lIns="0" tIns="0" rIns="0" bIns="0" rtlCol="0" anchor="ctr"/>
          <a:lstStyle/>
          <a:p>
            <a:pPr marL="0" indent="0">
              <a:buNone/>
            </a:pPr>
            <a:r>
              <a:rPr lang="en-US" sz="1000" dirty="0">
                <a:solidFill>
                  <a:srgbClr val="8A99C0"/>
                </a:solidFill>
              </a:rPr>
              <a:t>geopy Nominatim — 44/46 resolved (NorfolkIsland out-of-bounds; MountGinini bbox too small)</a:t>
            </a:r>
            <a:endParaRPr lang="en-US" sz="1000" dirty="0"/>
          </a:p>
        </p:txBody>
      </p:sp>
      <p:sp>
        <p:nvSpPr>
          <p:cNvPr id="20" name="Shape 18"/>
          <p:cNvSpPr/>
          <p:nvPr/>
        </p:nvSpPr>
        <p:spPr>
          <a:xfrm>
            <a:off x="475488" y="1920240"/>
            <a:ext cx="347472" cy="347472"/>
          </a:xfrm>
          <a:prstGeom prst="line">
            <a:avLst/>
          </a:prstGeom>
          <a:solidFill>
            <a:srgbClr val="00C2E0">
              <a:alpha val="80000"/>
            </a:srgbClr>
          </a:solidFill>
          <a:ln w="12700">
            <a:solidFill>
              <a:srgbClr val="00C2E0"/>
            </a:solidFill>
            <a:prstDash val="solid"/>
          </a:ln>
        </p:spPr>
        <p:txBody>
          <a:bodyPr/>
          <a:lstStyle/>
          <a:p>
            <a:endParaRPr lang="en-US"/>
          </a:p>
        </p:txBody>
      </p:sp>
      <p:sp>
        <p:nvSpPr>
          <p:cNvPr id="21" name="Text 19"/>
          <p:cNvSpPr/>
          <p:nvPr/>
        </p:nvSpPr>
        <p:spPr>
          <a:xfrm>
            <a:off x="475488" y="1920240"/>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2</a:t>
            </a:r>
          </a:p>
        </p:txBody>
      </p:sp>
      <p:sp>
        <p:nvSpPr>
          <p:cNvPr id="22" name="Text 20"/>
          <p:cNvSpPr/>
          <p:nvPr/>
        </p:nvSpPr>
        <p:spPr>
          <a:xfrm>
            <a:off x="932688" y="1920240"/>
            <a:ext cx="3383280" cy="256032"/>
          </a:xfrm>
          <a:prstGeom prst="rect">
            <a:avLst/>
          </a:prstGeom>
          <a:noFill/>
          <a:ln/>
        </p:spPr>
        <p:txBody>
          <a:bodyPr wrap="square" lIns="0" tIns="0" rIns="0" bIns="0" rtlCol="0" anchor="ctr"/>
          <a:lstStyle/>
          <a:p>
            <a:pPr marL="0" indent="0">
              <a:buNone/>
            </a:pPr>
            <a:r>
              <a:rPr lang="en-US" sz="1200" b="1" dirty="0">
                <a:solidFill>
                  <a:srgbClr val="FFFFFF"/>
                </a:solidFill>
              </a:rPr>
              <a:t>CamelCase normalization</a:t>
            </a:r>
            <a:endParaRPr lang="en-US" sz="1200" dirty="0"/>
          </a:p>
        </p:txBody>
      </p:sp>
      <p:sp>
        <p:nvSpPr>
          <p:cNvPr id="23" name="Text 21"/>
          <p:cNvSpPr/>
          <p:nvPr/>
        </p:nvSpPr>
        <p:spPr>
          <a:xfrm>
            <a:off x="932688" y="2194560"/>
            <a:ext cx="3383280" cy="548640"/>
          </a:xfrm>
          <a:prstGeom prst="rect">
            <a:avLst/>
          </a:prstGeom>
          <a:noFill/>
          <a:ln/>
        </p:spPr>
        <p:txBody>
          <a:bodyPr wrap="square" lIns="0" tIns="0" rIns="0" bIns="0" rtlCol="0" anchor="ctr"/>
          <a:lstStyle/>
          <a:p>
            <a:pPr marL="0" indent="0">
              <a:buNone/>
            </a:pPr>
            <a:r>
              <a:rPr lang="en-US" sz="1000" dirty="0">
                <a:solidFill>
                  <a:srgbClr val="8A99C0"/>
                </a:solidFill>
              </a:rPr>
              <a:t>re.sub(r"([a-z])([A-Z])", r"\1 \2") — splits compound city names for Nominatim</a:t>
            </a:r>
            <a:endParaRPr lang="en-US" sz="1000" dirty="0"/>
          </a:p>
        </p:txBody>
      </p:sp>
      <p:sp>
        <p:nvSpPr>
          <p:cNvPr id="24" name="Shape 22"/>
          <p:cNvSpPr/>
          <p:nvPr/>
        </p:nvSpPr>
        <p:spPr>
          <a:xfrm>
            <a:off x="475488" y="2880360"/>
            <a:ext cx="347472" cy="347472"/>
          </a:xfrm>
          <a:prstGeom prst="line">
            <a:avLst/>
          </a:prstGeom>
          <a:solidFill>
            <a:srgbClr val="00C2E0">
              <a:alpha val="80000"/>
            </a:srgbClr>
          </a:solidFill>
          <a:ln w="12700">
            <a:solidFill>
              <a:srgbClr val="00C2E0"/>
            </a:solidFill>
            <a:prstDash val="solid"/>
          </a:ln>
        </p:spPr>
        <p:txBody>
          <a:bodyPr/>
          <a:lstStyle/>
          <a:p>
            <a:endParaRPr lang="en-US"/>
          </a:p>
        </p:txBody>
      </p:sp>
      <p:sp>
        <p:nvSpPr>
          <p:cNvPr id="25" name="Text 23"/>
          <p:cNvSpPr/>
          <p:nvPr/>
        </p:nvSpPr>
        <p:spPr>
          <a:xfrm>
            <a:off x="475488" y="2880360"/>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3</a:t>
            </a:r>
          </a:p>
        </p:txBody>
      </p:sp>
      <p:sp>
        <p:nvSpPr>
          <p:cNvPr id="26" name="Text 24"/>
          <p:cNvSpPr/>
          <p:nvPr/>
        </p:nvSpPr>
        <p:spPr>
          <a:xfrm>
            <a:off x="932688" y="2880360"/>
            <a:ext cx="3383280" cy="256032"/>
          </a:xfrm>
          <a:prstGeom prst="rect">
            <a:avLst/>
          </a:prstGeom>
          <a:noFill/>
          <a:ln/>
        </p:spPr>
        <p:txBody>
          <a:bodyPr wrap="square" lIns="0" tIns="0" rIns="0" bIns="0" rtlCol="0" anchor="ctr"/>
          <a:lstStyle/>
          <a:p>
            <a:pPr marL="0" indent="0">
              <a:buNone/>
            </a:pPr>
            <a:r>
              <a:rPr lang="en-US" sz="1200" b="1" dirty="0">
                <a:solidFill>
                  <a:srgbClr val="FFFFFF"/>
                </a:solidFill>
              </a:rPr>
              <a:t>Bounding box average</a:t>
            </a:r>
            <a:endParaRPr lang="en-US" sz="1200" dirty="0"/>
          </a:p>
        </p:txBody>
      </p:sp>
      <p:sp>
        <p:nvSpPr>
          <p:cNvPr id="27" name="Text 25"/>
          <p:cNvSpPr/>
          <p:nvPr/>
        </p:nvSpPr>
        <p:spPr>
          <a:xfrm>
            <a:off x="932688" y="3154680"/>
            <a:ext cx="3383280" cy="548640"/>
          </a:xfrm>
          <a:prstGeom prst="rect">
            <a:avLst/>
          </a:prstGeom>
          <a:noFill/>
          <a:ln/>
        </p:spPr>
        <p:txBody>
          <a:bodyPr wrap="square" lIns="0" tIns="0" rIns="0" bIns="0" rtlCol="0" anchor="ctr"/>
          <a:lstStyle/>
          <a:p>
            <a:pPr marL="0" indent="0">
              <a:buNone/>
            </a:pPr>
            <a:r>
              <a:rPr lang="en-US" sz="1000" dirty="0">
                <a:solidFill>
                  <a:srgbClr val="8A99C0"/>
                </a:solidFill>
              </a:rPr>
              <a:t>All raster pixels within city's OSM bounding box averaged — semantically correct vs. point sampling or fixed-radius buffer</a:t>
            </a:r>
            <a:endParaRPr lang="en-US" sz="1000" dirty="0"/>
          </a:p>
        </p:txBody>
      </p:sp>
      <p:sp>
        <p:nvSpPr>
          <p:cNvPr id="28" name="Shape 26"/>
          <p:cNvSpPr/>
          <p:nvPr/>
        </p:nvSpPr>
        <p:spPr>
          <a:xfrm>
            <a:off x="475488" y="3840480"/>
            <a:ext cx="347472" cy="347472"/>
          </a:xfrm>
          <a:prstGeom prst="line">
            <a:avLst/>
          </a:prstGeom>
          <a:solidFill>
            <a:srgbClr val="00C2E0">
              <a:alpha val="80000"/>
            </a:srgbClr>
          </a:solidFill>
          <a:ln w="12700">
            <a:solidFill>
              <a:srgbClr val="00C2E0"/>
            </a:solidFill>
            <a:prstDash val="solid"/>
          </a:ln>
        </p:spPr>
        <p:txBody>
          <a:bodyPr/>
          <a:lstStyle/>
          <a:p>
            <a:endParaRPr lang="en-US"/>
          </a:p>
        </p:txBody>
      </p:sp>
      <p:sp>
        <p:nvSpPr>
          <p:cNvPr id="29" name="Text 27"/>
          <p:cNvSpPr/>
          <p:nvPr/>
        </p:nvSpPr>
        <p:spPr>
          <a:xfrm>
            <a:off x="475488" y="3840480"/>
            <a:ext cx="347472" cy="347472"/>
          </a:xfrm>
          <a:prstGeom prst="rect">
            <a:avLst/>
          </a:prstGeom>
          <a:noFill/>
          <a:ln/>
        </p:spPr>
        <p:txBody>
          <a:bodyPr wrap="square" lIns="0" tIns="0" rIns="0" bIns="0" rtlCol="0" anchor="ctr"/>
          <a:lstStyle/>
          <a:p>
            <a:pPr marL="0" indent="0" algn="ctr">
              <a:buNone/>
            </a:pPr>
            <a:r>
              <a:rPr lang="en-US" sz="1600" b="1" dirty="0">
                <a:solidFill>
                  <a:schemeClr val="bg1"/>
                </a:solidFill>
              </a:rPr>
              <a:t>4</a:t>
            </a:r>
          </a:p>
        </p:txBody>
      </p:sp>
      <p:sp>
        <p:nvSpPr>
          <p:cNvPr id="30" name="Text 28"/>
          <p:cNvSpPr/>
          <p:nvPr/>
        </p:nvSpPr>
        <p:spPr>
          <a:xfrm>
            <a:off x="932688" y="3840480"/>
            <a:ext cx="3383280" cy="256032"/>
          </a:xfrm>
          <a:prstGeom prst="rect">
            <a:avLst/>
          </a:prstGeom>
          <a:noFill/>
          <a:ln/>
        </p:spPr>
        <p:txBody>
          <a:bodyPr wrap="square" lIns="0" tIns="0" rIns="0" bIns="0" rtlCol="0" anchor="ctr"/>
          <a:lstStyle/>
          <a:p>
            <a:pPr marL="0" indent="0">
              <a:buNone/>
            </a:pPr>
            <a:r>
              <a:rPr lang="en-US" sz="1200" b="1" dirty="0">
                <a:solidFill>
                  <a:srgbClr val="FFFFFF"/>
                </a:solidFill>
              </a:rPr>
              <a:t>Map to aggregated rows</a:t>
            </a:r>
            <a:endParaRPr lang="en-US" sz="1200" dirty="0"/>
          </a:p>
        </p:txBody>
      </p:sp>
      <p:sp>
        <p:nvSpPr>
          <p:cNvPr id="31" name="Text 29"/>
          <p:cNvSpPr/>
          <p:nvPr/>
        </p:nvSpPr>
        <p:spPr>
          <a:xfrm>
            <a:off x="932688" y="4114800"/>
            <a:ext cx="3383280" cy="548640"/>
          </a:xfrm>
          <a:prstGeom prst="rect">
            <a:avLst/>
          </a:prstGeom>
          <a:noFill/>
          <a:ln/>
        </p:spPr>
        <p:txBody>
          <a:bodyPr wrap="square" lIns="0" tIns="0" rIns="0" bIns="0" rtlCol="0" anchor="ctr"/>
          <a:lstStyle/>
          <a:p>
            <a:pPr marL="0" indent="0">
              <a:buNone/>
            </a:pPr>
            <a:r>
              <a:rPr lang="en-US" sz="1000" dirty="0">
                <a:solidFill>
                  <a:srgbClr val="8A99C0"/>
                </a:solidFill>
              </a:rPr>
              <a:t>Monthly PVOUT joined to weather aggregates by city + month — clean semantic match</a:t>
            </a:r>
            <a:endParaRPr lang="en-US" sz="1000" dirty="0"/>
          </a:p>
        </p:txBody>
      </p:sp>
      <p:sp>
        <p:nvSpPr>
          <p:cNvPr id="32" name="Shape 30"/>
          <p:cNvSpPr/>
          <p:nvPr/>
        </p:nvSpPr>
        <p:spPr>
          <a:xfrm>
            <a:off x="4709160" y="594360"/>
            <a:ext cx="54864" cy="256032"/>
          </a:xfrm>
          <a:prstGeom prst="rect">
            <a:avLst/>
          </a:prstGeom>
          <a:solidFill>
            <a:srgbClr val="F59E0B"/>
          </a:solidFill>
          <a:ln w="12700">
            <a:solidFill>
              <a:srgbClr val="F59E0B"/>
            </a:solidFill>
            <a:prstDash val="solid"/>
          </a:ln>
        </p:spPr>
        <p:txBody>
          <a:bodyPr/>
          <a:lstStyle/>
          <a:p>
            <a:endParaRPr lang="en-US"/>
          </a:p>
        </p:txBody>
      </p:sp>
      <p:sp>
        <p:nvSpPr>
          <p:cNvPr id="33" name="Text 31"/>
          <p:cNvSpPr/>
          <p:nvPr/>
        </p:nvSpPr>
        <p:spPr>
          <a:xfrm>
            <a:off x="4837176" y="594360"/>
            <a:ext cx="3657600" cy="256032"/>
          </a:xfrm>
          <a:prstGeom prst="rect">
            <a:avLst/>
          </a:prstGeom>
          <a:noFill/>
          <a:ln/>
        </p:spPr>
        <p:txBody>
          <a:bodyPr wrap="square" lIns="0" tIns="0" rIns="0" bIns="0" rtlCol="0" anchor="ctr"/>
          <a:lstStyle/>
          <a:p>
            <a:pPr marL="0" indent="0">
              <a:buNone/>
            </a:pPr>
            <a:r>
              <a:rPr lang="en-US" sz="1400" b="1" dirty="0">
                <a:solidFill>
                  <a:srgbClr val="F59E0B"/>
                </a:solidFill>
                <a:latin typeface="Trebuchet MS" pitchFamily="34" charset="0"/>
                <a:ea typeface="Trebuchet MS" pitchFamily="34" charset="-122"/>
                <a:cs typeface="Trebuchet MS" pitchFamily="34" charset="-120"/>
              </a:rPr>
              <a:t>WEATHER FEATURE ENGINEERING</a:t>
            </a:r>
            <a:endParaRPr lang="en-US" sz="1400" dirty="0"/>
          </a:p>
        </p:txBody>
      </p:sp>
      <p:sp>
        <p:nvSpPr>
          <p:cNvPr id="34" name="Shape 32"/>
          <p:cNvSpPr/>
          <p:nvPr/>
        </p:nvSpPr>
        <p:spPr>
          <a:xfrm>
            <a:off x="4709160" y="941832"/>
            <a:ext cx="4160520" cy="1773936"/>
          </a:xfrm>
          <a:prstGeom prst="rect">
            <a:avLst/>
          </a:prstGeom>
          <a:solidFill>
            <a:srgbClr val="111838"/>
          </a:solidFill>
          <a:ln w="12700">
            <a:solidFill>
              <a:srgbClr val="1E2A5A"/>
            </a:solidFill>
            <a:prstDash val="solid"/>
          </a:ln>
        </p:spPr>
        <p:txBody>
          <a:bodyPr/>
          <a:lstStyle/>
          <a:p>
            <a:endParaRPr lang="en-US"/>
          </a:p>
        </p:txBody>
      </p:sp>
      <p:sp>
        <p:nvSpPr>
          <p:cNvPr id="35" name="Shape 33"/>
          <p:cNvSpPr/>
          <p:nvPr/>
        </p:nvSpPr>
        <p:spPr>
          <a:xfrm>
            <a:off x="4709160" y="941832"/>
            <a:ext cx="54864" cy="1773936"/>
          </a:xfrm>
          <a:prstGeom prst="rect">
            <a:avLst/>
          </a:prstGeom>
          <a:solidFill>
            <a:srgbClr val="F59E0B"/>
          </a:solidFill>
          <a:ln w="12700">
            <a:solidFill>
              <a:srgbClr val="F59E0B"/>
            </a:solidFill>
            <a:prstDash val="solid"/>
          </a:ln>
        </p:spPr>
        <p:txBody>
          <a:bodyPr/>
          <a:lstStyle/>
          <a:p>
            <a:endParaRPr lang="en-US"/>
          </a:p>
        </p:txBody>
      </p:sp>
      <p:sp>
        <p:nvSpPr>
          <p:cNvPr id="36" name="Text 34"/>
          <p:cNvSpPr/>
          <p:nvPr/>
        </p:nvSpPr>
        <p:spPr>
          <a:xfrm>
            <a:off x="4910328" y="941832"/>
            <a:ext cx="3840480" cy="228600"/>
          </a:xfrm>
          <a:prstGeom prst="rect">
            <a:avLst/>
          </a:prstGeom>
          <a:noFill/>
          <a:ln/>
        </p:spPr>
        <p:txBody>
          <a:bodyPr wrap="square" lIns="0" tIns="0" rIns="0" bIns="0" rtlCol="0" anchor="ctr"/>
          <a:lstStyle/>
          <a:p>
            <a:pPr marL="0" indent="0">
              <a:buNone/>
            </a:pPr>
            <a:r>
              <a:rPr lang="en-US" sz="1200" b="1" dirty="0">
                <a:solidFill>
                  <a:srgbClr val="F59E0B"/>
                </a:solidFill>
              </a:rPr>
              <a:t>Dropped columns:</a:t>
            </a:r>
            <a:endParaRPr lang="en-US" sz="1200" dirty="0"/>
          </a:p>
        </p:txBody>
      </p:sp>
      <p:sp>
        <p:nvSpPr>
          <p:cNvPr id="37" name="Text 35"/>
          <p:cNvSpPr/>
          <p:nvPr/>
        </p:nvSpPr>
        <p:spPr>
          <a:xfrm>
            <a:off x="4910328" y="1188720"/>
            <a:ext cx="3840480" cy="228600"/>
          </a:xfrm>
          <a:prstGeom prst="rect">
            <a:avLst/>
          </a:prstGeom>
          <a:noFill/>
          <a:ln/>
        </p:spPr>
        <p:txBody>
          <a:bodyPr wrap="square" lIns="0" tIns="0" rIns="0" bIns="0" rtlCol="0" anchor="ctr"/>
          <a:lstStyle/>
          <a:p>
            <a:pPr marL="0" indent="0">
              <a:buNone/>
            </a:pPr>
            <a:r>
              <a:rPr lang="en-US" sz="1000" dirty="0">
                <a:solidFill>
                  <a:srgbClr val="8A99C0"/>
                </a:solidFill>
              </a:rPr>
              <a:t>Date  ·  Year  ·  Location  ·  RainTomorrow</a:t>
            </a:r>
            <a:endParaRPr lang="en-US" sz="1000" dirty="0"/>
          </a:p>
        </p:txBody>
      </p:sp>
      <p:sp>
        <p:nvSpPr>
          <p:cNvPr id="38" name="Text 36"/>
          <p:cNvSpPr/>
          <p:nvPr/>
        </p:nvSpPr>
        <p:spPr>
          <a:xfrm>
            <a:off x="4910328" y="1508760"/>
            <a:ext cx="3840480" cy="228600"/>
          </a:xfrm>
          <a:prstGeom prst="rect">
            <a:avLst/>
          </a:prstGeom>
          <a:noFill/>
          <a:ln/>
        </p:spPr>
        <p:txBody>
          <a:bodyPr wrap="square" lIns="0" tIns="0" rIns="0" bIns="0" rtlCol="0" anchor="ctr"/>
          <a:lstStyle/>
          <a:p>
            <a:pPr marL="0" indent="0">
              <a:buNone/>
            </a:pPr>
            <a:r>
              <a:rPr lang="en-US" sz="1200" b="1" dirty="0">
                <a:solidFill>
                  <a:srgbClr val="F59E0B"/>
                </a:solidFill>
              </a:rPr>
              <a:t>Aggregation method:</a:t>
            </a:r>
            <a:endParaRPr lang="en-US" sz="1200" dirty="0"/>
          </a:p>
        </p:txBody>
      </p:sp>
      <p:sp>
        <p:nvSpPr>
          <p:cNvPr id="39" name="Text 37"/>
          <p:cNvSpPr/>
          <p:nvPr/>
        </p:nvSpPr>
        <p:spPr>
          <a:xfrm>
            <a:off x="4910328" y="1755648"/>
            <a:ext cx="3840480" cy="365760"/>
          </a:xfrm>
          <a:prstGeom prst="rect">
            <a:avLst/>
          </a:prstGeom>
          <a:noFill/>
          <a:ln/>
        </p:spPr>
        <p:txBody>
          <a:bodyPr wrap="square" lIns="0" tIns="0" rIns="0" bIns="0" rtlCol="0" anchor="ctr"/>
          <a:lstStyle/>
          <a:p>
            <a:pPr marL="0" indent="0">
              <a:buNone/>
            </a:pPr>
            <a:r>
              <a:rPr lang="en-US" sz="1000" dirty="0">
                <a:solidFill>
                  <a:srgbClr val="E8EDF5"/>
                </a:solidFill>
              </a:rPr>
              <a:t>Numeric → mean  ·  Categorical → mode  ·  Result: 528 rows (44 cities × 12 months)</a:t>
            </a:r>
            <a:endParaRPr lang="en-US" sz="1000" dirty="0"/>
          </a:p>
        </p:txBody>
      </p:sp>
      <p:sp>
        <p:nvSpPr>
          <p:cNvPr id="40" name="Text 38"/>
          <p:cNvSpPr/>
          <p:nvPr/>
        </p:nvSpPr>
        <p:spPr>
          <a:xfrm>
            <a:off x="4910328" y="2167128"/>
            <a:ext cx="3840480" cy="457200"/>
          </a:xfrm>
          <a:prstGeom prst="rect">
            <a:avLst/>
          </a:prstGeom>
          <a:noFill/>
          <a:ln/>
        </p:spPr>
        <p:txBody>
          <a:bodyPr wrap="square" lIns="0" tIns="0" rIns="0" bIns="0" rtlCol="0" anchor="ctr"/>
          <a:lstStyle/>
          <a:p>
            <a:pPr marL="0" indent="0">
              <a:buNone/>
            </a:pPr>
            <a:r>
              <a:rPr lang="en-US" sz="1000" dirty="0">
                <a:solidFill>
                  <a:srgbClr val="E8EDF5"/>
                </a:solidFill>
              </a:rPr>
              <a:t>Encoding: </a:t>
            </a:r>
            <a:r>
              <a:rPr lang="en-US" sz="1000" dirty="0" err="1">
                <a:solidFill>
                  <a:srgbClr val="E8EDF5"/>
                </a:solidFill>
              </a:rPr>
              <a:t>WindGustDir</a:t>
            </a:r>
            <a:r>
              <a:rPr lang="en-US" sz="1000" dirty="0">
                <a:solidFill>
                  <a:srgbClr val="E8EDF5"/>
                </a:solidFill>
              </a:rPr>
              <a:t>, WindDir9am, WindDir3pm, </a:t>
            </a:r>
            <a:r>
              <a:rPr lang="en-US" sz="1000" dirty="0" err="1">
                <a:solidFill>
                  <a:srgbClr val="E8EDF5"/>
                </a:solidFill>
              </a:rPr>
              <a:t>RainToday</a:t>
            </a:r>
            <a:endParaRPr lang="en-US" sz="1000" dirty="0"/>
          </a:p>
          <a:p>
            <a:pPr marL="0" indent="0">
              <a:buNone/>
            </a:pPr>
            <a:endParaRPr lang="en-US" sz="1000" dirty="0">
              <a:solidFill>
                <a:srgbClr val="E8EDF5"/>
              </a:solidFill>
            </a:endParaRPr>
          </a:p>
        </p:txBody>
      </p:sp>
      <p:sp>
        <p:nvSpPr>
          <p:cNvPr id="41" name="Shape 39"/>
          <p:cNvSpPr/>
          <p:nvPr/>
        </p:nvSpPr>
        <p:spPr>
          <a:xfrm>
            <a:off x="4709160" y="2816352"/>
            <a:ext cx="4160520" cy="1188720"/>
          </a:xfrm>
          <a:prstGeom prst="rect">
            <a:avLst/>
          </a:prstGeom>
          <a:solidFill>
            <a:srgbClr val="161E45"/>
          </a:solidFill>
          <a:ln w="12700">
            <a:solidFill>
              <a:srgbClr val="1E2A5A"/>
            </a:solidFill>
            <a:prstDash val="solid"/>
          </a:ln>
        </p:spPr>
        <p:txBody>
          <a:bodyPr/>
          <a:lstStyle/>
          <a:p>
            <a:endParaRPr lang="en-US"/>
          </a:p>
        </p:txBody>
      </p:sp>
      <p:sp>
        <p:nvSpPr>
          <p:cNvPr id="42" name="Shape 40"/>
          <p:cNvSpPr/>
          <p:nvPr/>
        </p:nvSpPr>
        <p:spPr>
          <a:xfrm>
            <a:off x="4709160" y="2816352"/>
            <a:ext cx="54864" cy="1188720"/>
          </a:xfrm>
          <a:prstGeom prst="rect">
            <a:avLst/>
          </a:prstGeom>
          <a:solidFill>
            <a:srgbClr val="10B981"/>
          </a:solidFill>
          <a:ln w="12700">
            <a:solidFill>
              <a:srgbClr val="10B981"/>
            </a:solidFill>
            <a:prstDash val="solid"/>
          </a:ln>
        </p:spPr>
        <p:txBody>
          <a:bodyPr/>
          <a:lstStyle/>
          <a:p>
            <a:endParaRPr lang="en-US"/>
          </a:p>
        </p:txBody>
      </p:sp>
      <p:sp>
        <p:nvSpPr>
          <p:cNvPr id="43" name="Text 41"/>
          <p:cNvSpPr/>
          <p:nvPr/>
        </p:nvSpPr>
        <p:spPr>
          <a:xfrm>
            <a:off x="4910328" y="2871216"/>
            <a:ext cx="3840480" cy="256032"/>
          </a:xfrm>
          <a:prstGeom prst="rect">
            <a:avLst/>
          </a:prstGeom>
          <a:noFill/>
          <a:ln/>
        </p:spPr>
        <p:txBody>
          <a:bodyPr wrap="square" lIns="0" tIns="0" rIns="0" bIns="0" rtlCol="0" anchor="ctr"/>
          <a:lstStyle/>
          <a:p>
            <a:pPr marL="0" indent="0">
              <a:buNone/>
            </a:pPr>
            <a:r>
              <a:rPr lang="en-US" sz="1200" b="1" dirty="0">
                <a:solidFill>
                  <a:srgbClr val="10B981"/>
                </a:solidFill>
              </a:rPr>
              <a:t>Distribution Validation</a:t>
            </a:r>
            <a:endParaRPr lang="en-US" sz="1200" dirty="0"/>
          </a:p>
        </p:txBody>
      </p:sp>
      <p:sp>
        <p:nvSpPr>
          <p:cNvPr id="44" name="Text 42"/>
          <p:cNvSpPr/>
          <p:nvPr/>
        </p:nvSpPr>
        <p:spPr>
          <a:xfrm>
            <a:off x="4910328" y="3154680"/>
            <a:ext cx="3840480" cy="804672"/>
          </a:xfrm>
          <a:prstGeom prst="rect">
            <a:avLst/>
          </a:prstGeom>
          <a:noFill/>
          <a:ln/>
        </p:spPr>
        <p:txBody>
          <a:bodyPr wrap="square" lIns="0" tIns="0" rIns="0" bIns="0" rtlCol="0" anchor="ctr"/>
          <a:lstStyle/>
          <a:p>
            <a:pPr marL="0" indent="0">
              <a:buNone/>
            </a:pPr>
            <a:r>
              <a:rPr lang="en-US" sz="1000" dirty="0">
                <a:solidFill>
                  <a:srgbClr val="E8EDF5"/>
                </a:solidFill>
              </a:rPr>
              <a:t>KDE plots confirm train (2009) and holdout (2010) feature distributions are comparable across all 20 numeric features — no distribution shift detected.</a:t>
            </a:r>
            <a:endParaRPr lang="en-US" sz="1000" dirty="0"/>
          </a:p>
        </p:txBody>
      </p:sp>
      <p:sp>
        <p:nvSpPr>
          <p:cNvPr id="45" name="Shape 43"/>
          <p:cNvSpPr/>
          <p:nvPr/>
        </p:nvSpPr>
        <p:spPr>
          <a:xfrm>
            <a:off x="4709160" y="4096512"/>
            <a:ext cx="4160520" cy="685800"/>
          </a:xfrm>
          <a:prstGeom prst="rect">
            <a:avLst/>
          </a:prstGeom>
          <a:solidFill>
            <a:srgbClr val="00C2E0">
              <a:alpha val="12000"/>
            </a:srgbClr>
          </a:solidFill>
          <a:ln w="12700">
            <a:solidFill>
              <a:srgbClr val="00C2E0"/>
            </a:solidFill>
            <a:prstDash val="solid"/>
          </a:ln>
        </p:spPr>
        <p:txBody>
          <a:bodyPr/>
          <a:lstStyle/>
          <a:p>
            <a:endParaRPr lang="en-US"/>
          </a:p>
        </p:txBody>
      </p:sp>
      <p:sp>
        <p:nvSpPr>
          <p:cNvPr id="46" name="Text 44"/>
          <p:cNvSpPr/>
          <p:nvPr/>
        </p:nvSpPr>
        <p:spPr>
          <a:xfrm>
            <a:off x="4709160" y="4096512"/>
            <a:ext cx="4160520" cy="685800"/>
          </a:xfrm>
          <a:prstGeom prst="rect">
            <a:avLst/>
          </a:prstGeom>
          <a:noFill/>
          <a:ln/>
        </p:spPr>
        <p:txBody>
          <a:bodyPr wrap="square" lIns="101600" tIns="101600" rIns="101600" bIns="101600" rtlCol="0" anchor="ctr"/>
          <a:lstStyle/>
          <a:p>
            <a:pPr marL="0" indent="0" algn="ctr">
              <a:buNone/>
            </a:pPr>
            <a:r>
              <a:rPr lang="en-US" sz="2800" b="1" dirty="0">
                <a:solidFill>
                  <a:srgbClr val="00C2E0"/>
                </a:solidFill>
              </a:rPr>
              <a:t>20 </a:t>
            </a:r>
            <a:r>
              <a:rPr lang="en-US" sz="1100" dirty="0">
                <a:solidFill>
                  <a:srgbClr val="FFFFFF"/>
                </a:solidFill>
              </a:rPr>
              <a:t>final features  ·  </a:t>
            </a:r>
            <a:r>
              <a:rPr lang="en-US" sz="2800" b="1" dirty="0">
                <a:solidFill>
                  <a:srgbClr val="F59E0B"/>
                </a:solidFill>
              </a:rPr>
              <a:t>20 </a:t>
            </a:r>
            <a:r>
              <a:rPr lang="en-US" sz="1100" dirty="0">
                <a:solidFill>
                  <a:srgbClr val="FFFFFF"/>
                </a:solidFill>
              </a:rPr>
              <a:t>weather columns</a:t>
            </a:r>
            <a:endParaRPr lang="en-US" sz="2800" dirty="0"/>
          </a:p>
        </p:txBody>
      </p:sp>
      <p:sp>
        <p:nvSpPr>
          <p:cNvPr id="7" name="Text 12">
            <a:extLst>
              <a:ext uri="{FF2B5EF4-FFF2-40B4-BE49-F238E27FC236}">
                <a16:creationId xmlns:a16="http://schemas.microsoft.com/office/drawing/2014/main" id="{3920D766-A06D-5133-A42F-BAD061194584}"/>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0C22"/>
        </a:solidFill>
        <a:effectLst/>
      </p:bgPr>
    </p:bg>
    <p:spTree>
      <p:nvGrpSpPr>
        <p:cNvPr id="1" name="">
          <a:extLst>
            <a:ext uri="{FF2B5EF4-FFF2-40B4-BE49-F238E27FC236}">
              <a16:creationId xmlns:a16="http://schemas.microsoft.com/office/drawing/2014/main" id="{B04EC581-19C6-52CF-C12D-D71132D7250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6471B2-6D3A-D94A-CB1C-B7F18853A689}"/>
              </a:ext>
            </a:extLst>
          </p:cNvPr>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a:extLst>
              <a:ext uri="{FF2B5EF4-FFF2-40B4-BE49-F238E27FC236}">
                <a16:creationId xmlns:a16="http://schemas.microsoft.com/office/drawing/2014/main" id="{67731D5D-DCF8-71C4-8B42-A80D077B8C1C}"/>
              </a:ext>
            </a:extLst>
          </p:cNvPr>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a:extLst>
              <a:ext uri="{FF2B5EF4-FFF2-40B4-BE49-F238E27FC236}">
                <a16:creationId xmlns:a16="http://schemas.microsoft.com/office/drawing/2014/main" id="{377C92D5-C562-35AA-02BE-D78B9B4512F9}"/>
              </a:ext>
            </a:extLst>
          </p:cNvPr>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Data Preparation</a:t>
            </a:r>
            <a:endParaRPr lang="en-US" sz="1700" dirty="0"/>
          </a:p>
        </p:txBody>
      </p:sp>
      <p:sp>
        <p:nvSpPr>
          <p:cNvPr id="5" name="Shape 3">
            <a:extLst>
              <a:ext uri="{FF2B5EF4-FFF2-40B4-BE49-F238E27FC236}">
                <a16:creationId xmlns:a16="http://schemas.microsoft.com/office/drawing/2014/main" id="{D1555E66-4E92-5077-5BE4-275AFE359338}"/>
              </a:ext>
            </a:extLst>
          </p:cNvPr>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a:extLst>
              <a:ext uri="{FF2B5EF4-FFF2-40B4-BE49-F238E27FC236}">
                <a16:creationId xmlns:a16="http://schemas.microsoft.com/office/drawing/2014/main" id="{B3B7704F-BD0A-6984-B259-938FF43C4757}"/>
              </a:ext>
            </a:extLst>
          </p:cNvPr>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a:extLst>
              <a:ext uri="{FF2B5EF4-FFF2-40B4-BE49-F238E27FC236}">
                <a16:creationId xmlns:a16="http://schemas.microsoft.com/office/drawing/2014/main" id="{3F83EC42-868D-8B18-2A68-07D16C31A5E5}"/>
              </a:ext>
            </a:extLst>
          </p:cNvPr>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a:extLst>
              <a:ext uri="{FF2B5EF4-FFF2-40B4-BE49-F238E27FC236}">
                <a16:creationId xmlns:a16="http://schemas.microsoft.com/office/drawing/2014/main" id="{4DA360E4-EB88-F3E5-E8E9-46C4822DACA9}"/>
              </a:ext>
            </a:extLst>
          </p:cNvPr>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pic>
        <p:nvPicPr>
          <p:cNvPr id="10" name="Picture 9">
            <a:extLst>
              <a:ext uri="{FF2B5EF4-FFF2-40B4-BE49-F238E27FC236}">
                <a16:creationId xmlns:a16="http://schemas.microsoft.com/office/drawing/2014/main" id="{DEBD996A-1D48-0215-439B-A0C2707D8C42}"/>
              </a:ext>
            </a:extLst>
          </p:cNvPr>
          <p:cNvPicPr>
            <a:picLocks noChangeAspect="1"/>
          </p:cNvPicPr>
          <p:nvPr/>
        </p:nvPicPr>
        <p:blipFill>
          <a:blip r:embed="rId3"/>
          <a:stretch>
            <a:fillRect/>
          </a:stretch>
        </p:blipFill>
        <p:spPr>
          <a:xfrm>
            <a:off x="5709819" y="594360"/>
            <a:ext cx="3256481" cy="4316476"/>
          </a:xfrm>
          <a:prstGeom prst="rect">
            <a:avLst/>
          </a:prstGeom>
        </p:spPr>
      </p:pic>
      <p:pic>
        <p:nvPicPr>
          <p:cNvPr id="11" name="Picture 10">
            <a:extLst>
              <a:ext uri="{FF2B5EF4-FFF2-40B4-BE49-F238E27FC236}">
                <a16:creationId xmlns:a16="http://schemas.microsoft.com/office/drawing/2014/main" id="{5DAB0357-45E2-EEDC-5BD9-67FF1C345C51}"/>
              </a:ext>
            </a:extLst>
          </p:cNvPr>
          <p:cNvPicPr>
            <a:picLocks noChangeAspect="1"/>
          </p:cNvPicPr>
          <p:nvPr/>
        </p:nvPicPr>
        <p:blipFill>
          <a:blip r:embed="rId4"/>
          <a:stretch>
            <a:fillRect/>
          </a:stretch>
        </p:blipFill>
        <p:spPr>
          <a:xfrm>
            <a:off x="120179" y="1673479"/>
            <a:ext cx="5467536" cy="2158238"/>
          </a:xfrm>
          <a:prstGeom prst="rect">
            <a:avLst/>
          </a:prstGeom>
        </p:spPr>
      </p:pic>
      <p:sp>
        <p:nvSpPr>
          <p:cNvPr id="7" name="Text 12">
            <a:extLst>
              <a:ext uri="{FF2B5EF4-FFF2-40B4-BE49-F238E27FC236}">
                <a16:creationId xmlns:a16="http://schemas.microsoft.com/office/drawing/2014/main" id="{3A29C1ED-D8C0-BC4E-3F1E-210E00C6D1F8}"/>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
        <p:nvSpPr>
          <p:cNvPr id="15" name="Shape 10">
            <a:extLst>
              <a:ext uri="{FF2B5EF4-FFF2-40B4-BE49-F238E27FC236}">
                <a16:creationId xmlns:a16="http://schemas.microsoft.com/office/drawing/2014/main" id="{9C6EE7EC-1454-E132-7F38-5910846E47BE}"/>
              </a:ext>
            </a:extLst>
          </p:cNvPr>
          <p:cNvSpPr/>
          <p:nvPr/>
        </p:nvSpPr>
        <p:spPr>
          <a:xfrm>
            <a:off x="274320" y="594360"/>
            <a:ext cx="54864" cy="256032"/>
          </a:xfrm>
          <a:prstGeom prst="rect">
            <a:avLst/>
          </a:prstGeom>
          <a:solidFill>
            <a:srgbClr val="00C2E0"/>
          </a:solidFill>
          <a:ln w="12700">
            <a:solidFill>
              <a:srgbClr val="00C2E0"/>
            </a:solidFill>
            <a:prstDash val="solid"/>
          </a:ln>
        </p:spPr>
        <p:txBody>
          <a:bodyPr/>
          <a:lstStyle/>
          <a:p>
            <a:endParaRPr lang="en-US"/>
          </a:p>
        </p:txBody>
      </p:sp>
      <p:sp>
        <p:nvSpPr>
          <p:cNvPr id="16" name="Text 11">
            <a:extLst>
              <a:ext uri="{FF2B5EF4-FFF2-40B4-BE49-F238E27FC236}">
                <a16:creationId xmlns:a16="http://schemas.microsoft.com/office/drawing/2014/main" id="{BCDC204C-135A-5738-4A34-524F62A157C6}"/>
              </a:ext>
            </a:extLst>
          </p:cNvPr>
          <p:cNvSpPr/>
          <p:nvPr/>
        </p:nvSpPr>
        <p:spPr>
          <a:xfrm>
            <a:off x="402336" y="594360"/>
            <a:ext cx="3657600" cy="256032"/>
          </a:xfrm>
          <a:prstGeom prst="rect">
            <a:avLst/>
          </a:prstGeom>
          <a:noFill/>
          <a:ln/>
        </p:spPr>
        <p:txBody>
          <a:bodyPr wrap="square" lIns="0" tIns="0" rIns="0" bIns="0" rtlCol="0" anchor="ctr"/>
          <a:lstStyle/>
          <a:p>
            <a:pPr marL="0" indent="0">
              <a:buNone/>
            </a:pPr>
            <a:r>
              <a:rPr lang="en-US" sz="1400" b="1" dirty="0">
                <a:solidFill>
                  <a:srgbClr val="00C2E0"/>
                </a:solidFill>
                <a:latin typeface="Trebuchet MS" pitchFamily="34" charset="0"/>
                <a:ea typeface="Trebuchet MS" pitchFamily="34" charset="-122"/>
                <a:cs typeface="Trebuchet MS" pitchFamily="34" charset="-120"/>
              </a:rPr>
              <a:t>MONTHLY PVOUT EXTRACTION  (Rasterio)</a:t>
            </a:r>
            <a:endParaRPr lang="en-US" sz="1400" dirty="0"/>
          </a:p>
        </p:txBody>
      </p:sp>
    </p:spTree>
    <p:extLst>
      <p:ext uri="{BB962C8B-B14F-4D97-AF65-F5344CB8AC3E}">
        <p14:creationId xmlns:p14="http://schemas.microsoft.com/office/powerpoint/2010/main" val="3412424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0C22"/>
        </a:solidFill>
        <a:effectLst/>
      </p:bgPr>
    </p:bg>
    <p:spTree>
      <p:nvGrpSpPr>
        <p:cNvPr id="1" name="">
          <a:extLst>
            <a:ext uri="{FF2B5EF4-FFF2-40B4-BE49-F238E27FC236}">
              <a16:creationId xmlns:a16="http://schemas.microsoft.com/office/drawing/2014/main" id="{9008B88E-DC5F-BDC1-CFE7-8525AAD5E58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67F6D48-5A50-14BF-B6EF-55E9A66A64AD}"/>
              </a:ext>
            </a:extLst>
          </p:cNvPr>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a:extLst>
              <a:ext uri="{FF2B5EF4-FFF2-40B4-BE49-F238E27FC236}">
                <a16:creationId xmlns:a16="http://schemas.microsoft.com/office/drawing/2014/main" id="{5E6DDC48-ED86-AB14-DAD2-658A301D96C8}"/>
              </a:ext>
            </a:extLst>
          </p:cNvPr>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a:extLst>
              <a:ext uri="{FF2B5EF4-FFF2-40B4-BE49-F238E27FC236}">
                <a16:creationId xmlns:a16="http://schemas.microsoft.com/office/drawing/2014/main" id="{A77B6449-A85B-87BE-9297-A8FDC9AB0DC6}"/>
              </a:ext>
            </a:extLst>
          </p:cNvPr>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Data Preparation</a:t>
            </a:r>
            <a:endParaRPr lang="en-US" sz="1700" dirty="0"/>
          </a:p>
        </p:txBody>
      </p:sp>
      <p:sp>
        <p:nvSpPr>
          <p:cNvPr id="5" name="Shape 3">
            <a:extLst>
              <a:ext uri="{FF2B5EF4-FFF2-40B4-BE49-F238E27FC236}">
                <a16:creationId xmlns:a16="http://schemas.microsoft.com/office/drawing/2014/main" id="{B71B1273-1E39-1B17-720C-4456DEDC54F0}"/>
              </a:ext>
            </a:extLst>
          </p:cNvPr>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a:extLst>
              <a:ext uri="{FF2B5EF4-FFF2-40B4-BE49-F238E27FC236}">
                <a16:creationId xmlns:a16="http://schemas.microsoft.com/office/drawing/2014/main" id="{20EA421E-F232-A7E3-5254-4B2104676EE3}"/>
              </a:ext>
            </a:extLst>
          </p:cNvPr>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a:extLst>
              <a:ext uri="{FF2B5EF4-FFF2-40B4-BE49-F238E27FC236}">
                <a16:creationId xmlns:a16="http://schemas.microsoft.com/office/drawing/2014/main" id="{CBA823F2-6F64-D3EA-7ED9-65FC80F8AFE9}"/>
              </a:ext>
            </a:extLst>
          </p:cNvPr>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a:extLst>
              <a:ext uri="{FF2B5EF4-FFF2-40B4-BE49-F238E27FC236}">
                <a16:creationId xmlns:a16="http://schemas.microsoft.com/office/drawing/2014/main" id="{2579D1CF-A98C-A8A6-EA39-F586EED48B6F}"/>
              </a:ext>
            </a:extLst>
          </p:cNvPr>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pic>
        <p:nvPicPr>
          <p:cNvPr id="7" name="Picture 6">
            <a:extLst>
              <a:ext uri="{FF2B5EF4-FFF2-40B4-BE49-F238E27FC236}">
                <a16:creationId xmlns:a16="http://schemas.microsoft.com/office/drawing/2014/main" id="{BECBAF98-84CB-180B-66BC-A361BA49F38B}"/>
              </a:ext>
            </a:extLst>
          </p:cNvPr>
          <p:cNvPicPr>
            <a:picLocks noChangeAspect="1"/>
          </p:cNvPicPr>
          <p:nvPr/>
        </p:nvPicPr>
        <p:blipFill>
          <a:blip r:embed="rId3"/>
          <a:stretch>
            <a:fillRect/>
          </a:stretch>
        </p:blipFill>
        <p:spPr>
          <a:xfrm>
            <a:off x="108332" y="608403"/>
            <a:ext cx="5617732" cy="4274820"/>
          </a:xfrm>
          <a:prstGeom prst="rect">
            <a:avLst/>
          </a:prstGeom>
        </p:spPr>
      </p:pic>
      <p:sp>
        <p:nvSpPr>
          <p:cNvPr id="10" name="Text 12">
            <a:extLst>
              <a:ext uri="{FF2B5EF4-FFF2-40B4-BE49-F238E27FC236}">
                <a16:creationId xmlns:a16="http://schemas.microsoft.com/office/drawing/2014/main" id="{71BD9944-77E9-F4D2-A64F-A203315B5182}"/>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
        <p:nvSpPr>
          <p:cNvPr id="11" name="Shape 39">
            <a:extLst>
              <a:ext uri="{FF2B5EF4-FFF2-40B4-BE49-F238E27FC236}">
                <a16:creationId xmlns:a16="http://schemas.microsoft.com/office/drawing/2014/main" id="{E3794ADF-245D-19C7-19C7-5CB2206B3984}"/>
              </a:ext>
            </a:extLst>
          </p:cNvPr>
          <p:cNvSpPr/>
          <p:nvPr/>
        </p:nvSpPr>
        <p:spPr>
          <a:xfrm>
            <a:off x="5890852" y="2148840"/>
            <a:ext cx="3069339" cy="1188720"/>
          </a:xfrm>
          <a:prstGeom prst="rect">
            <a:avLst/>
          </a:prstGeom>
          <a:solidFill>
            <a:srgbClr val="161E45"/>
          </a:solidFill>
          <a:ln w="12700">
            <a:solidFill>
              <a:srgbClr val="1E2A5A"/>
            </a:solidFill>
            <a:prstDash val="solid"/>
          </a:ln>
        </p:spPr>
        <p:txBody>
          <a:bodyPr/>
          <a:lstStyle/>
          <a:p>
            <a:endParaRPr lang="en-US"/>
          </a:p>
        </p:txBody>
      </p:sp>
      <p:sp>
        <p:nvSpPr>
          <p:cNvPr id="12" name="Shape 40">
            <a:extLst>
              <a:ext uri="{FF2B5EF4-FFF2-40B4-BE49-F238E27FC236}">
                <a16:creationId xmlns:a16="http://schemas.microsoft.com/office/drawing/2014/main" id="{9A85CEDA-40B5-9CAB-A360-750D1FF2A624}"/>
              </a:ext>
            </a:extLst>
          </p:cNvPr>
          <p:cNvSpPr/>
          <p:nvPr/>
        </p:nvSpPr>
        <p:spPr>
          <a:xfrm>
            <a:off x="5890852" y="2148840"/>
            <a:ext cx="54864" cy="1188720"/>
          </a:xfrm>
          <a:prstGeom prst="rect">
            <a:avLst/>
          </a:prstGeom>
          <a:solidFill>
            <a:srgbClr val="10B981"/>
          </a:solidFill>
          <a:ln w="12700">
            <a:solidFill>
              <a:srgbClr val="10B981"/>
            </a:solidFill>
            <a:prstDash val="solid"/>
          </a:ln>
        </p:spPr>
        <p:txBody>
          <a:bodyPr/>
          <a:lstStyle/>
          <a:p>
            <a:endParaRPr lang="en-US"/>
          </a:p>
        </p:txBody>
      </p:sp>
      <p:sp>
        <p:nvSpPr>
          <p:cNvPr id="13" name="Text 41">
            <a:extLst>
              <a:ext uri="{FF2B5EF4-FFF2-40B4-BE49-F238E27FC236}">
                <a16:creationId xmlns:a16="http://schemas.microsoft.com/office/drawing/2014/main" id="{FF95C0E2-A6DC-B6C0-BF8E-4B7B0F4BAE05}"/>
              </a:ext>
            </a:extLst>
          </p:cNvPr>
          <p:cNvSpPr/>
          <p:nvPr/>
        </p:nvSpPr>
        <p:spPr>
          <a:xfrm>
            <a:off x="6092020" y="2203704"/>
            <a:ext cx="2833236" cy="256032"/>
          </a:xfrm>
          <a:prstGeom prst="rect">
            <a:avLst/>
          </a:prstGeom>
          <a:noFill/>
          <a:ln/>
        </p:spPr>
        <p:txBody>
          <a:bodyPr wrap="square" lIns="0" tIns="0" rIns="0" bIns="0" rtlCol="0" anchor="ctr"/>
          <a:lstStyle/>
          <a:p>
            <a:pPr marL="0" indent="0">
              <a:buNone/>
            </a:pPr>
            <a:r>
              <a:rPr lang="en-US" sz="1200" b="1" dirty="0">
                <a:solidFill>
                  <a:srgbClr val="10B981"/>
                </a:solidFill>
              </a:rPr>
              <a:t>Distribution Validation</a:t>
            </a:r>
            <a:endParaRPr lang="en-US" sz="1200" dirty="0"/>
          </a:p>
        </p:txBody>
      </p:sp>
      <p:sp>
        <p:nvSpPr>
          <p:cNvPr id="14" name="Text 42">
            <a:extLst>
              <a:ext uri="{FF2B5EF4-FFF2-40B4-BE49-F238E27FC236}">
                <a16:creationId xmlns:a16="http://schemas.microsoft.com/office/drawing/2014/main" id="{6EF43DC9-DDF0-ED22-2143-2DFFF0605908}"/>
              </a:ext>
            </a:extLst>
          </p:cNvPr>
          <p:cNvSpPr/>
          <p:nvPr/>
        </p:nvSpPr>
        <p:spPr>
          <a:xfrm>
            <a:off x="6092020" y="2487168"/>
            <a:ext cx="2833236" cy="804672"/>
          </a:xfrm>
          <a:prstGeom prst="rect">
            <a:avLst/>
          </a:prstGeom>
          <a:noFill/>
          <a:ln/>
        </p:spPr>
        <p:txBody>
          <a:bodyPr wrap="square" lIns="0" tIns="0" rIns="0" bIns="0" rtlCol="0" anchor="ctr"/>
          <a:lstStyle/>
          <a:p>
            <a:pPr marL="0" indent="0">
              <a:buNone/>
            </a:pPr>
            <a:r>
              <a:rPr lang="en-US" sz="1000" dirty="0">
                <a:solidFill>
                  <a:srgbClr val="E8EDF5"/>
                </a:solidFill>
              </a:rPr>
              <a:t>KDE plots confirm train (2009) and holdout (2010) feature distributions are comparable across all 20 numeric features — no distribution shift detected.</a:t>
            </a:r>
            <a:endParaRPr lang="en-US" sz="1000" dirty="0"/>
          </a:p>
        </p:txBody>
      </p:sp>
    </p:spTree>
    <p:extLst>
      <p:ext uri="{BB962C8B-B14F-4D97-AF65-F5344CB8AC3E}">
        <p14:creationId xmlns:p14="http://schemas.microsoft.com/office/powerpoint/2010/main" val="3689242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XGBoost Model — Tools, Algorithm &amp; Tuning</a:t>
            </a:r>
            <a:endParaRPr lang="en-US" sz="1700" dirty="0"/>
          </a:p>
        </p:txBody>
      </p:sp>
      <p:sp>
        <p:nvSpPr>
          <p:cNvPr id="5" name="Shape 3"/>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00C2E0"/>
          </a:solidFill>
          <a:ln w="12700">
            <a:solidFill>
              <a:srgbClr val="00C2E0"/>
            </a:solidFill>
            <a:prstDash val="solid"/>
          </a:ln>
        </p:spPr>
        <p:txBody>
          <a:bodyPr/>
          <a:lstStyle/>
          <a:p>
            <a:endParaRPr lang="en-US"/>
          </a:p>
        </p:txBody>
      </p:sp>
      <p:sp>
        <p:nvSpPr>
          <p:cNvPr id="13" name="Text 11"/>
          <p:cNvSpPr/>
          <p:nvPr/>
        </p:nvSpPr>
        <p:spPr>
          <a:xfrm>
            <a:off x="402336" y="594360"/>
            <a:ext cx="3657600" cy="256032"/>
          </a:xfrm>
          <a:prstGeom prst="rect">
            <a:avLst/>
          </a:prstGeom>
          <a:noFill/>
          <a:ln/>
        </p:spPr>
        <p:txBody>
          <a:bodyPr wrap="square" lIns="0" tIns="0" rIns="0" bIns="0" rtlCol="0" anchor="ctr"/>
          <a:lstStyle/>
          <a:p>
            <a:pPr marL="0" indent="0">
              <a:buNone/>
            </a:pPr>
            <a:r>
              <a:rPr lang="en-US" sz="1000" b="1" dirty="0">
                <a:solidFill>
                  <a:srgbClr val="00C2E0"/>
                </a:solidFill>
                <a:latin typeface="Trebuchet MS" pitchFamily="34" charset="0"/>
                <a:ea typeface="Trebuchet MS" pitchFamily="34" charset="-122"/>
                <a:cs typeface="Trebuchet MS" pitchFamily="34" charset="-120"/>
              </a:rPr>
              <a:t>MODEL SELECTION RATIONALE</a:t>
            </a:r>
            <a:endParaRPr lang="en-US" sz="1000" dirty="0"/>
          </a:p>
        </p:txBody>
      </p:sp>
      <p:sp>
        <p:nvSpPr>
          <p:cNvPr id="14" name="Shape 12"/>
          <p:cNvSpPr/>
          <p:nvPr/>
        </p:nvSpPr>
        <p:spPr>
          <a:xfrm>
            <a:off x="274320" y="914400"/>
            <a:ext cx="4160520" cy="475488"/>
          </a:xfrm>
          <a:prstGeom prst="rect">
            <a:avLst/>
          </a:prstGeom>
          <a:solidFill>
            <a:srgbClr val="111838"/>
          </a:solidFill>
          <a:ln w="12700">
            <a:solidFill>
              <a:srgbClr val="1E2A5A"/>
            </a:solidFill>
            <a:prstDash val="solid"/>
          </a:ln>
        </p:spPr>
        <p:txBody>
          <a:bodyPr/>
          <a:lstStyle/>
          <a:p>
            <a:endParaRPr lang="en-US"/>
          </a:p>
        </p:txBody>
      </p:sp>
      <p:sp>
        <p:nvSpPr>
          <p:cNvPr id="15" name="Shape 13"/>
          <p:cNvSpPr/>
          <p:nvPr/>
        </p:nvSpPr>
        <p:spPr>
          <a:xfrm>
            <a:off x="274320" y="914400"/>
            <a:ext cx="54864" cy="475488"/>
          </a:xfrm>
          <a:prstGeom prst="rect">
            <a:avLst/>
          </a:prstGeom>
          <a:solidFill>
            <a:srgbClr val="00C2E0"/>
          </a:solidFill>
          <a:ln w="12700">
            <a:solidFill>
              <a:srgbClr val="00C2E0"/>
            </a:solidFill>
            <a:prstDash val="solid"/>
          </a:ln>
        </p:spPr>
        <p:txBody>
          <a:bodyPr/>
          <a:lstStyle/>
          <a:p>
            <a:endParaRPr lang="en-US"/>
          </a:p>
        </p:txBody>
      </p:sp>
      <p:sp>
        <p:nvSpPr>
          <p:cNvPr id="16" name="Text 14"/>
          <p:cNvSpPr/>
          <p:nvPr/>
        </p:nvSpPr>
        <p:spPr>
          <a:xfrm>
            <a:off x="475488" y="969264"/>
            <a:ext cx="3840480" cy="365760"/>
          </a:xfrm>
          <a:prstGeom prst="rect">
            <a:avLst/>
          </a:prstGeom>
          <a:noFill/>
          <a:ln/>
        </p:spPr>
        <p:txBody>
          <a:bodyPr wrap="square" lIns="0" tIns="0" rIns="0" bIns="0" rtlCol="0" anchor="ctr"/>
          <a:lstStyle/>
          <a:p>
            <a:pPr marL="0" indent="0">
              <a:buNone/>
            </a:pPr>
            <a:r>
              <a:rPr lang="en-US" sz="950" dirty="0">
                <a:solidFill>
                  <a:srgbClr val="E8EDF5"/>
                </a:solidFill>
              </a:rPr>
              <a:t>Handles missing values natively — critical for 36% Sunshine missingness</a:t>
            </a:r>
            <a:endParaRPr lang="en-US" sz="950" dirty="0"/>
          </a:p>
        </p:txBody>
      </p:sp>
      <p:sp>
        <p:nvSpPr>
          <p:cNvPr id="17" name="Shape 15"/>
          <p:cNvSpPr/>
          <p:nvPr/>
        </p:nvSpPr>
        <p:spPr>
          <a:xfrm>
            <a:off x="274320" y="1481328"/>
            <a:ext cx="4160520" cy="475488"/>
          </a:xfrm>
          <a:prstGeom prst="rect">
            <a:avLst/>
          </a:prstGeom>
          <a:solidFill>
            <a:srgbClr val="111838"/>
          </a:solidFill>
          <a:ln w="12700">
            <a:solidFill>
              <a:srgbClr val="1E2A5A"/>
            </a:solidFill>
            <a:prstDash val="solid"/>
          </a:ln>
        </p:spPr>
        <p:txBody>
          <a:bodyPr/>
          <a:lstStyle/>
          <a:p>
            <a:endParaRPr lang="en-US"/>
          </a:p>
        </p:txBody>
      </p:sp>
      <p:sp>
        <p:nvSpPr>
          <p:cNvPr id="18" name="Shape 16"/>
          <p:cNvSpPr/>
          <p:nvPr/>
        </p:nvSpPr>
        <p:spPr>
          <a:xfrm>
            <a:off x="274320" y="1481328"/>
            <a:ext cx="54864" cy="475488"/>
          </a:xfrm>
          <a:prstGeom prst="rect">
            <a:avLst/>
          </a:prstGeom>
          <a:solidFill>
            <a:srgbClr val="00C2E0"/>
          </a:solidFill>
          <a:ln w="12700">
            <a:solidFill>
              <a:srgbClr val="00C2E0"/>
            </a:solidFill>
            <a:prstDash val="solid"/>
          </a:ln>
        </p:spPr>
        <p:txBody>
          <a:bodyPr/>
          <a:lstStyle/>
          <a:p>
            <a:endParaRPr lang="en-US"/>
          </a:p>
        </p:txBody>
      </p:sp>
      <p:sp>
        <p:nvSpPr>
          <p:cNvPr id="19" name="Text 17"/>
          <p:cNvSpPr/>
          <p:nvPr/>
        </p:nvSpPr>
        <p:spPr>
          <a:xfrm>
            <a:off x="475488" y="1536192"/>
            <a:ext cx="3840480" cy="365760"/>
          </a:xfrm>
          <a:prstGeom prst="rect">
            <a:avLst/>
          </a:prstGeom>
          <a:noFill/>
          <a:ln/>
        </p:spPr>
        <p:txBody>
          <a:bodyPr wrap="square" lIns="0" tIns="0" rIns="0" bIns="0" rtlCol="0" anchor="ctr"/>
          <a:lstStyle/>
          <a:p>
            <a:pPr marL="0" indent="0">
              <a:buNone/>
            </a:pPr>
            <a:r>
              <a:rPr lang="en-US" sz="950" dirty="0">
                <a:solidFill>
                  <a:srgbClr val="E8EDF5"/>
                </a:solidFill>
              </a:rPr>
              <a:t>Robust to correlated features (weather variables are highly correlated)</a:t>
            </a:r>
            <a:endParaRPr lang="en-US" sz="950" dirty="0"/>
          </a:p>
        </p:txBody>
      </p:sp>
      <p:sp>
        <p:nvSpPr>
          <p:cNvPr id="20" name="Shape 18"/>
          <p:cNvSpPr/>
          <p:nvPr/>
        </p:nvSpPr>
        <p:spPr>
          <a:xfrm>
            <a:off x="274320" y="2048256"/>
            <a:ext cx="4160520" cy="475488"/>
          </a:xfrm>
          <a:prstGeom prst="rect">
            <a:avLst/>
          </a:prstGeom>
          <a:solidFill>
            <a:srgbClr val="111838"/>
          </a:solidFill>
          <a:ln w="12700">
            <a:solidFill>
              <a:srgbClr val="1E2A5A"/>
            </a:solidFill>
            <a:prstDash val="solid"/>
          </a:ln>
        </p:spPr>
        <p:txBody>
          <a:bodyPr/>
          <a:lstStyle/>
          <a:p>
            <a:endParaRPr lang="en-US"/>
          </a:p>
        </p:txBody>
      </p:sp>
      <p:sp>
        <p:nvSpPr>
          <p:cNvPr id="21" name="Shape 19"/>
          <p:cNvSpPr/>
          <p:nvPr/>
        </p:nvSpPr>
        <p:spPr>
          <a:xfrm>
            <a:off x="274320" y="2048256"/>
            <a:ext cx="54864" cy="475488"/>
          </a:xfrm>
          <a:prstGeom prst="rect">
            <a:avLst/>
          </a:prstGeom>
          <a:solidFill>
            <a:srgbClr val="00C2E0"/>
          </a:solidFill>
          <a:ln w="12700">
            <a:solidFill>
              <a:srgbClr val="00C2E0"/>
            </a:solidFill>
            <a:prstDash val="solid"/>
          </a:ln>
        </p:spPr>
        <p:txBody>
          <a:bodyPr/>
          <a:lstStyle/>
          <a:p>
            <a:endParaRPr lang="en-US"/>
          </a:p>
        </p:txBody>
      </p:sp>
      <p:sp>
        <p:nvSpPr>
          <p:cNvPr id="22" name="Text 20"/>
          <p:cNvSpPr/>
          <p:nvPr/>
        </p:nvSpPr>
        <p:spPr>
          <a:xfrm>
            <a:off x="475488" y="2103120"/>
            <a:ext cx="3840480" cy="365760"/>
          </a:xfrm>
          <a:prstGeom prst="rect">
            <a:avLst/>
          </a:prstGeom>
          <a:noFill/>
          <a:ln/>
        </p:spPr>
        <p:txBody>
          <a:bodyPr wrap="square" lIns="0" tIns="0" rIns="0" bIns="0" rtlCol="0" anchor="ctr"/>
          <a:lstStyle/>
          <a:p>
            <a:pPr marL="0" indent="0">
              <a:buNone/>
            </a:pPr>
            <a:r>
              <a:rPr lang="en-US" sz="950" dirty="0">
                <a:solidFill>
                  <a:srgbClr val="E8EDF5"/>
                </a:solidFill>
              </a:rPr>
              <a:t>Fast training with interpretable feature importances</a:t>
            </a:r>
            <a:endParaRPr lang="en-US" sz="950" dirty="0"/>
          </a:p>
        </p:txBody>
      </p:sp>
      <p:sp>
        <p:nvSpPr>
          <p:cNvPr id="23" name="Shape 21"/>
          <p:cNvSpPr/>
          <p:nvPr/>
        </p:nvSpPr>
        <p:spPr>
          <a:xfrm>
            <a:off x="274320" y="2615184"/>
            <a:ext cx="4160520" cy="475488"/>
          </a:xfrm>
          <a:prstGeom prst="rect">
            <a:avLst/>
          </a:prstGeom>
          <a:solidFill>
            <a:srgbClr val="111838"/>
          </a:solidFill>
          <a:ln w="12700">
            <a:solidFill>
              <a:srgbClr val="1E2A5A"/>
            </a:solidFill>
            <a:prstDash val="solid"/>
          </a:ln>
        </p:spPr>
        <p:txBody>
          <a:bodyPr/>
          <a:lstStyle/>
          <a:p>
            <a:endParaRPr lang="en-US"/>
          </a:p>
        </p:txBody>
      </p:sp>
      <p:sp>
        <p:nvSpPr>
          <p:cNvPr id="24" name="Shape 22"/>
          <p:cNvSpPr/>
          <p:nvPr/>
        </p:nvSpPr>
        <p:spPr>
          <a:xfrm>
            <a:off x="274320" y="2615184"/>
            <a:ext cx="54864" cy="475488"/>
          </a:xfrm>
          <a:prstGeom prst="rect">
            <a:avLst/>
          </a:prstGeom>
          <a:solidFill>
            <a:srgbClr val="00C2E0"/>
          </a:solidFill>
          <a:ln w="12700">
            <a:solidFill>
              <a:srgbClr val="00C2E0"/>
            </a:solidFill>
            <a:prstDash val="solid"/>
          </a:ln>
        </p:spPr>
        <p:txBody>
          <a:bodyPr/>
          <a:lstStyle/>
          <a:p>
            <a:endParaRPr lang="en-US"/>
          </a:p>
        </p:txBody>
      </p:sp>
      <p:sp>
        <p:nvSpPr>
          <p:cNvPr id="25" name="Text 23"/>
          <p:cNvSpPr/>
          <p:nvPr/>
        </p:nvSpPr>
        <p:spPr>
          <a:xfrm>
            <a:off x="475488" y="2670048"/>
            <a:ext cx="3840480" cy="365760"/>
          </a:xfrm>
          <a:prstGeom prst="rect">
            <a:avLst/>
          </a:prstGeom>
          <a:noFill/>
          <a:ln/>
        </p:spPr>
        <p:txBody>
          <a:bodyPr wrap="square" lIns="0" tIns="0" rIns="0" bIns="0" rtlCol="0" anchor="ctr"/>
          <a:lstStyle/>
          <a:p>
            <a:pPr marL="0" indent="0">
              <a:buNone/>
            </a:pPr>
            <a:r>
              <a:rPr lang="en-US" sz="950" dirty="0">
                <a:solidFill>
                  <a:srgbClr val="E8EDF5"/>
                </a:solidFill>
              </a:rPr>
              <a:t>Strong tabular regression baseline without feature scaling</a:t>
            </a:r>
            <a:endParaRPr lang="en-US" sz="950" dirty="0"/>
          </a:p>
        </p:txBody>
      </p:sp>
      <p:sp>
        <p:nvSpPr>
          <p:cNvPr id="48" name="Shape 46"/>
          <p:cNvSpPr/>
          <p:nvPr/>
        </p:nvSpPr>
        <p:spPr>
          <a:xfrm>
            <a:off x="4709160" y="594360"/>
            <a:ext cx="54864" cy="256032"/>
          </a:xfrm>
          <a:prstGeom prst="rect">
            <a:avLst/>
          </a:prstGeom>
          <a:solidFill>
            <a:srgbClr val="7C3AED"/>
          </a:solidFill>
          <a:ln w="12700">
            <a:solidFill>
              <a:srgbClr val="7C3AED"/>
            </a:solidFill>
            <a:prstDash val="solid"/>
          </a:ln>
        </p:spPr>
        <p:txBody>
          <a:bodyPr/>
          <a:lstStyle/>
          <a:p>
            <a:endParaRPr lang="en-US"/>
          </a:p>
        </p:txBody>
      </p:sp>
      <p:sp>
        <p:nvSpPr>
          <p:cNvPr id="49" name="Text 47"/>
          <p:cNvSpPr/>
          <p:nvPr/>
        </p:nvSpPr>
        <p:spPr>
          <a:xfrm>
            <a:off x="4837176" y="594360"/>
            <a:ext cx="3657600" cy="256032"/>
          </a:xfrm>
          <a:prstGeom prst="rect">
            <a:avLst/>
          </a:prstGeom>
          <a:noFill/>
          <a:ln/>
        </p:spPr>
        <p:txBody>
          <a:bodyPr wrap="square" lIns="0" tIns="0" rIns="0" bIns="0" rtlCol="0" anchor="ctr"/>
          <a:lstStyle/>
          <a:p>
            <a:pPr marL="0" indent="0">
              <a:buNone/>
            </a:pPr>
            <a:r>
              <a:rPr lang="en-US" sz="1000" b="1" dirty="0">
                <a:solidFill>
                  <a:srgbClr val="7C3AED"/>
                </a:solidFill>
                <a:latin typeface="Trebuchet MS" pitchFamily="34" charset="0"/>
                <a:ea typeface="Trebuchet MS" pitchFamily="34" charset="-122"/>
                <a:cs typeface="Trebuchet MS" pitchFamily="34" charset="-120"/>
              </a:rPr>
              <a:t>BASELINE  →  OPTUNA TUNED</a:t>
            </a:r>
            <a:endParaRPr lang="en-US" sz="1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709160" y="914400"/>
          <a:ext cx="4069080" cy="1485900"/>
        </p:xfrm>
        <a:graphic>
          <a:graphicData uri="http://schemas.openxmlformats.org/drawingml/2006/table">
            <a:tbl>
              <a:tblPr/>
              <a:tblGrid>
                <a:gridCol w="19202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0">
                <a:tc>
                  <a:txBody>
                    <a:bodyPr/>
                    <a:lstStyle/>
                    <a:p>
                      <a:pPr marL="0" indent="0" algn="l">
                        <a:buNone/>
                      </a:pPr>
                      <a:r>
                        <a:rPr lang="en-US" sz="850" b="1" dirty="0">
                          <a:solidFill>
                            <a:srgbClr val="FFFFFF"/>
                          </a:solidFill>
                        </a:rPr>
                        <a:t>Parameter</a:t>
                      </a:r>
                      <a:endParaRPr lang="en-US" sz="8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850" b="1" dirty="0">
                          <a:solidFill>
                            <a:srgbClr val="FFFFFF"/>
                          </a:solidFill>
                        </a:rPr>
                        <a:t>Baseline</a:t>
                      </a:r>
                      <a:endParaRPr lang="en-US" sz="8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850" b="1" dirty="0">
                          <a:solidFill>
                            <a:srgbClr val="FFFFFF"/>
                          </a:solidFill>
                        </a:rPr>
                        <a:t>Optuna Tuned</a:t>
                      </a:r>
                      <a:endParaRPr lang="en-US" sz="8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extLst>
                  <a:ext uri="{0D108BD9-81ED-4DB2-BD59-A6C34878D82A}">
                    <a16:rowId xmlns:a16="http://schemas.microsoft.com/office/drawing/2014/main" val="10000"/>
                  </a:ext>
                </a:extLst>
              </a:tr>
              <a:tr h="0">
                <a:tc>
                  <a:txBody>
                    <a:bodyPr/>
                    <a:lstStyle/>
                    <a:p>
                      <a:pPr marL="0" indent="0" algn="l">
                        <a:buNone/>
                      </a:pPr>
                      <a:r>
                        <a:rPr lang="en-US" sz="900" dirty="0">
                          <a:solidFill>
                            <a:srgbClr val="E8EDF5"/>
                          </a:solidFill>
                        </a:rPr>
                        <a:t>n_estimators</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900" dirty="0">
                          <a:solidFill>
                            <a:srgbClr val="E8EDF5"/>
                          </a:solidFill>
                        </a:rPr>
                        <a:t>500</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900" b="1" dirty="0">
                          <a:solidFill>
                            <a:srgbClr val="00C2E0"/>
                          </a:solidFill>
                        </a:rPr>
                        <a:t>949</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1"/>
                  </a:ext>
                </a:extLst>
              </a:tr>
              <a:tr h="0">
                <a:tc>
                  <a:txBody>
                    <a:bodyPr/>
                    <a:lstStyle/>
                    <a:p>
                      <a:pPr marL="0" indent="0" algn="l">
                        <a:buNone/>
                      </a:pPr>
                      <a:r>
                        <a:rPr lang="en-US" sz="900" dirty="0">
                          <a:solidFill>
                            <a:srgbClr val="E8EDF5"/>
                          </a:solidFill>
                        </a:rPr>
                        <a:t>max_depth</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900" dirty="0">
                          <a:solidFill>
                            <a:srgbClr val="E8EDF5"/>
                          </a:solidFill>
                        </a:rPr>
                        <a:t>6</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900" b="1" dirty="0">
                          <a:solidFill>
                            <a:srgbClr val="00C2E0"/>
                          </a:solidFill>
                        </a:rPr>
                        <a:t>10</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2"/>
                  </a:ext>
                </a:extLst>
              </a:tr>
              <a:tr h="0">
                <a:tc>
                  <a:txBody>
                    <a:bodyPr/>
                    <a:lstStyle/>
                    <a:p>
                      <a:pPr marL="0" indent="0" algn="l">
                        <a:buNone/>
                      </a:pPr>
                      <a:r>
                        <a:rPr lang="en-US" sz="900" dirty="0">
                          <a:solidFill>
                            <a:srgbClr val="E8EDF5"/>
                          </a:solidFill>
                        </a:rPr>
                        <a:t>learning_rate</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900" dirty="0">
                          <a:solidFill>
                            <a:srgbClr val="E8EDF5"/>
                          </a:solidFill>
                        </a:rPr>
                        <a:t>0.05</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900" b="1" dirty="0">
                          <a:solidFill>
                            <a:srgbClr val="00C2E0"/>
                          </a:solidFill>
                        </a:rPr>
                        <a:t>0.0196</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3"/>
                  </a:ext>
                </a:extLst>
              </a:tr>
              <a:tr h="0">
                <a:tc>
                  <a:txBody>
                    <a:bodyPr/>
                    <a:lstStyle/>
                    <a:p>
                      <a:pPr marL="0" indent="0" algn="l">
                        <a:buNone/>
                      </a:pPr>
                      <a:r>
                        <a:rPr lang="en-US" sz="900" dirty="0">
                          <a:solidFill>
                            <a:srgbClr val="E8EDF5"/>
                          </a:solidFill>
                        </a:rPr>
                        <a:t>subsample</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900" dirty="0">
                          <a:solidFill>
                            <a:srgbClr val="E8EDF5"/>
                          </a:solidFill>
                        </a:rPr>
                        <a:t>0.8</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900" b="1" dirty="0">
                          <a:solidFill>
                            <a:srgbClr val="00C2E0"/>
                          </a:solidFill>
                        </a:rPr>
                        <a:t>0.85</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4"/>
                  </a:ext>
                </a:extLst>
              </a:tr>
              <a:tr h="0">
                <a:tc>
                  <a:txBody>
                    <a:bodyPr/>
                    <a:lstStyle/>
                    <a:p>
                      <a:pPr marL="0" indent="0" algn="l">
                        <a:buNone/>
                      </a:pPr>
                      <a:r>
                        <a:rPr lang="en-US" sz="900" dirty="0">
                          <a:solidFill>
                            <a:srgbClr val="E8EDF5"/>
                          </a:solidFill>
                        </a:rPr>
                        <a:t>colsample_bytree</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900" dirty="0">
                          <a:solidFill>
                            <a:srgbClr val="E8EDF5"/>
                          </a:solidFill>
                        </a:rPr>
                        <a:t>0.8</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900" b="1" dirty="0">
                          <a:solidFill>
                            <a:srgbClr val="00C2E0"/>
                          </a:solidFill>
                        </a:rPr>
                        <a:t>0.77</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5"/>
                  </a:ext>
                </a:extLst>
              </a:tr>
              <a:tr h="0">
                <a:tc>
                  <a:txBody>
                    <a:bodyPr/>
                    <a:lstStyle/>
                    <a:p>
                      <a:pPr marL="0" indent="0" algn="l">
                        <a:buNone/>
                      </a:pPr>
                      <a:r>
                        <a:rPr lang="en-US" sz="900" dirty="0">
                          <a:solidFill>
                            <a:srgbClr val="E8EDF5"/>
                          </a:solidFill>
                        </a:rPr>
                        <a:t>min_child_weight</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900" dirty="0">
                          <a:solidFill>
                            <a:srgbClr val="E8EDF5"/>
                          </a:solidFill>
                        </a:rPr>
                        <a:t>—</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900" b="1" dirty="0">
                          <a:solidFill>
                            <a:srgbClr val="00C2E0"/>
                          </a:solidFill>
                        </a:rPr>
                        <a:t>9</a:t>
                      </a:r>
                      <a:endParaRPr lang="en-US" sz="9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6"/>
                  </a:ext>
                </a:extLst>
              </a:tr>
            </a:tbl>
          </a:graphicData>
        </a:graphic>
      </p:graphicFrame>
      <p:sp>
        <p:nvSpPr>
          <p:cNvPr id="51" name="Shape 48"/>
          <p:cNvSpPr/>
          <p:nvPr/>
        </p:nvSpPr>
        <p:spPr>
          <a:xfrm>
            <a:off x="4709160" y="2962656"/>
            <a:ext cx="54864" cy="256032"/>
          </a:xfrm>
          <a:prstGeom prst="rect">
            <a:avLst/>
          </a:prstGeom>
          <a:solidFill>
            <a:srgbClr val="F59E0B"/>
          </a:solidFill>
          <a:ln w="12700">
            <a:solidFill>
              <a:srgbClr val="F59E0B"/>
            </a:solidFill>
            <a:prstDash val="solid"/>
          </a:ln>
        </p:spPr>
        <p:txBody>
          <a:bodyPr/>
          <a:lstStyle/>
          <a:p>
            <a:endParaRPr lang="en-US"/>
          </a:p>
        </p:txBody>
      </p:sp>
      <p:sp>
        <p:nvSpPr>
          <p:cNvPr id="52" name="Text 49"/>
          <p:cNvSpPr/>
          <p:nvPr/>
        </p:nvSpPr>
        <p:spPr>
          <a:xfrm>
            <a:off x="4837176" y="2962656"/>
            <a:ext cx="3657600" cy="256032"/>
          </a:xfrm>
          <a:prstGeom prst="rect">
            <a:avLst/>
          </a:prstGeom>
          <a:noFill/>
          <a:ln/>
        </p:spPr>
        <p:txBody>
          <a:bodyPr wrap="square" lIns="0" tIns="0" rIns="0" bIns="0" rtlCol="0" anchor="ctr"/>
          <a:lstStyle/>
          <a:p>
            <a:pPr marL="0" indent="0">
              <a:buNone/>
            </a:pPr>
            <a:r>
              <a:rPr lang="en-US" sz="1000" b="1" dirty="0">
                <a:solidFill>
                  <a:srgbClr val="F59E0B"/>
                </a:solidFill>
                <a:latin typeface="Trebuchet MS" pitchFamily="34" charset="0"/>
                <a:ea typeface="Trebuchet MS" pitchFamily="34" charset="-122"/>
                <a:cs typeface="Trebuchet MS" pitchFamily="34" charset="-120"/>
              </a:rPr>
              <a:t>YIELD FORMULA</a:t>
            </a:r>
            <a:endParaRPr lang="en-US" sz="1000" dirty="0"/>
          </a:p>
        </p:txBody>
      </p:sp>
      <p:sp>
        <p:nvSpPr>
          <p:cNvPr id="53" name="Shape 50"/>
          <p:cNvSpPr/>
          <p:nvPr/>
        </p:nvSpPr>
        <p:spPr>
          <a:xfrm>
            <a:off x="4709160" y="3273552"/>
            <a:ext cx="4160520" cy="1188720"/>
          </a:xfrm>
          <a:prstGeom prst="rect">
            <a:avLst/>
          </a:prstGeom>
          <a:solidFill>
            <a:srgbClr val="161E45"/>
          </a:solidFill>
          <a:ln w="12700">
            <a:solidFill>
              <a:srgbClr val="1E2A5A"/>
            </a:solidFill>
            <a:prstDash val="solid"/>
          </a:ln>
        </p:spPr>
        <p:txBody>
          <a:bodyPr/>
          <a:lstStyle/>
          <a:p>
            <a:endParaRPr lang="en-US"/>
          </a:p>
        </p:txBody>
      </p:sp>
      <p:sp>
        <p:nvSpPr>
          <p:cNvPr id="54" name="Shape 51"/>
          <p:cNvSpPr/>
          <p:nvPr/>
        </p:nvSpPr>
        <p:spPr>
          <a:xfrm>
            <a:off x="4709160" y="3273552"/>
            <a:ext cx="54864" cy="1188720"/>
          </a:xfrm>
          <a:prstGeom prst="rect">
            <a:avLst/>
          </a:prstGeom>
          <a:solidFill>
            <a:srgbClr val="F59E0B"/>
          </a:solidFill>
          <a:ln w="12700">
            <a:solidFill>
              <a:srgbClr val="F59E0B"/>
            </a:solidFill>
            <a:prstDash val="solid"/>
          </a:ln>
        </p:spPr>
        <p:txBody>
          <a:bodyPr/>
          <a:lstStyle/>
          <a:p>
            <a:endParaRPr lang="en-US"/>
          </a:p>
        </p:txBody>
      </p:sp>
      <p:sp>
        <p:nvSpPr>
          <p:cNvPr id="55" name="Text 52"/>
          <p:cNvSpPr/>
          <p:nvPr/>
        </p:nvSpPr>
        <p:spPr>
          <a:xfrm>
            <a:off x="4910328" y="3346704"/>
            <a:ext cx="3840480" cy="822960"/>
          </a:xfrm>
          <a:prstGeom prst="rect">
            <a:avLst/>
          </a:prstGeom>
          <a:noFill/>
          <a:ln/>
        </p:spPr>
        <p:txBody>
          <a:bodyPr wrap="square" lIns="0" tIns="0" rIns="0" bIns="0" rtlCol="0" anchor="ctr"/>
          <a:lstStyle/>
          <a:p>
            <a:pPr marL="0" indent="0">
              <a:buNone/>
            </a:pPr>
            <a:r>
              <a:rPr lang="en-US" sz="950" dirty="0">
                <a:solidFill>
                  <a:srgbClr val="E8EDF5"/>
                </a:solidFill>
                <a:latin typeface="Courier New" pitchFamily="34" charset="0"/>
                <a:ea typeface="Courier New" pitchFamily="34" charset="-122"/>
                <a:cs typeface="Courier New" pitchFamily="34" charset="-120"/>
              </a:rPr>
              <a:t>Panel area (m²)  =  </a:t>
            </a:r>
            <a:r>
              <a:rPr lang="en-US" sz="950" b="1" dirty="0">
                <a:solidFill>
                  <a:srgbClr val="E8EDF5"/>
                </a:solidFill>
                <a:latin typeface="Courier New" pitchFamily="34" charset="0"/>
                <a:ea typeface="Courier New" pitchFamily="34" charset="-122"/>
                <a:cs typeface="Courier New" pitchFamily="34" charset="-120"/>
              </a:rPr>
              <a:t>farm_area_ha </a:t>
            </a:r>
            <a:r>
              <a:rPr lang="en-US" sz="950" dirty="0">
                <a:solidFill>
                  <a:srgbClr val="E8EDF5"/>
                </a:solidFill>
                <a:latin typeface="Courier New" pitchFamily="34" charset="0"/>
                <a:ea typeface="Courier New" pitchFamily="34" charset="-122"/>
                <a:cs typeface="Courier New" pitchFamily="34" charset="-120"/>
              </a:rPr>
              <a:t>× 10,000 × GCR</a:t>
            </a:r>
            <a:endParaRPr lang="en-US" sz="950" dirty="0"/>
          </a:p>
          <a:p>
            <a:pPr marL="0" indent="0">
              <a:buNone/>
            </a:pPr>
            <a:r>
              <a:rPr lang="en-US" sz="950" dirty="0">
                <a:solidFill>
                  <a:srgbClr val="E8EDF5"/>
                </a:solidFill>
                <a:latin typeface="Courier New" pitchFamily="34" charset="0"/>
                <a:ea typeface="Courier New" pitchFamily="34" charset="-122"/>
                <a:cs typeface="Courier New" pitchFamily="34" charset="-120"/>
              </a:rPr>
              <a:t>Installed kWp      =  Panel area × panel_efficiency</a:t>
            </a:r>
            <a:endParaRPr lang="en-US" sz="950" dirty="0"/>
          </a:p>
          <a:p>
            <a:pPr marL="0" indent="0">
              <a:buNone/>
            </a:pPr>
            <a:r>
              <a:rPr lang="en-US" sz="950" dirty="0">
                <a:solidFill>
                  <a:srgbClr val="E8EDF5"/>
                </a:solidFill>
                <a:latin typeface="Courier New" pitchFamily="34" charset="0"/>
                <a:ea typeface="Courier New" pitchFamily="34" charset="-122"/>
                <a:cs typeface="Courier New" pitchFamily="34" charset="-120"/>
              </a:rPr>
              <a:t>Daily yield (kWh)  =  Installed kWp × </a:t>
            </a:r>
            <a:r>
              <a:rPr lang="en-US" sz="950" b="1" dirty="0">
                <a:solidFill>
                  <a:srgbClr val="E8EDF5"/>
                </a:solidFill>
                <a:latin typeface="Courier New" pitchFamily="34" charset="0"/>
                <a:ea typeface="Courier New" pitchFamily="34" charset="-122"/>
                <a:cs typeface="Courier New" pitchFamily="34" charset="-120"/>
              </a:rPr>
              <a:t>PVOUT</a:t>
            </a:r>
            <a:endParaRPr lang="en-US" sz="950" b="1" dirty="0"/>
          </a:p>
        </p:txBody>
      </p:sp>
      <p:sp>
        <p:nvSpPr>
          <p:cNvPr id="56" name="Text 53"/>
          <p:cNvSpPr/>
          <p:nvPr/>
        </p:nvSpPr>
        <p:spPr>
          <a:xfrm>
            <a:off x="4910328" y="4206240"/>
            <a:ext cx="3840480" cy="219456"/>
          </a:xfrm>
          <a:prstGeom prst="rect">
            <a:avLst/>
          </a:prstGeom>
          <a:noFill/>
          <a:ln/>
        </p:spPr>
        <p:txBody>
          <a:bodyPr wrap="square" lIns="0" tIns="0" rIns="0" bIns="0" rtlCol="0" anchor="ctr"/>
          <a:lstStyle/>
          <a:p>
            <a:pPr marL="0" indent="0">
              <a:buNone/>
            </a:pPr>
            <a:r>
              <a:rPr lang="en-US" sz="1000" b="1" dirty="0">
                <a:solidFill>
                  <a:srgbClr val="8A99C0"/>
                </a:solidFill>
              </a:rPr>
              <a:t>Defaults: GCR = 0.35  ·  Panel efficiency = 18%</a:t>
            </a:r>
            <a:endParaRPr lang="en-US" sz="1000" b="1" dirty="0"/>
          </a:p>
        </p:txBody>
      </p:sp>
      <p:pic>
        <p:nvPicPr>
          <p:cNvPr id="108" name="Picture 107">
            <a:extLst>
              <a:ext uri="{FF2B5EF4-FFF2-40B4-BE49-F238E27FC236}">
                <a16:creationId xmlns:a16="http://schemas.microsoft.com/office/drawing/2014/main" id="{E6FB39CF-5ECB-C706-4437-FDBC49687B63}"/>
              </a:ext>
            </a:extLst>
          </p:cNvPr>
          <p:cNvPicPr>
            <a:picLocks noChangeAspect="1"/>
          </p:cNvPicPr>
          <p:nvPr/>
        </p:nvPicPr>
        <p:blipFill>
          <a:blip r:embed="rId3"/>
          <a:stretch>
            <a:fillRect/>
          </a:stretch>
        </p:blipFill>
        <p:spPr>
          <a:xfrm>
            <a:off x="808228" y="3468116"/>
            <a:ext cx="3175000" cy="1092200"/>
          </a:xfrm>
          <a:prstGeom prst="rect">
            <a:avLst/>
          </a:prstGeom>
        </p:spPr>
      </p:pic>
      <p:sp>
        <p:nvSpPr>
          <p:cNvPr id="7" name="Text 12">
            <a:extLst>
              <a:ext uri="{FF2B5EF4-FFF2-40B4-BE49-F238E27FC236}">
                <a16:creationId xmlns:a16="http://schemas.microsoft.com/office/drawing/2014/main" id="{E10E6FEE-668E-A38B-BD1B-258E1FD73A14}"/>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Results and Discussion</a:t>
            </a:r>
            <a:endParaRPr lang="en-US" sz="1700" dirty="0"/>
          </a:p>
        </p:txBody>
      </p:sp>
      <p:sp>
        <p:nvSpPr>
          <p:cNvPr id="5" name="Shape 3"/>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621792"/>
            <a:ext cx="2651760" cy="1170432"/>
          </a:xfrm>
          <a:prstGeom prst="rect">
            <a:avLst/>
          </a:prstGeom>
          <a:solidFill>
            <a:srgbClr val="161E45"/>
          </a:solidFill>
          <a:ln w="12700">
            <a:solidFill>
              <a:srgbClr val="1E2A5A"/>
            </a:solidFill>
            <a:prstDash val="solid"/>
          </a:ln>
        </p:spPr>
        <p:txBody>
          <a:bodyPr/>
          <a:lstStyle/>
          <a:p>
            <a:endParaRPr lang="en-US"/>
          </a:p>
        </p:txBody>
      </p:sp>
      <p:sp>
        <p:nvSpPr>
          <p:cNvPr id="13" name="Shape 11"/>
          <p:cNvSpPr/>
          <p:nvPr/>
        </p:nvSpPr>
        <p:spPr>
          <a:xfrm>
            <a:off x="274320" y="621792"/>
            <a:ext cx="54864" cy="1170432"/>
          </a:xfrm>
          <a:prstGeom prst="rect">
            <a:avLst/>
          </a:prstGeom>
          <a:solidFill>
            <a:srgbClr val="00C2E0"/>
          </a:solidFill>
          <a:ln w="12700">
            <a:solidFill>
              <a:srgbClr val="00C2E0"/>
            </a:solidFill>
            <a:prstDash val="solid"/>
          </a:ln>
        </p:spPr>
        <p:txBody>
          <a:bodyPr/>
          <a:lstStyle/>
          <a:p>
            <a:endParaRPr lang="en-US"/>
          </a:p>
        </p:txBody>
      </p:sp>
      <p:sp>
        <p:nvSpPr>
          <p:cNvPr id="14" name="Text 12"/>
          <p:cNvSpPr/>
          <p:nvPr/>
        </p:nvSpPr>
        <p:spPr>
          <a:xfrm>
            <a:off x="475488" y="676656"/>
            <a:ext cx="2286000" cy="256032"/>
          </a:xfrm>
          <a:prstGeom prst="rect">
            <a:avLst/>
          </a:prstGeom>
          <a:noFill/>
          <a:ln/>
        </p:spPr>
        <p:txBody>
          <a:bodyPr wrap="square" lIns="0" tIns="0" rIns="0" bIns="0" rtlCol="0" anchor="ctr"/>
          <a:lstStyle/>
          <a:p>
            <a:pPr marL="0" indent="0">
              <a:buNone/>
            </a:pPr>
            <a:r>
              <a:rPr lang="en-US" sz="1100" b="1" dirty="0">
                <a:solidFill>
                  <a:srgbClr val="00C2E0"/>
                </a:solidFill>
              </a:rPr>
              <a:t>R²</a:t>
            </a:r>
            <a:endParaRPr lang="en-US" sz="1100" dirty="0"/>
          </a:p>
        </p:txBody>
      </p:sp>
      <p:sp>
        <p:nvSpPr>
          <p:cNvPr id="15" name="Text 13"/>
          <p:cNvSpPr/>
          <p:nvPr/>
        </p:nvSpPr>
        <p:spPr>
          <a:xfrm>
            <a:off x="475488" y="914400"/>
            <a:ext cx="2286000" cy="475488"/>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0.726</a:t>
            </a:r>
            <a:endParaRPr lang="en-US" sz="3400" dirty="0"/>
          </a:p>
        </p:txBody>
      </p:sp>
      <p:sp>
        <p:nvSpPr>
          <p:cNvPr id="16" name="Text 14"/>
          <p:cNvSpPr/>
          <p:nvPr/>
        </p:nvSpPr>
        <p:spPr>
          <a:xfrm>
            <a:off x="475488" y="1417320"/>
            <a:ext cx="2286000" cy="237744"/>
          </a:xfrm>
          <a:prstGeom prst="rect">
            <a:avLst/>
          </a:prstGeom>
          <a:noFill/>
          <a:ln/>
        </p:spPr>
        <p:txBody>
          <a:bodyPr wrap="square" lIns="0" tIns="0" rIns="0" bIns="0" rtlCol="0" anchor="ctr"/>
          <a:lstStyle/>
          <a:p>
            <a:pPr marL="0" indent="0">
              <a:buNone/>
            </a:pPr>
            <a:r>
              <a:rPr lang="en-US" sz="850" dirty="0">
                <a:solidFill>
                  <a:srgbClr val="8A99C0"/>
                </a:solidFill>
              </a:rPr>
              <a:t>Holdout (2010)</a:t>
            </a:r>
            <a:endParaRPr lang="en-US" sz="850" dirty="0"/>
          </a:p>
        </p:txBody>
      </p:sp>
      <p:sp>
        <p:nvSpPr>
          <p:cNvPr id="17" name="Shape 15"/>
          <p:cNvSpPr/>
          <p:nvPr/>
        </p:nvSpPr>
        <p:spPr>
          <a:xfrm>
            <a:off x="3108960" y="621792"/>
            <a:ext cx="2651760" cy="1170432"/>
          </a:xfrm>
          <a:prstGeom prst="rect">
            <a:avLst/>
          </a:prstGeom>
          <a:solidFill>
            <a:srgbClr val="161E45"/>
          </a:solidFill>
          <a:ln w="12700">
            <a:solidFill>
              <a:srgbClr val="1E2A5A"/>
            </a:solidFill>
            <a:prstDash val="solid"/>
          </a:ln>
        </p:spPr>
        <p:txBody>
          <a:bodyPr/>
          <a:lstStyle/>
          <a:p>
            <a:endParaRPr lang="en-US"/>
          </a:p>
        </p:txBody>
      </p:sp>
      <p:sp>
        <p:nvSpPr>
          <p:cNvPr id="18" name="Shape 16"/>
          <p:cNvSpPr/>
          <p:nvPr/>
        </p:nvSpPr>
        <p:spPr>
          <a:xfrm>
            <a:off x="3108960" y="621792"/>
            <a:ext cx="54864" cy="1170432"/>
          </a:xfrm>
          <a:prstGeom prst="rect">
            <a:avLst/>
          </a:prstGeom>
          <a:solidFill>
            <a:srgbClr val="F59E0B"/>
          </a:solidFill>
          <a:ln w="12700">
            <a:solidFill>
              <a:srgbClr val="F59E0B"/>
            </a:solidFill>
            <a:prstDash val="solid"/>
          </a:ln>
        </p:spPr>
        <p:txBody>
          <a:bodyPr/>
          <a:lstStyle/>
          <a:p>
            <a:endParaRPr lang="en-US"/>
          </a:p>
        </p:txBody>
      </p:sp>
      <p:sp>
        <p:nvSpPr>
          <p:cNvPr id="19" name="Text 17"/>
          <p:cNvSpPr/>
          <p:nvPr/>
        </p:nvSpPr>
        <p:spPr>
          <a:xfrm>
            <a:off x="3310128" y="676656"/>
            <a:ext cx="2286000" cy="256032"/>
          </a:xfrm>
          <a:prstGeom prst="rect">
            <a:avLst/>
          </a:prstGeom>
          <a:noFill/>
          <a:ln/>
        </p:spPr>
        <p:txBody>
          <a:bodyPr wrap="square" lIns="0" tIns="0" rIns="0" bIns="0" rtlCol="0" anchor="ctr"/>
          <a:lstStyle/>
          <a:p>
            <a:pPr marL="0" indent="0">
              <a:buNone/>
            </a:pPr>
            <a:r>
              <a:rPr lang="en-US" sz="1100" b="1" dirty="0">
                <a:solidFill>
                  <a:srgbClr val="F59E0B"/>
                </a:solidFill>
              </a:rPr>
              <a:t>RMSE</a:t>
            </a:r>
            <a:endParaRPr lang="en-US" sz="1100" dirty="0"/>
          </a:p>
        </p:txBody>
      </p:sp>
      <p:sp>
        <p:nvSpPr>
          <p:cNvPr id="20" name="Text 18"/>
          <p:cNvSpPr/>
          <p:nvPr/>
        </p:nvSpPr>
        <p:spPr>
          <a:xfrm>
            <a:off x="3310128" y="914400"/>
            <a:ext cx="2286000" cy="475488"/>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0.417</a:t>
            </a:r>
            <a:endParaRPr lang="en-US" sz="3400" dirty="0"/>
          </a:p>
        </p:txBody>
      </p:sp>
      <p:sp>
        <p:nvSpPr>
          <p:cNvPr id="22" name="Shape 20"/>
          <p:cNvSpPr/>
          <p:nvPr/>
        </p:nvSpPr>
        <p:spPr>
          <a:xfrm>
            <a:off x="5943600" y="621792"/>
            <a:ext cx="2651760" cy="1170432"/>
          </a:xfrm>
          <a:prstGeom prst="rect">
            <a:avLst/>
          </a:prstGeom>
          <a:solidFill>
            <a:srgbClr val="161E45"/>
          </a:solidFill>
          <a:ln w="12700">
            <a:solidFill>
              <a:srgbClr val="1E2A5A"/>
            </a:solidFill>
            <a:prstDash val="solid"/>
          </a:ln>
        </p:spPr>
        <p:txBody>
          <a:bodyPr/>
          <a:lstStyle/>
          <a:p>
            <a:endParaRPr lang="en-US"/>
          </a:p>
        </p:txBody>
      </p:sp>
      <p:sp>
        <p:nvSpPr>
          <p:cNvPr id="23" name="Shape 21"/>
          <p:cNvSpPr/>
          <p:nvPr/>
        </p:nvSpPr>
        <p:spPr>
          <a:xfrm>
            <a:off x="5943600" y="621792"/>
            <a:ext cx="54864" cy="1170432"/>
          </a:xfrm>
          <a:prstGeom prst="rect">
            <a:avLst/>
          </a:prstGeom>
          <a:solidFill>
            <a:srgbClr val="9B59D6"/>
          </a:solidFill>
          <a:ln w="12700">
            <a:solidFill>
              <a:srgbClr val="9B59D6"/>
            </a:solidFill>
            <a:prstDash val="solid"/>
          </a:ln>
        </p:spPr>
        <p:txBody>
          <a:bodyPr/>
          <a:lstStyle/>
          <a:p>
            <a:endParaRPr lang="en-US"/>
          </a:p>
        </p:txBody>
      </p:sp>
      <p:sp>
        <p:nvSpPr>
          <p:cNvPr id="24" name="Text 22"/>
          <p:cNvSpPr/>
          <p:nvPr/>
        </p:nvSpPr>
        <p:spPr>
          <a:xfrm>
            <a:off x="6144768" y="676656"/>
            <a:ext cx="2286000" cy="256032"/>
          </a:xfrm>
          <a:prstGeom prst="rect">
            <a:avLst/>
          </a:prstGeom>
          <a:noFill/>
          <a:ln/>
        </p:spPr>
        <p:txBody>
          <a:bodyPr wrap="square" lIns="0" tIns="0" rIns="0" bIns="0" rtlCol="0" anchor="ctr"/>
          <a:lstStyle/>
          <a:p>
            <a:pPr marL="0" indent="0">
              <a:buNone/>
            </a:pPr>
            <a:r>
              <a:rPr lang="en-US" sz="1100" b="1" dirty="0">
                <a:solidFill>
                  <a:srgbClr val="9B59D6"/>
                </a:solidFill>
              </a:rPr>
              <a:t>MAE</a:t>
            </a:r>
            <a:endParaRPr lang="en-US" sz="1100" dirty="0"/>
          </a:p>
        </p:txBody>
      </p:sp>
      <p:sp>
        <p:nvSpPr>
          <p:cNvPr id="25" name="Text 23"/>
          <p:cNvSpPr/>
          <p:nvPr/>
        </p:nvSpPr>
        <p:spPr>
          <a:xfrm>
            <a:off x="6144768" y="914400"/>
            <a:ext cx="2286000" cy="475488"/>
          </a:xfrm>
          <a:prstGeom prst="rect">
            <a:avLst/>
          </a:prstGeom>
          <a:noFill/>
          <a:ln/>
        </p:spPr>
        <p:txBody>
          <a:bodyPr wrap="square" lIns="0" tIns="0" rIns="0" bIns="0" rtlCol="0" anchor="ctr"/>
          <a:lstStyle/>
          <a:p>
            <a:pPr marL="0" indent="0">
              <a:buNone/>
            </a:pPr>
            <a:r>
              <a:rPr lang="en-US" sz="3400" b="1" dirty="0">
                <a:solidFill>
                  <a:srgbClr val="FFFFFF"/>
                </a:solidFill>
                <a:latin typeface="Trebuchet MS" pitchFamily="34" charset="0"/>
                <a:ea typeface="Trebuchet MS" pitchFamily="34" charset="-122"/>
                <a:cs typeface="Trebuchet MS" pitchFamily="34" charset="-120"/>
              </a:rPr>
              <a:t>0.320</a:t>
            </a:r>
            <a:endParaRPr lang="en-US" sz="3400" dirty="0"/>
          </a:p>
        </p:txBody>
      </p:sp>
      <p:sp>
        <p:nvSpPr>
          <p:cNvPr id="27" name="Shape 25"/>
          <p:cNvSpPr/>
          <p:nvPr/>
        </p:nvSpPr>
        <p:spPr>
          <a:xfrm>
            <a:off x="274320" y="1920240"/>
            <a:ext cx="54864" cy="256032"/>
          </a:xfrm>
          <a:prstGeom prst="rect">
            <a:avLst/>
          </a:prstGeom>
          <a:solidFill>
            <a:srgbClr val="00C2E0"/>
          </a:solidFill>
          <a:ln w="12700">
            <a:solidFill>
              <a:srgbClr val="00C2E0"/>
            </a:solidFill>
            <a:prstDash val="solid"/>
          </a:ln>
        </p:spPr>
        <p:txBody>
          <a:bodyPr/>
          <a:lstStyle/>
          <a:p>
            <a:endParaRPr lang="en-US"/>
          </a:p>
        </p:txBody>
      </p:sp>
      <p:sp>
        <p:nvSpPr>
          <p:cNvPr id="28" name="Text 26"/>
          <p:cNvSpPr/>
          <p:nvPr/>
        </p:nvSpPr>
        <p:spPr>
          <a:xfrm>
            <a:off x="402336" y="1920240"/>
            <a:ext cx="3657600" cy="256032"/>
          </a:xfrm>
          <a:prstGeom prst="rect">
            <a:avLst/>
          </a:prstGeom>
          <a:noFill/>
          <a:ln/>
        </p:spPr>
        <p:txBody>
          <a:bodyPr wrap="square" lIns="0" tIns="0" rIns="0" bIns="0" rtlCol="0" anchor="ctr"/>
          <a:lstStyle/>
          <a:p>
            <a:pPr marL="0" indent="0">
              <a:buNone/>
            </a:pPr>
            <a:r>
              <a:rPr lang="en-US" sz="1000" b="1" dirty="0">
                <a:solidFill>
                  <a:srgbClr val="00C2E0"/>
                </a:solidFill>
                <a:latin typeface="Trebuchet MS" pitchFamily="34" charset="0"/>
                <a:ea typeface="Trebuchet MS" pitchFamily="34" charset="-122"/>
                <a:cs typeface="Trebuchet MS" pitchFamily="34" charset="-120"/>
              </a:rPr>
              <a:t>BASELINE VS TUNED</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74320" y="2221992"/>
          <a:ext cx="3657600" cy="883920"/>
        </p:xfrm>
        <a:graphic>
          <a:graphicData uri="http://schemas.openxmlformats.org/drawingml/2006/table">
            <a:tbl>
              <a:tblPr/>
              <a:tblGrid>
                <a:gridCol w="11887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0">
                <a:tc>
                  <a:txBody>
                    <a:bodyPr/>
                    <a:lstStyle/>
                    <a:p>
                      <a:pPr marL="0" indent="0">
                        <a:buNone/>
                      </a:pPr>
                      <a:r>
                        <a:rPr lang="en-US" sz="950" b="1" dirty="0">
                          <a:solidFill>
                            <a:srgbClr val="FFFFFF"/>
                          </a:solidFill>
                        </a:rPr>
                        <a:t>Metric</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950" b="1" dirty="0">
                          <a:solidFill>
                            <a:srgbClr val="FFFFFF"/>
                          </a:solidFill>
                        </a:rPr>
                        <a:t>Baseline</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950" b="1" dirty="0">
                          <a:solidFill>
                            <a:srgbClr val="00C2E0"/>
                          </a:solidFill>
                        </a:rPr>
                        <a:t>Optuna Tuned</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extLst>
                  <a:ext uri="{0D108BD9-81ED-4DB2-BD59-A6C34878D82A}">
                    <a16:rowId xmlns:a16="http://schemas.microsoft.com/office/drawing/2014/main" val="10000"/>
                  </a:ext>
                </a:extLst>
              </a:tr>
              <a:tr h="0">
                <a:tc>
                  <a:txBody>
                    <a:bodyPr/>
                    <a:lstStyle/>
                    <a:p>
                      <a:pPr marL="0" indent="0">
                        <a:buNone/>
                      </a:pPr>
                      <a:r>
                        <a:rPr lang="en-US" sz="950" dirty="0">
                          <a:solidFill>
                            <a:srgbClr val="E8EDF5"/>
                          </a:solidFill>
                        </a:rPr>
                        <a:t>RMSE</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buNone/>
                      </a:pPr>
                      <a:r>
                        <a:rPr lang="en-US" sz="950" dirty="0">
                          <a:solidFill>
                            <a:srgbClr val="8A99C0"/>
                          </a:solidFill>
                        </a:rPr>
                        <a:t>0.4295</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buNone/>
                      </a:pPr>
                      <a:r>
                        <a:rPr lang="en-US" sz="950" b="1" dirty="0">
                          <a:solidFill>
                            <a:srgbClr val="00C2E0"/>
                          </a:solidFill>
                        </a:rPr>
                        <a:t>0.4168</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1"/>
                  </a:ext>
                </a:extLst>
              </a:tr>
              <a:tr h="0">
                <a:tc>
                  <a:txBody>
                    <a:bodyPr/>
                    <a:lstStyle/>
                    <a:p>
                      <a:pPr marL="0" indent="0">
                        <a:buNone/>
                      </a:pPr>
                      <a:r>
                        <a:rPr lang="en-US" sz="950" dirty="0">
                          <a:solidFill>
                            <a:srgbClr val="E8EDF5"/>
                          </a:solidFill>
                        </a:rPr>
                        <a:t>MAE</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buNone/>
                      </a:pPr>
                      <a:r>
                        <a:rPr lang="en-US" sz="950" dirty="0">
                          <a:solidFill>
                            <a:srgbClr val="8A99C0"/>
                          </a:solidFill>
                        </a:rPr>
                        <a:t>0.3309</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buNone/>
                      </a:pPr>
                      <a:r>
                        <a:rPr lang="en-US" sz="950" b="1" dirty="0">
                          <a:solidFill>
                            <a:srgbClr val="00C2E0"/>
                          </a:solidFill>
                        </a:rPr>
                        <a:t>0.3204</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2"/>
                  </a:ext>
                </a:extLst>
              </a:tr>
              <a:tr h="0">
                <a:tc>
                  <a:txBody>
                    <a:bodyPr/>
                    <a:lstStyle/>
                    <a:p>
                      <a:pPr marL="0" indent="0">
                        <a:buNone/>
                      </a:pPr>
                      <a:r>
                        <a:rPr lang="en-US" sz="950" dirty="0">
                          <a:solidFill>
                            <a:srgbClr val="E8EDF5"/>
                          </a:solidFill>
                        </a:rPr>
                        <a:t>R²</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buNone/>
                      </a:pPr>
                      <a:r>
                        <a:rPr lang="en-US" sz="950" dirty="0">
                          <a:solidFill>
                            <a:srgbClr val="8A99C0"/>
                          </a:solidFill>
                        </a:rPr>
                        <a:t>0.7091</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buNone/>
                      </a:pPr>
                      <a:r>
                        <a:rPr lang="en-US" sz="950" b="1" dirty="0">
                          <a:solidFill>
                            <a:srgbClr val="00C2E0"/>
                          </a:solidFill>
                        </a:rPr>
                        <a:t>0.7261</a:t>
                      </a:r>
                      <a:endParaRPr lang="en-US" sz="95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3"/>
                  </a:ext>
                </a:extLst>
              </a:tr>
            </a:tbl>
          </a:graphicData>
        </a:graphic>
      </p:graphicFrame>
      <p:sp>
        <p:nvSpPr>
          <p:cNvPr id="30" name="Shape 27"/>
          <p:cNvSpPr/>
          <p:nvPr/>
        </p:nvSpPr>
        <p:spPr>
          <a:xfrm>
            <a:off x="4372266" y="1949631"/>
            <a:ext cx="54864" cy="256032"/>
          </a:xfrm>
          <a:prstGeom prst="rect">
            <a:avLst/>
          </a:prstGeom>
          <a:solidFill>
            <a:srgbClr val="F59E0B"/>
          </a:solidFill>
          <a:ln w="12700">
            <a:solidFill>
              <a:srgbClr val="F59E0B"/>
            </a:solidFill>
            <a:prstDash val="solid"/>
          </a:ln>
        </p:spPr>
        <p:txBody>
          <a:bodyPr/>
          <a:lstStyle/>
          <a:p>
            <a:endParaRPr lang="en-US"/>
          </a:p>
        </p:txBody>
      </p:sp>
      <p:sp>
        <p:nvSpPr>
          <p:cNvPr id="31" name="Text 28"/>
          <p:cNvSpPr/>
          <p:nvPr/>
        </p:nvSpPr>
        <p:spPr>
          <a:xfrm>
            <a:off x="4500282" y="1949631"/>
            <a:ext cx="3657600" cy="256032"/>
          </a:xfrm>
          <a:prstGeom prst="rect">
            <a:avLst/>
          </a:prstGeom>
          <a:noFill/>
          <a:ln/>
        </p:spPr>
        <p:txBody>
          <a:bodyPr wrap="square" lIns="0" tIns="0" rIns="0" bIns="0" rtlCol="0" anchor="ctr"/>
          <a:lstStyle/>
          <a:p>
            <a:pPr marL="0" indent="0">
              <a:buNone/>
            </a:pPr>
            <a:r>
              <a:rPr lang="en-US" sz="1000" b="1" dirty="0">
                <a:solidFill>
                  <a:srgbClr val="F59E0B"/>
                </a:solidFill>
                <a:latin typeface="Trebuchet MS" pitchFamily="34" charset="0"/>
                <a:ea typeface="Trebuchet MS" pitchFamily="34" charset="-122"/>
                <a:cs typeface="Trebuchet MS" pitchFamily="34" charset="-120"/>
              </a:rPr>
              <a:t>KEY OBSERVATIONS</a:t>
            </a:r>
            <a:endParaRPr lang="en-US" sz="1000" dirty="0"/>
          </a:p>
        </p:txBody>
      </p:sp>
      <p:sp>
        <p:nvSpPr>
          <p:cNvPr id="32" name="Shape 29"/>
          <p:cNvSpPr/>
          <p:nvPr/>
        </p:nvSpPr>
        <p:spPr>
          <a:xfrm>
            <a:off x="4372266" y="2338142"/>
            <a:ext cx="4350715" cy="566928"/>
          </a:xfrm>
          <a:prstGeom prst="rect">
            <a:avLst/>
          </a:prstGeom>
          <a:solidFill>
            <a:srgbClr val="111838"/>
          </a:solidFill>
          <a:ln w="12700">
            <a:solidFill>
              <a:srgbClr val="1E2A5A"/>
            </a:solidFill>
            <a:prstDash val="solid"/>
          </a:ln>
        </p:spPr>
        <p:txBody>
          <a:bodyPr/>
          <a:lstStyle/>
          <a:p>
            <a:endParaRPr lang="en-US"/>
          </a:p>
        </p:txBody>
      </p:sp>
      <p:sp>
        <p:nvSpPr>
          <p:cNvPr id="33" name="Shape 30"/>
          <p:cNvSpPr/>
          <p:nvPr/>
        </p:nvSpPr>
        <p:spPr>
          <a:xfrm>
            <a:off x="4372267" y="2338142"/>
            <a:ext cx="54864" cy="566928"/>
          </a:xfrm>
          <a:prstGeom prst="rect">
            <a:avLst/>
          </a:prstGeom>
          <a:solidFill>
            <a:srgbClr val="F59E0B"/>
          </a:solidFill>
          <a:ln w="12700">
            <a:solidFill>
              <a:srgbClr val="F59E0B"/>
            </a:solidFill>
            <a:prstDash val="solid"/>
          </a:ln>
        </p:spPr>
        <p:txBody>
          <a:bodyPr/>
          <a:lstStyle/>
          <a:p>
            <a:endParaRPr lang="en-US"/>
          </a:p>
        </p:txBody>
      </p:sp>
      <p:sp>
        <p:nvSpPr>
          <p:cNvPr id="34" name="Text 31"/>
          <p:cNvSpPr/>
          <p:nvPr/>
        </p:nvSpPr>
        <p:spPr>
          <a:xfrm>
            <a:off x="4567032" y="2303852"/>
            <a:ext cx="4389120" cy="228600"/>
          </a:xfrm>
          <a:prstGeom prst="rect">
            <a:avLst/>
          </a:prstGeom>
          <a:noFill/>
          <a:ln/>
        </p:spPr>
        <p:txBody>
          <a:bodyPr wrap="square" lIns="0" tIns="0" rIns="0" bIns="0" rtlCol="0" anchor="ctr"/>
          <a:lstStyle/>
          <a:p>
            <a:pPr marL="0" indent="0">
              <a:buNone/>
            </a:pPr>
            <a:r>
              <a:rPr lang="en-US" sz="950" b="1" dirty="0">
                <a:solidFill>
                  <a:srgbClr val="F59E0B"/>
                </a:solidFill>
              </a:rPr>
              <a:t>Strong result without location features</a:t>
            </a:r>
            <a:endParaRPr lang="en-US" sz="950" dirty="0"/>
          </a:p>
        </p:txBody>
      </p:sp>
      <p:sp>
        <p:nvSpPr>
          <p:cNvPr id="35" name="Text 32"/>
          <p:cNvSpPr/>
          <p:nvPr/>
        </p:nvSpPr>
        <p:spPr>
          <a:xfrm>
            <a:off x="4573435" y="2548672"/>
            <a:ext cx="4016045" cy="256032"/>
          </a:xfrm>
          <a:prstGeom prst="rect">
            <a:avLst/>
          </a:prstGeom>
          <a:noFill/>
          <a:ln/>
        </p:spPr>
        <p:txBody>
          <a:bodyPr wrap="square" lIns="0" tIns="0" rIns="0" bIns="0" rtlCol="0" anchor="ctr"/>
          <a:lstStyle/>
          <a:p>
            <a:pPr marL="0" indent="0">
              <a:buNone/>
            </a:pPr>
            <a:r>
              <a:rPr lang="en-US" sz="900" dirty="0">
                <a:solidFill>
                  <a:srgbClr val="E8EDF5"/>
                </a:solidFill>
              </a:rPr>
              <a:t>R² of 0.73 with no city name feature — model learned the genuine weather → solar signal, not city-level memorisation.</a:t>
            </a:r>
            <a:endParaRPr lang="en-US" sz="900" dirty="0"/>
          </a:p>
        </p:txBody>
      </p:sp>
      <p:sp>
        <p:nvSpPr>
          <p:cNvPr id="36" name="Shape 33"/>
          <p:cNvSpPr/>
          <p:nvPr/>
        </p:nvSpPr>
        <p:spPr>
          <a:xfrm>
            <a:off x="4372266" y="2987366"/>
            <a:ext cx="4350715" cy="566928"/>
          </a:xfrm>
          <a:prstGeom prst="rect">
            <a:avLst/>
          </a:prstGeom>
          <a:solidFill>
            <a:srgbClr val="111838"/>
          </a:solidFill>
          <a:ln w="12700">
            <a:solidFill>
              <a:srgbClr val="1E2A5A"/>
            </a:solidFill>
            <a:prstDash val="solid"/>
          </a:ln>
        </p:spPr>
        <p:txBody>
          <a:bodyPr/>
          <a:lstStyle/>
          <a:p>
            <a:endParaRPr lang="en-US"/>
          </a:p>
        </p:txBody>
      </p:sp>
      <p:sp>
        <p:nvSpPr>
          <p:cNvPr id="37" name="Shape 34"/>
          <p:cNvSpPr/>
          <p:nvPr/>
        </p:nvSpPr>
        <p:spPr>
          <a:xfrm>
            <a:off x="4372267" y="2987366"/>
            <a:ext cx="54864" cy="566928"/>
          </a:xfrm>
          <a:prstGeom prst="rect">
            <a:avLst/>
          </a:prstGeom>
          <a:solidFill>
            <a:srgbClr val="F59E0B"/>
          </a:solidFill>
          <a:ln w="12700">
            <a:solidFill>
              <a:srgbClr val="F59E0B"/>
            </a:solidFill>
            <a:prstDash val="solid"/>
          </a:ln>
        </p:spPr>
        <p:txBody>
          <a:bodyPr/>
          <a:lstStyle/>
          <a:p>
            <a:endParaRPr lang="en-US"/>
          </a:p>
        </p:txBody>
      </p:sp>
      <p:sp>
        <p:nvSpPr>
          <p:cNvPr id="38" name="Text 35"/>
          <p:cNvSpPr/>
          <p:nvPr/>
        </p:nvSpPr>
        <p:spPr>
          <a:xfrm>
            <a:off x="4567032" y="2953076"/>
            <a:ext cx="4389120" cy="228600"/>
          </a:xfrm>
          <a:prstGeom prst="rect">
            <a:avLst/>
          </a:prstGeom>
          <a:noFill/>
          <a:ln/>
        </p:spPr>
        <p:txBody>
          <a:bodyPr wrap="square" lIns="0" tIns="0" rIns="0" bIns="0" rtlCol="0" anchor="ctr"/>
          <a:lstStyle/>
          <a:p>
            <a:pPr marL="0" indent="0">
              <a:buNone/>
            </a:pPr>
            <a:r>
              <a:rPr lang="en-US" sz="950" b="1" dirty="0">
                <a:solidFill>
                  <a:srgbClr val="F59E0B"/>
                </a:solidFill>
              </a:rPr>
              <a:t>Sunshine ranks 3rd (not 1st)</a:t>
            </a:r>
            <a:endParaRPr lang="en-US" sz="950" dirty="0"/>
          </a:p>
        </p:txBody>
      </p:sp>
      <p:sp>
        <p:nvSpPr>
          <p:cNvPr id="39" name="Text 36"/>
          <p:cNvSpPr/>
          <p:nvPr/>
        </p:nvSpPr>
        <p:spPr>
          <a:xfrm>
            <a:off x="4573435" y="3214007"/>
            <a:ext cx="4016045" cy="256032"/>
          </a:xfrm>
          <a:prstGeom prst="rect">
            <a:avLst/>
          </a:prstGeom>
          <a:noFill/>
          <a:ln/>
        </p:spPr>
        <p:txBody>
          <a:bodyPr wrap="square" lIns="0" tIns="0" rIns="0" bIns="0" rtlCol="0" anchor="ctr"/>
          <a:lstStyle/>
          <a:p>
            <a:pPr marL="0" indent="0">
              <a:buNone/>
            </a:pPr>
            <a:r>
              <a:rPr lang="en-US" sz="900" dirty="0">
                <a:solidFill>
                  <a:srgbClr val="E8EDF5"/>
                </a:solidFill>
              </a:rPr>
              <a:t>MaxTemp and Humidity9am rank higher because monthly aggregation dilutes Sunshine's 36% missingness, surfacing its true signal.</a:t>
            </a:r>
            <a:endParaRPr lang="en-US" sz="900" dirty="0"/>
          </a:p>
        </p:txBody>
      </p:sp>
      <p:sp>
        <p:nvSpPr>
          <p:cNvPr id="40" name="Shape 37"/>
          <p:cNvSpPr/>
          <p:nvPr/>
        </p:nvSpPr>
        <p:spPr>
          <a:xfrm>
            <a:off x="4372266" y="3636590"/>
            <a:ext cx="4350715" cy="566928"/>
          </a:xfrm>
          <a:prstGeom prst="rect">
            <a:avLst/>
          </a:prstGeom>
          <a:solidFill>
            <a:srgbClr val="111838"/>
          </a:solidFill>
          <a:ln w="12700">
            <a:solidFill>
              <a:srgbClr val="1E2A5A"/>
            </a:solidFill>
            <a:prstDash val="solid"/>
          </a:ln>
        </p:spPr>
        <p:txBody>
          <a:bodyPr/>
          <a:lstStyle/>
          <a:p>
            <a:endParaRPr lang="en-US"/>
          </a:p>
        </p:txBody>
      </p:sp>
      <p:sp>
        <p:nvSpPr>
          <p:cNvPr id="41" name="Shape 38"/>
          <p:cNvSpPr/>
          <p:nvPr/>
        </p:nvSpPr>
        <p:spPr>
          <a:xfrm>
            <a:off x="4372267" y="3636590"/>
            <a:ext cx="54864" cy="566928"/>
          </a:xfrm>
          <a:prstGeom prst="rect">
            <a:avLst/>
          </a:prstGeom>
          <a:solidFill>
            <a:srgbClr val="F59E0B"/>
          </a:solidFill>
          <a:ln w="12700">
            <a:solidFill>
              <a:srgbClr val="F59E0B"/>
            </a:solidFill>
            <a:prstDash val="solid"/>
          </a:ln>
        </p:spPr>
        <p:txBody>
          <a:bodyPr/>
          <a:lstStyle/>
          <a:p>
            <a:endParaRPr lang="en-US"/>
          </a:p>
        </p:txBody>
      </p:sp>
      <p:sp>
        <p:nvSpPr>
          <p:cNvPr id="42" name="Text 39"/>
          <p:cNvSpPr/>
          <p:nvPr/>
        </p:nvSpPr>
        <p:spPr>
          <a:xfrm>
            <a:off x="4567032" y="3602300"/>
            <a:ext cx="4389120" cy="228600"/>
          </a:xfrm>
          <a:prstGeom prst="rect">
            <a:avLst/>
          </a:prstGeom>
          <a:noFill/>
          <a:ln/>
        </p:spPr>
        <p:txBody>
          <a:bodyPr wrap="square" lIns="0" tIns="0" rIns="0" bIns="0" rtlCol="0" anchor="ctr"/>
          <a:lstStyle/>
          <a:p>
            <a:pPr marL="0" indent="0">
              <a:buNone/>
            </a:pPr>
            <a:r>
              <a:rPr lang="en-US" sz="950" b="1" dirty="0">
                <a:solidFill>
                  <a:srgbClr val="F59E0B"/>
                </a:solidFill>
              </a:rPr>
              <a:t>Optuna tuning: marginal but consistent</a:t>
            </a:r>
            <a:endParaRPr lang="en-US" sz="950" dirty="0"/>
          </a:p>
        </p:txBody>
      </p:sp>
      <p:sp>
        <p:nvSpPr>
          <p:cNvPr id="43" name="Text 40"/>
          <p:cNvSpPr/>
          <p:nvPr/>
        </p:nvSpPr>
        <p:spPr>
          <a:xfrm>
            <a:off x="4567033" y="3831554"/>
            <a:ext cx="4016045" cy="256032"/>
          </a:xfrm>
          <a:prstGeom prst="rect">
            <a:avLst/>
          </a:prstGeom>
          <a:noFill/>
          <a:ln/>
        </p:spPr>
        <p:txBody>
          <a:bodyPr wrap="square" lIns="0" tIns="0" rIns="0" bIns="0" rtlCol="0" anchor="ctr"/>
          <a:lstStyle/>
          <a:p>
            <a:pPr marL="0" indent="0">
              <a:buNone/>
            </a:pPr>
            <a:r>
              <a:rPr lang="en-US" sz="900" dirty="0">
                <a:solidFill>
                  <a:srgbClr val="E8EDF5"/>
                </a:solidFill>
              </a:rPr>
              <a:t>All three metrics improved. TPE sampler, 100 trials, MedianPruner. Largest gain in R² (+0.017).</a:t>
            </a:r>
            <a:endParaRPr lang="en-US" sz="900" dirty="0"/>
          </a:p>
        </p:txBody>
      </p:sp>
      <p:sp>
        <p:nvSpPr>
          <p:cNvPr id="44" name="Shape 41"/>
          <p:cNvSpPr/>
          <p:nvPr/>
        </p:nvSpPr>
        <p:spPr>
          <a:xfrm>
            <a:off x="4372266" y="4285814"/>
            <a:ext cx="4350715" cy="566928"/>
          </a:xfrm>
          <a:prstGeom prst="rect">
            <a:avLst/>
          </a:prstGeom>
          <a:solidFill>
            <a:srgbClr val="111838"/>
          </a:solidFill>
          <a:ln w="12700">
            <a:solidFill>
              <a:srgbClr val="1E2A5A"/>
            </a:solidFill>
            <a:prstDash val="solid"/>
          </a:ln>
        </p:spPr>
        <p:txBody>
          <a:bodyPr/>
          <a:lstStyle/>
          <a:p>
            <a:endParaRPr lang="en-US"/>
          </a:p>
        </p:txBody>
      </p:sp>
      <p:sp>
        <p:nvSpPr>
          <p:cNvPr id="45" name="Shape 42"/>
          <p:cNvSpPr/>
          <p:nvPr/>
        </p:nvSpPr>
        <p:spPr>
          <a:xfrm>
            <a:off x="4372267" y="4285814"/>
            <a:ext cx="54864" cy="566928"/>
          </a:xfrm>
          <a:prstGeom prst="rect">
            <a:avLst/>
          </a:prstGeom>
          <a:solidFill>
            <a:srgbClr val="F59E0B"/>
          </a:solidFill>
          <a:ln w="12700">
            <a:solidFill>
              <a:srgbClr val="F59E0B"/>
            </a:solidFill>
            <a:prstDash val="solid"/>
          </a:ln>
        </p:spPr>
        <p:txBody>
          <a:bodyPr/>
          <a:lstStyle/>
          <a:p>
            <a:endParaRPr lang="en-US"/>
          </a:p>
        </p:txBody>
      </p:sp>
      <p:sp>
        <p:nvSpPr>
          <p:cNvPr id="46" name="Text 43"/>
          <p:cNvSpPr/>
          <p:nvPr/>
        </p:nvSpPr>
        <p:spPr>
          <a:xfrm>
            <a:off x="4567032" y="4251524"/>
            <a:ext cx="4389120" cy="228600"/>
          </a:xfrm>
          <a:prstGeom prst="rect">
            <a:avLst/>
          </a:prstGeom>
          <a:noFill/>
          <a:ln/>
        </p:spPr>
        <p:txBody>
          <a:bodyPr wrap="square" lIns="0" tIns="0" rIns="0" bIns="0" rtlCol="0" anchor="ctr"/>
          <a:lstStyle/>
          <a:p>
            <a:pPr marL="0" indent="0">
              <a:buNone/>
            </a:pPr>
            <a:r>
              <a:rPr lang="en-US" sz="950" b="1" dirty="0">
                <a:solidFill>
                  <a:srgbClr val="F59E0B"/>
                </a:solidFill>
              </a:rPr>
              <a:t>Theoretical max, not real-world</a:t>
            </a:r>
            <a:endParaRPr lang="en-US" sz="950" dirty="0"/>
          </a:p>
        </p:txBody>
      </p:sp>
      <p:sp>
        <p:nvSpPr>
          <p:cNvPr id="47" name="Text 44"/>
          <p:cNvSpPr/>
          <p:nvPr/>
        </p:nvSpPr>
        <p:spPr>
          <a:xfrm>
            <a:off x="4567032" y="4487962"/>
            <a:ext cx="4016045" cy="256032"/>
          </a:xfrm>
          <a:prstGeom prst="rect">
            <a:avLst/>
          </a:prstGeom>
          <a:noFill/>
          <a:ln/>
        </p:spPr>
        <p:txBody>
          <a:bodyPr wrap="square" lIns="0" tIns="0" rIns="0" bIns="0" rtlCol="0" anchor="ctr"/>
          <a:lstStyle/>
          <a:p>
            <a:pPr marL="0" indent="0">
              <a:buNone/>
            </a:pPr>
            <a:r>
              <a:rPr lang="en-US" sz="900" dirty="0">
                <a:solidFill>
                  <a:srgbClr val="E8EDF5"/>
                </a:solidFill>
              </a:rPr>
              <a:t>Predictions represent theoretical yield.</a:t>
            </a:r>
            <a:endParaRPr lang="en-US" sz="900" dirty="0"/>
          </a:p>
        </p:txBody>
      </p:sp>
      <p:sp>
        <p:nvSpPr>
          <p:cNvPr id="49" name="Shape 24">
            <a:extLst>
              <a:ext uri="{FF2B5EF4-FFF2-40B4-BE49-F238E27FC236}">
                <a16:creationId xmlns:a16="http://schemas.microsoft.com/office/drawing/2014/main" id="{A494C474-0A69-F586-A912-578F5B22D916}"/>
              </a:ext>
            </a:extLst>
          </p:cNvPr>
          <p:cNvSpPr/>
          <p:nvPr/>
        </p:nvSpPr>
        <p:spPr>
          <a:xfrm>
            <a:off x="274320" y="3236976"/>
            <a:ext cx="54864" cy="256032"/>
          </a:xfrm>
          <a:prstGeom prst="rect">
            <a:avLst/>
          </a:prstGeom>
          <a:solidFill>
            <a:srgbClr val="F59E0B"/>
          </a:solidFill>
          <a:ln w="12700">
            <a:solidFill>
              <a:srgbClr val="F59E0B"/>
            </a:solidFill>
            <a:prstDash val="solid"/>
          </a:ln>
        </p:spPr>
        <p:txBody>
          <a:bodyPr/>
          <a:lstStyle/>
          <a:p>
            <a:endParaRPr lang="en-US"/>
          </a:p>
        </p:txBody>
      </p:sp>
      <p:sp>
        <p:nvSpPr>
          <p:cNvPr id="50" name="Text 25">
            <a:extLst>
              <a:ext uri="{FF2B5EF4-FFF2-40B4-BE49-F238E27FC236}">
                <a16:creationId xmlns:a16="http://schemas.microsoft.com/office/drawing/2014/main" id="{BE4E52A9-8D55-C13D-B5E5-B47AD4127BAB}"/>
              </a:ext>
            </a:extLst>
          </p:cNvPr>
          <p:cNvSpPr/>
          <p:nvPr/>
        </p:nvSpPr>
        <p:spPr>
          <a:xfrm>
            <a:off x="402336" y="3236976"/>
            <a:ext cx="3657600" cy="256032"/>
          </a:xfrm>
          <a:prstGeom prst="rect">
            <a:avLst/>
          </a:prstGeom>
          <a:noFill/>
          <a:ln/>
        </p:spPr>
        <p:txBody>
          <a:bodyPr wrap="square" lIns="0" tIns="0" rIns="0" bIns="0" rtlCol="0" anchor="ctr"/>
          <a:lstStyle/>
          <a:p>
            <a:pPr marL="0" indent="0">
              <a:buNone/>
            </a:pPr>
            <a:r>
              <a:rPr lang="en-US" sz="1000" b="1" dirty="0">
                <a:solidFill>
                  <a:srgbClr val="F59E0B"/>
                </a:solidFill>
                <a:latin typeface="Trebuchet MS" pitchFamily="34" charset="0"/>
                <a:ea typeface="Trebuchet MS" pitchFamily="34" charset="-122"/>
                <a:cs typeface="Trebuchet MS" pitchFamily="34" charset="-120"/>
              </a:rPr>
              <a:t>TOP FEATURE IMPORTANCES</a:t>
            </a:r>
            <a:endParaRPr lang="en-US" sz="1000" dirty="0"/>
          </a:p>
        </p:txBody>
      </p:sp>
      <p:sp>
        <p:nvSpPr>
          <p:cNvPr id="51" name="Text 26">
            <a:extLst>
              <a:ext uri="{FF2B5EF4-FFF2-40B4-BE49-F238E27FC236}">
                <a16:creationId xmlns:a16="http://schemas.microsoft.com/office/drawing/2014/main" id="{D0FD8FE5-3B57-8D26-F86D-87E4D5274FDB}"/>
              </a:ext>
            </a:extLst>
          </p:cNvPr>
          <p:cNvSpPr/>
          <p:nvPr/>
        </p:nvSpPr>
        <p:spPr>
          <a:xfrm>
            <a:off x="-248195" y="3547872"/>
            <a:ext cx="1188720" cy="237744"/>
          </a:xfrm>
          <a:prstGeom prst="rect">
            <a:avLst/>
          </a:prstGeom>
          <a:noFill/>
          <a:ln/>
        </p:spPr>
        <p:txBody>
          <a:bodyPr wrap="square" lIns="0" tIns="0" rIns="0" bIns="0" rtlCol="0" anchor="ctr"/>
          <a:lstStyle/>
          <a:p>
            <a:pPr marL="0" indent="0" algn="r">
              <a:buNone/>
            </a:pPr>
            <a:r>
              <a:rPr lang="en-US" sz="850" dirty="0">
                <a:solidFill>
                  <a:srgbClr val="E8EDF5"/>
                </a:solidFill>
              </a:rPr>
              <a:t>MaxTemp</a:t>
            </a:r>
            <a:endParaRPr lang="en-US" sz="850" dirty="0"/>
          </a:p>
        </p:txBody>
      </p:sp>
      <p:sp>
        <p:nvSpPr>
          <p:cNvPr id="52" name="Shape 27">
            <a:extLst>
              <a:ext uri="{FF2B5EF4-FFF2-40B4-BE49-F238E27FC236}">
                <a16:creationId xmlns:a16="http://schemas.microsoft.com/office/drawing/2014/main" id="{C97F766B-CE05-3392-A416-3B0711E9B444}"/>
              </a:ext>
            </a:extLst>
          </p:cNvPr>
          <p:cNvSpPr/>
          <p:nvPr/>
        </p:nvSpPr>
        <p:spPr>
          <a:xfrm>
            <a:off x="1031965" y="3584448"/>
            <a:ext cx="2560320" cy="164592"/>
          </a:xfrm>
          <a:prstGeom prst="rect">
            <a:avLst/>
          </a:prstGeom>
          <a:solidFill>
            <a:srgbClr val="1E2A5A"/>
          </a:solidFill>
          <a:ln w="12700">
            <a:solidFill>
              <a:srgbClr val="1E2A5A"/>
            </a:solidFill>
            <a:prstDash val="solid"/>
          </a:ln>
        </p:spPr>
        <p:txBody>
          <a:bodyPr/>
          <a:lstStyle/>
          <a:p>
            <a:endParaRPr lang="en-US"/>
          </a:p>
        </p:txBody>
      </p:sp>
      <p:sp>
        <p:nvSpPr>
          <p:cNvPr id="53" name="Shape 28">
            <a:extLst>
              <a:ext uri="{FF2B5EF4-FFF2-40B4-BE49-F238E27FC236}">
                <a16:creationId xmlns:a16="http://schemas.microsoft.com/office/drawing/2014/main" id="{DC7A956B-FAF3-01E3-CBB1-1D428ADF7E80}"/>
              </a:ext>
            </a:extLst>
          </p:cNvPr>
          <p:cNvSpPr/>
          <p:nvPr/>
        </p:nvSpPr>
        <p:spPr>
          <a:xfrm>
            <a:off x="1031965" y="3584448"/>
            <a:ext cx="2560320" cy="164592"/>
          </a:xfrm>
          <a:prstGeom prst="rect">
            <a:avLst/>
          </a:prstGeom>
          <a:solidFill>
            <a:srgbClr val="00C2E0"/>
          </a:solidFill>
          <a:ln w="12700">
            <a:solidFill>
              <a:srgbClr val="080C22"/>
            </a:solidFill>
            <a:prstDash val="solid"/>
          </a:ln>
        </p:spPr>
        <p:txBody>
          <a:bodyPr/>
          <a:lstStyle/>
          <a:p>
            <a:endParaRPr lang="en-US"/>
          </a:p>
        </p:txBody>
      </p:sp>
      <p:sp>
        <p:nvSpPr>
          <p:cNvPr id="54" name="Text 29">
            <a:extLst>
              <a:ext uri="{FF2B5EF4-FFF2-40B4-BE49-F238E27FC236}">
                <a16:creationId xmlns:a16="http://schemas.microsoft.com/office/drawing/2014/main" id="{B643C142-F297-774C-3F19-D40B2E063159}"/>
              </a:ext>
            </a:extLst>
          </p:cNvPr>
          <p:cNvSpPr/>
          <p:nvPr/>
        </p:nvSpPr>
        <p:spPr>
          <a:xfrm>
            <a:off x="3732186" y="3547872"/>
            <a:ext cx="502920" cy="237744"/>
          </a:xfrm>
          <a:prstGeom prst="rect">
            <a:avLst/>
          </a:prstGeom>
          <a:noFill/>
          <a:ln/>
        </p:spPr>
        <p:txBody>
          <a:bodyPr wrap="square" lIns="0" tIns="0" rIns="0" bIns="0" rtlCol="0" anchor="ctr"/>
          <a:lstStyle/>
          <a:p>
            <a:pPr marL="0" indent="0">
              <a:buNone/>
            </a:pPr>
            <a:r>
              <a:rPr lang="en-US" sz="800" dirty="0">
                <a:solidFill>
                  <a:srgbClr val="8A99C0"/>
                </a:solidFill>
              </a:rPr>
              <a:t>0.275</a:t>
            </a:r>
            <a:endParaRPr lang="en-US" sz="800" dirty="0"/>
          </a:p>
        </p:txBody>
      </p:sp>
      <p:sp>
        <p:nvSpPr>
          <p:cNvPr id="55" name="Text 30">
            <a:extLst>
              <a:ext uri="{FF2B5EF4-FFF2-40B4-BE49-F238E27FC236}">
                <a16:creationId xmlns:a16="http://schemas.microsoft.com/office/drawing/2014/main" id="{AC58F0C9-1069-5C0E-72FF-14F4E10EAE9E}"/>
              </a:ext>
            </a:extLst>
          </p:cNvPr>
          <p:cNvSpPr/>
          <p:nvPr/>
        </p:nvSpPr>
        <p:spPr>
          <a:xfrm>
            <a:off x="-248195" y="3822192"/>
            <a:ext cx="1188720" cy="237744"/>
          </a:xfrm>
          <a:prstGeom prst="rect">
            <a:avLst/>
          </a:prstGeom>
          <a:noFill/>
          <a:ln/>
        </p:spPr>
        <p:txBody>
          <a:bodyPr wrap="square" lIns="0" tIns="0" rIns="0" bIns="0" rtlCol="0" anchor="ctr"/>
          <a:lstStyle/>
          <a:p>
            <a:pPr marL="0" indent="0" algn="r">
              <a:buNone/>
            </a:pPr>
            <a:r>
              <a:rPr lang="en-US" sz="850" dirty="0">
                <a:solidFill>
                  <a:srgbClr val="E8EDF5"/>
                </a:solidFill>
              </a:rPr>
              <a:t>Humidity9am</a:t>
            </a:r>
            <a:endParaRPr lang="en-US" sz="850" dirty="0"/>
          </a:p>
        </p:txBody>
      </p:sp>
      <p:sp>
        <p:nvSpPr>
          <p:cNvPr id="56" name="Shape 31">
            <a:extLst>
              <a:ext uri="{FF2B5EF4-FFF2-40B4-BE49-F238E27FC236}">
                <a16:creationId xmlns:a16="http://schemas.microsoft.com/office/drawing/2014/main" id="{7AF0364E-59CB-71BA-3007-523E9BC490F9}"/>
              </a:ext>
            </a:extLst>
          </p:cNvPr>
          <p:cNvSpPr/>
          <p:nvPr/>
        </p:nvSpPr>
        <p:spPr>
          <a:xfrm>
            <a:off x="1031965" y="3858768"/>
            <a:ext cx="2560320" cy="164592"/>
          </a:xfrm>
          <a:prstGeom prst="rect">
            <a:avLst/>
          </a:prstGeom>
          <a:solidFill>
            <a:srgbClr val="1E2A5A"/>
          </a:solidFill>
          <a:ln w="12700">
            <a:solidFill>
              <a:srgbClr val="1E2A5A"/>
            </a:solidFill>
            <a:prstDash val="solid"/>
          </a:ln>
        </p:spPr>
        <p:txBody>
          <a:bodyPr/>
          <a:lstStyle/>
          <a:p>
            <a:endParaRPr lang="en-US"/>
          </a:p>
        </p:txBody>
      </p:sp>
      <p:sp>
        <p:nvSpPr>
          <p:cNvPr id="57" name="Shape 32">
            <a:extLst>
              <a:ext uri="{FF2B5EF4-FFF2-40B4-BE49-F238E27FC236}">
                <a16:creationId xmlns:a16="http://schemas.microsoft.com/office/drawing/2014/main" id="{0AF7E37F-46EB-75A6-F0AA-E8C7E9995E2E}"/>
              </a:ext>
            </a:extLst>
          </p:cNvPr>
          <p:cNvSpPr/>
          <p:nvPr/>
        </p:nvSpPr>
        <p:spPr>
          <a:xfrm>
            <a:off x="1031965" y="3858768"/>
            <a:ext cx="1638605" cy="164592"/>
          </a:xfrm>
          <a:prstGeom prst="rect">
            <a:avLst/>
          </a:prstGeom>
          <a:solidFill>
            <a:srgbClr val="0098B4"/>
          </a:solidFill>
          <a:ln w="12700">
            <a:solidFill>
              <a:srgbClr val="080C22"/>
            </a:solidFill>
            <a:prstDash val="solid"/>
          </a:ln>
        </p:spPr>
        <p:txBody>
          <a:bodyPr/>
          <a:lstStyle/>
          <a:p>
            <a:endParaRPr lang="en-US"/>
          </a:p>
        </p:txBody>
      </p:sp>
      <p:sp>
        <p:nvSpPr>
          <p:cNvPr id="58" name="Text 33">
            <a:extLst>
              <a:ext uri="{FF2B5EF4-FFF2-40B4-BE49-F238E27FC236}">
                <a16:creationId xmlns:a16="http://schemas.microsoft.com/office/drawing/2014/main" id="{AB72C5EB-4D0B-C3BA-4CC1-44EC0443F184}"/>
              </a:ext>
            </a:extLst>
          </p:cNvPr>
          <p:cNvSpPr/>
          <p:nvPr/>
        </p:nvSpPr>
        <p:spPr>
          <a:xfrm>
            <a:off x="3732186" y="3822192"/>
            <a:ext cx="502920" cy="237744"/>
          </a:xfrm>
          <a:prstGeom prst="rect">
            <a:avLst/>
          </a:prstGeom>
          <a:noFill/>
          <a:ln/>
        </p:spPr>
        <p:txBody>
          <a:bodyPr wrap="square" lIns="0" tIns="0" rIns="0" bIns="0" rtlCol="0" anchor="ctr"/>
          <a:lstStyle/>
          <a:p>
            <a:pPr marL="0" indent="0">
              <a:buNone/>
            </a:pPr>
            <a:r>
              <a:rPr lang="en-US" sz="800" dirty="0">
                <a:solidFill>
                  <a:srgbClr val="8A99C0"/>
                </a:solidFill>
              </a:rPr>
              <a:t>0.175</a:t>
            </a:r>
            <a:endParaRPr lang="en-US" sz="800" dirty="0"/>
          </a:p>
        </p:txBody>
      </p:sp>
      <p:sp>
        <p:nvSpPr>
          <p:cNvPr id="59" name="Text 34">
            <a:extLst>
              <a:ext uri="{FF2B5EF4-FFF2-40B4-BE49-F238E27FC236}">
                <a16:creationId xmlns:a16="http://schemas.microsoft.com/office/drawing/2014/main" id="{1209387A-EDB7-4785-3485-1C06DD77D62D}"/>
              </a:ext>
            </a:extLst>
          </p:cNvPr>
          <p:cNvSpPr/>
          <p:nvPr/>
        </p:nvSpPr>
        <p:spPr>
          <a:xfrm>
            <a:off x="-248195" y="4096512"/>
            <a:ext cx="1188720" cy="237744"/>
          </a:xfrm>
          <a:prstGeom prst="rect">
            <a:avLst/>
          </a:prstGeom>
          <a:noFill/>
          <a:ln/>
        </p:spPr>
        <p:txBody>
          <a:bodyPr wrap="square" lIns="0" tIns="0" rIns="0" bIns="0" rtlCol="0" anchor="ctr"/>
          <a:lstStyle/>
          <a:p>
            <a:pPr marL="0" indent="0" algn="r">
              <a:buNone/>
            </a:pPr>
            <a:r>
              <a:rPr lang="en-US" sz="850" dirty="0">
                <a:solidFill>
                  <a:srgbClr val="E8EDF5"/>
                </a:solidFill>
              </a:rPr>
              <a:t>Sunshine</a:t>
            </a:r>
            <a:endParaRPr lang="en-US" sz="850" dirty="0"/>
          </a:p>
        </p:txBody>
      </p:sp>
      <p:sp>
        <p:nvSpPr>
          <p:cNvPr id="60" name="Shape 35">
            <a:extLst>
              <a:ext uri="{FF2B5EF4-FFF2-40B4-BE49-F238E27FC236}">
                <a16:creationId xmlns:a16="http://schemas.microsoft.com/office/drawing/2014/main" id="{712615C2-D45C-5F18-3D65-82C80DBFBF66}"/>
              </a:ext>
            </a:extLst>
          </p:cNvPr>
          <p:cNvSpPr/>
          <p:nvPr/>
        </p:nvSpPr>
        <p:spPr>
          <a:xfrm>
            <a:off x="1031965" y="4133088"/>
            <a:ext cx="2560320" cy="164592"/>
          </a:xfrm>
          <a:prstGeom prst="rect">
            <a:avLst/>
          </a:prstGeom>
          <a:solidFill>
            <a:srgbClr val="1E2A5A"/>
          </a:solidFill>
          <a:ln w="12700">
            <a:solidFill>
              <a:srgbClr val="1E2A5A"/>
            </a:solidFill>
            <a:prstDash val="solid"/>
          </a:ln>
        </p:spPr>
        <p:txBody>
          <a:bodyPr/>
          <a:lstStyle/>
          <a:p>
            <a:endParaRPr lang="en-US"/>
          </a:p>
        </p:txBody>
      </p:sp>
      <p:sp>
        <p:nvSpPr>
          <p:cNvPr id="61" name="Shape 36">
            <a:extLst>
              <a:ext uri="{FF2B5EF4-FFF2-40B4-BE49-F238E27FC236}">
                <a16:creationId xmlns:a16="http://schemas.microsoft.com/office/drawing/2014/main" id="{A02068D8-F7FD-6804-A3EE-DA3C629EA52A}"/>
              </a:ext>
            </a:extLst>
          </p:cNvPr>
          <p:cNvSpPr/>
          <p:nvPr/>
        </p:nvSpPr>
        <p:spPr>
          <a:xfrm>
            <a:off x="1031965" y="4133088"/>
            <a:ext cx="1152144" cy="164592"/>
          </a:xfrm>
          <a:prstGeom prst="rect">
            <a:avLst/>
          </a:prstGeom>
          <a:solidFill>
            <a:srgbClr val="F59E0B"/>
          </a:solidFill>
          <a:ln w="12700">
            <a:solidFill>
              <a:srgbClr val="080C22"/>
            </a:solidFill>
            <a:prstDash val="solid"/>
          </a:ln>
        </p:spPr>
        <p:txBody>
          <a:bodyPr/>
          <a:lstStyle/>
          <a:p>
            <a:endParaRPr lang="en-US"/>
          </a:p>
        </p:txBody>
      </p:sp>
      <p:sp>
        <p:nvSpPr>
          <p:cNvPr id="62" name="Text 37">
            <a:extLst>
              <a:ext uri="{FF2B5EF4-FFF2-40B4-BE49-F238E27FC236}">
                <a16:creationId xmlns:a16="http://schemas.microsoft.com/office/drawing/2014/main" id="{195650D9-3C67-573F-CB8A-8BA1E88CFBDB}"/>
              </a:ext>
            </a:extLst>
          </p:cNvPr>
          <p:cNvSpPr/>
          <p:nvPr/>
        </p:nvSpPr>
        <p:spPr>
          <a:xfrm>
            <a:off x="3732186" y="4096512"/>
            <a:ext cx="502920" cy="237744"/>
          </a:xfrm>
          <a:prstGeom prst="rect">
            <a:avLst/>
          </a:prstGeom>
          <a:noFill/>
          <a:ln/>
        </p:spPr>
        <p:txBody>
          <a:bodyPr wrap="square" lIns="0" tIns="0" rIns="0" bIns="0" rtlCol="0" anchor="ctr"/>
          <a:lstStyle/>
          <a:p>
            <a:pPr marL="0" indent="0">
              <a:buNone/>
            </a:pPr>
            <a:r>
              <a:rPr lang="en-US" sz="800" dirty="0">
                <a:solidFill>
                  <a:srgbClr val="8A99C0"/>
                </a:solidFill>
              </a:rPr>
              <a:t>0.124</a:t>
            </a:r>
            <a:endParaRPr lang="en-US" sz="800" dirty="0"/>
          </a:p>
        </p:txBody>
      </p:sp>
      <p:sp>
        <p:nvSpPr>
          <p:cNvPr id="63" name="Text 38">
            <a:extLst>
              <a:ext uri="{FF2B5EF4-FFF2-40B4-BE49-F238E27FC236}">
                <a16:creationId xmlns:a16="http://schemas.microsoft.com/office/drawing/2014/main" id="{49D9025B-B5F0-275E-F4D1-B716F184C7A0}"/>
              </a:ext>
            </a:extLst>
          </p:cNvPr>
          <p:cNvSpPr/>
          <p:nvPr/>
        </p:nvSpPr>
        <p:spPr>
          <a:xfrm>
            <a:off x="-248195" y="4370832"/>
            <a:ext cx="1188720" cy="237744"/>
          </a:xfrm>
          <a:prstGeom prst="rect">
            <a:avLst/>
          </a:prstGeom>
          <a:noFill/>
          <a:ln/>
        </p:spPr>
        <p:txBody>
          <a:bodyPr wrap="square" lIns="0" tIns="0" rIns="0" bIns="0" rtlCol="0" anchor="ctr"/>
          <a:lstStyle/>
          <a:p>
            <a:pPr marL="0" indent="0" algn="r">
              <a:buNone/>
            </a:pPr>
            <a:r>
              <a:rPr lang="en-US" sz="850" dirty="0">
                <a:solidFill>
                  <a:srgbClr val="E8EDF5"/>
                </a:solidFill>
              </a:rPr>
              <a:t>Temp3pm</a:t>
            </a:r>
            <a:endParaRPr lang="en-US" sz="850" dirty="0"/>
          </a:p>
        </p:txBody>
      </p:sp>
      <p:sp>
        <p:nvSpPr>
          <p:cNvPr id="64" name="Shape 39">
            <a:extLst>
              <a:ext uri="{FF2B5EF4-FFF2-40B4-BE49-F238E27FC236}">
                <a16:creationId xmlns:a16="http://schemas.microsoft.com/office/drawing/2014/main" id="{20172EC6-3E27-809A-8ACD-7E3835BAB75F}"/>
              </a:ext>
            </a:extLst>
          </p:cNvPr>
          <p:cNvSpPr/>
          <p:nvPr/>
        </p:nvSpPr>
        <p:spPr>
          <a:xfrm>
            <a:off x="1031965" y="4407408"/>
            <a:ext cx="2560320" cy="164592"/>
          </a:xfrm>
          <a:prstGeom prst="rect">
            <a:avLst/>
          </a:prstGeom>
          <a:solidFill>
            <a:srgbClr val="1E2A5A"/>
          </a:solidFill>
          <a:ln w="12700">
            <a:solidFill>
              <a:srgbClr val="1E2A5A"/>
            </a:solidFill>
            <a:prstDash val="solid"/>
          </a:ln>
        </p:spPr>
        <p:txBody>
          <a:bodyPr/>
          <a:lstStyle/>
          <a:p>
            <a:endParaRPr lang="en-US"/>
          </a:p>
        </p:txBody>
      </p:sp>
      <p:sp>
        <p:nvSpPr>
          <p:cNvPr id="65" name="Shape 40">
            <a:extLst>
              <a:ext uri="{FF2B5EF4-FFF2-40B4-BE49-F238E27FC236}">
                <a16:creationId xmlns:a16="http://schemas.microsoft.com/office/drawing/2014/main" id="{5276D009-53B1-1CB4-4264-7FF117FD5BBB}"/>
              </a:ext>
            </a:extLst>
          </p:cNvPr>
          <p:cNvSpPr/>
          <p:nvPr/>
        </p:nvSpPr>
        <p:spPr>
          <a:xfrm>
            <a:off x="1031965" y="4407408"/>
            <a:ext cx="1024128" cy="164592"/>
          </a:xfrm>
          <a:prstGeom prst="rect">
            <a:avLst/>
          </a:prstGeom>
          <a:solidFill>
            <a:srgbClr val="0098B4"/>
          </a:solidFill>
          <a:ln w="12700">
            <a:solidFill>
              <a:srgbClr val="080C22"/>
            </a:solidFill>
            <a:prstDash val="solid"/>
          </a:ln>
        </p:spPr>
        <p:txBody>
          <a:bodyPr/>
          <a:lstStyle/>
          <a:p>
            <a:endParaRPr lang="en-US"/>
          </a:p>
        </p:txBody>
      </p:sp>
      <p:sp>
        <p:nvSpPr>
          <p:cNvPr id="66" name="Text 41">
            <a:extLst>
              <a:ext uri="{FF2B5EF4-FFF2-40B4-BE49-F238E27FC236}">
                <a16:creationId xmlns:a16="http://schemas.microsoft.com/office/drawing/2014/main" id="{4F82EBC1-211B-7E71-F689-CFBAE886CB7C}"/>
              </a:ext>
            </a:extLst>
          </p:cNvPr>
          <p:cNvSpPr/>
          <p:nvPr/>
        </p:nvSpPr>
        <p:spPr>
          <a:xfrm>
            <a:off x="3732186" y="4370832"/>
            <a:ext cx="502920" cy="237744"/>
          </a:xfrm>
          <a:prstGeom prst="rect">
            <a:avLst/>
          </a:prstGeom>
          <a:noFill/>
          <a:ln/>
        </p:spPr>
        <p:txBody>
          <a:bodyPr wrap="square" lIns="0" tIns="0" rIns="0" bIns="0" rtlCol="0" anchor="ctr"/>
          <a:lstStyle/>
          <a:p>
            <a:pPr marL="0" indent="0">
              <a:buNone/>
            </a:pPr>
            <a:r>
              <a:rPr lang="en-US" sz="800" dirty="0">
                <a:solidFill>
                  <a:srgbClr val="8A99C0"/>
                </a:solidFill>
              </a:rPr>
              <a:t>0.111</a:t>
            </a:r>
            <a:endParaRPr lang="en-US" sz="800" dirty="0"/>
          </a:p>
        </p:txBody>
      </p:sp>
      <p:sp>
        <p:nvSpPr>
          <p:cNvPr id="67" name="Text 42">
            <a:extLst>
              <a:ext uri="{FF2B5EF4-FFF2-40B4-BE49-F238E27FC236}">
                <a16:creationId xmlns:a16="http://schemas.microsoft.com/office/drawing/2014/main" id="{DABA6FA6-BCB9-17E6-7DAC-29CF9B6559F6}"/>
              </a:ext>
            </a:extLst>
          </p:cNvPr>
          <p:cNvSpPr/>
          <p:nvPr/>
        </p:nvSpPr>
        <p:spPr>
          <a:xfrm>
            <a:off x="-248195" y="4645152"/>
            <a:ext cx="1188720" cy="237744"/>
          </a:xfrm>
          <a:prstGeom prst="rect">
            <a:avLst/>
          </a:prstGeom>
          <a:noFill/>
          <a:ln/>
        </p:spPr>
        <p:txBody>
          <a:bodyPr wrap="square" lIns="0" tIns="0" rIns="0" bIns="0" rtlCol="0" anchor="ctr"/>
          <a:lstStyle/>
          <a:p>
            <a:pPr marL="0" indent="0" algn="r">
              <a:buNone/>
            </a:pPr>
            <a:r>
              <a:rPr lang="en-US" sz="850" dirty="0">
                <a:solidFill>
                  <a:srgbClr val="E8EDF5"/>
                </a:solidFill>
              </a:rPr>
              <a:t>Humidity3pm</a:t>
            </a:r>
            <a:endParaRPr lang="en-US" sz="850" dirty="0"/>
          </a:p>
        </p:txBody>
      </p:sp>
      <p:sp>
        <p:nvSpPr>
          <p:cNvPr id="68" name="Shape 43">
            <a:extLst>
              <a:ext uri="{FF2B5EF4-FFF2-40B4-BE49-F238E27FC236}">
                <a16:creationId xmlns:a16="http://schemas.microsoft.com/office/drawing/2014/main" id="{40E1708B-33DA-8EAE-2802-64E84EBC1B36}"/>
              </a:ext>
            </a:extLst>
          </p:cNvPr>
          <p:cNvSpPr/>
          <p:nvPr/>
        </p:nvSpPr>
        <p:spPr>
          <a:xfrm>
            <a:off x="1031965" y="4681728"/>
            <a:ext cx="2560320" cy="164592"/>
          </a:xfrm>
          <a:prstGeom prst="rect">
            <a:avLst/>
          </a:prstGeom>
          <a:solidFill>
            <a:srgbClr val="1E2A5A"/>
          </a:solidFill>
          <a:ln w="12700">
            <a:solidFill>
              <a:srgbClr val="1E2A5A"/>
            </a:solidFill>
            <a:prstDash val="solid"/>
          </a:ln>
        </p:spPr>
        <p:txBody>
          <a:bodyPr/>
          <a:lstStyle/>
          <a:p>
            <a:endParaRPr lang="en-US"/>
          </a:p>
        </p:txBody>
      </p:sp>
      <p:sp>
        <p:nvSpPr>
          <p:cNvPr id="69" name="Shape 44">
            <a:extLst>
              <a:ext uri="{FF2B5EF4-FFF2-40B4-BE49-F238E27FC236}">
                <a16:creationId xmlns:a16="http://schemas.microsoft.com/office/drawing/2014/main" id="{3E179A15-CC0A-CE39-BC35-CCE55C520725}"/>
              </a:ext>
            </a:extLst>
          </p:cNvPr>
          <p:cNvSpPr/>
          <p:nvPr/>
        </p:nvSpPr>
        <p:spPr>
          <a:xfrm>
            <a:off x="1031965" y="4681728"/>
            <a:ext cx="512064" cy="164592"/>
          </a:xfrm>
          <a:prstGeom prst="rect">
            <a:avLst/>
          </a:prstGeom>
          <a:solidFill>
            <a:srgbClr val="0098B4"/>
          </a:solidFill>
          <a:ln w="12700">
            <a:solidFill>
              <a:srgbClr val="080C22"/>
            </a:solidFill>
            <a:prstDash val="solid"/>
          </a:ln>
        </p:spPr>
        <p:txBody>
          <a:bodyPr/>
          <a:lstStyle/>
          <a:p>
            <a:endParaRPr lang="en-US"/>
          </a:p>
        </p:txBody>
      </p:sp>
      <p:sp>
        <p:nvSpPr>
          <p:cNvPr id="70" name="Text 45">
            <a:extLst>
              <a:ext uri="{FF2B5EF4-FFF2-40B4-BE49-F238E27FC236}">
                <a16:creationId xmlns:a16="http://schemas.microsoft.com/office/drawing/2014/main" id="{B97A203C-D00C-FDE5-ECB1-EBBCB8E9BFBE}"/>
              </a:ext>
            </a:extLst>
          </p:cNvPr>
          <p:cNvSpPr/>
          <p:nvPr/>
        </p:nvSpPr>
        <p:spPr>
          <a:xfrm>
            <a:off x="3732186" y="4645152"/>
            <a:ext cx="502920" cy="237744"/>
          </a:xfrm>
          <a:prstGeom prst="rect">
            <a:avLst/>
          </a:prstGeom>
          <a:noFill/>
          <a:ln/>
        </p:spPr>
        <p:txBody>
          <a:bodyPr wrap="square" lIns="0" tIns="0" rIns="0" bIns="0" rtlCol="0" anchor="ctr"/>
          <a:lstStyle/>
          <a:p>
            <a:pPr marL="0" indent="0">
              <a:buNone/>
            </a:pPr>
            <a:r>
              <a:rPr lang="en-US" sz="800" dirty="0">
                <a:solidFill>
                  <a:srgbClr val="8A99C0"/>
                </a:solidFill>
              </a:rPr>
              <a:t>0.056</a:t>
            </a:r>
            <a:endParaRPr lang="en-US" sz="800" dirty="0"/>
          </a:p>
        </p:txBody>
      </p:sp>
      <p:sp>
        <p:nvSpPr>
          <p:cNvPr id="7" name="Text 12">
            <a:extLst>
              <a:ext uri="{FF2B5EF4-FFF2-40B4-BE49-F238E27FC236}">
                <a16:creationId xmlns:a16="http://schemas.microsoft.com/office/drawing/2014/main" id="{33A6618F-2643-6390-3F7C-8A1B9AFD18AD}"/>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0C22"/>
        </a:solidFill>
        <a:effectLst/>
      </p:bgPr>
    </p:bg>
    <p:spTree>
      <p:nvGrpSpPr>
        <p:cNvPr id="1" name="">
          <a:extLst>
            <a:ext uri="{FF2B5EF4-FFF2-40B4-BE49-F238E27FC236}">
              <a16:creationId xmlns:a16="http://schemas.microsoft.com/office/drawing/2014/main" id="{A38CF24B-E245-E5C1-2D13-DFA5D7C349F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6967583-D2C3-E268-41DD-7F6D2C019A94}"/>
              </a:ext>
            </a:extLst>
          </p:cNvPr>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a:extLst>
              <a:ext uri="{FF2B5EF4-FFF2-40B4-BE49-F238E27FC236}">
                <a16:creationId xmlns:a16="http://schemas.microsoft.com/office/drawing/2014/main" id="{3B3A10D6-30C0-BE91-6E9A-E1BD2A2CB802}"/>
              </a:ext>
            </a:extLst>
          </p:cNvPr>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a:extLst>
              <a:ext uri="{FF2B5EF4-FFF2-40B4-BE49-F238E27FC236}">
                <a16:creationId xmlns:a16="http://schemas.microsoft.com/office/drawing/2014/main" id="{4DCF8C3C-EDB7-4C7C-BC77-06DFD19F3133}"/>
              </a:ext>
            </a:extLst>
          </p:cNvPr>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Results, Discussion and Recommendations</a:t>
            </a:r>
            <a:endParaRPr lang="en-US" sz="1700" dirty="0"/>
          </a:p>
        </p:txBody>
      </p:sp>
      <p:sp>
        <p:nvSpPr>
          <p:cNvPr id="5" name="Shape 3">
            <a:extLst>
              <a:ext uri="{FF2B5EF4-FFF2-40B4-BE49-F238E27FC236}">
                <a16:creationId xmlns:a16="http://schemas.microsoft.com/office/drawing/2014/main" id="{B437A671-1954-9A5A-2CCC-C7C8064BBE9A}"/>
              </a:ext>
            </a:extLst>
          </p:cNvPr>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a:extLst>
              <a:ext uri="{FF2B5EF4-FFF2-40B4-BE49-F238E27FC236}">
                <a16:creationId xmlns:a16="http://schemas.microsoft.com/office/drawing/2014/main" id="{8168F2C2-FC8C-4114-6FC1-2269F1DCD67C}"/>
              </a:ext>
            </a:extLst>
          </p:cNvPr>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a:extLst>
              <a:ext uri="{FF2B5EF4-FFF2-40B4-BE49-F238E27FC236}">
                <a16:creationId xmlns:a16="http://schemas.microsoft.com/office/drawing/2014/main" id="{A577C4BC-4B4A-2387-BEE3-6A7F18BC1D7D}"/>
              </a:ext>
            </a:extLst>
          </p:cNvPr>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a:extLst>
              <a:ext uri="{FF2B5EF4-FFF2-40B4-BE49-F238E27FC236}">
                <a16:creationId xmlns:a16="http://schemas.microsoft.com/office/drawing/2014/main" id="{A30B7132-8BEE-A2BA-B169-D7C0A43F8CD5}"/>
              </a:ext>
            </a:extLst>
          </p:cNvPr>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7" name="Text 12">
            <a:extLst>
              <a:ext uri="{FF2B5EF4-FFF2-40B4-BE49-F238E27FC236}">
                <a16:creationId xmlns:a16="http://schemas.microsoft.com/office/drawing/2014/main" id="{45779A15-63AD-618D-084B-E2E694CCD862}"/>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pic>
        <p:nvPicPr>
          <p:cNvPr id="10" name="Picture 9">
            <a:extLst>
              <a:ext uri="{FF2B5EF4-FFF2-40B4-BE49-F238E27FC236}">
                <a16:creationId xmlns:a16="http://schemas.microsoft.com/office/drawing/2014/main" id="{D74A0CE1-184B-F797-201C-44BF75A11C2A}"/>
              </a:ext>
            </a:extLst>
          </p:cNvPr>
          <p:cNvPicPr>
            <a:picLocks noChangeAspect="1"/>
          </p:cNvPicPr>
          <p:nvPr/>
        </p:nvPicPr>
        <p:blipFill>
          <a:blip r:embed="rId3"/>
          <a:stretch>
            <a:fillRect/>
          </a:stretch>
        </p:blipFill>
        <p:spPr>
          <a:xfrm>
            <a:off x="182880" y="692909"/>
            <a:ext cx="4877669" cy="1601255"/>
          </a:xfrm>
          <a:prstGeom prst="rect">
            <a:avLst/>
          </a:prstGeom>
        </p:spPr>
      </p:pic>
      <p:pic>
        <p:nvPicPr>
          <p:cNvPr id="11" name="Picture 10">
            <a:extLst>
              <a:ext uri="{FF2B5EF4-FFF2-40B4-BE49-F238E27FC236}">
                <a16:creationId xmlns:a16="http://schemas.microsoft.com/office/drawing/2014/main" id="{E7B47BC8-506A-7AFA-DC10-2FAD41F37656}"/>
              </a:ext>
            </a:extLst>
          </p:cNvPr>
          <p:cNvPicPr>
            <a:picLocks noChangeAspect="1"/>
          </p:cNvPicPr>
          <p:nvPr/>
        </p:nvPicPr>
        <p:blipFill>
          <a:blip r:embed="rId4"/>
          <a:stretch>
            <a:fillRect/>
          </a:stretch>
        </p:blipFill>
        <p:spPr>
          <a:xfrm>
            <a:off x="174472" y="2506983"/>
            <a:ext cx="4886077" cy="2031753"/>
          </a:xfrm>
          <a:prstGeom prst="rect">
            <a:avLst/>
          </a:prstGeom>
        </p:spPr>
      </p:pic>
      <p:sp>
        <p:nvSpPr>
          <p:cNvPr id="73" name="Shape 21">
            <a:extLst>
              <a:ext uri="{FF2B5EF4-FFF2-40B4-BE49-F238E27FC236}">
                <a16:creationId xmlns:a16="http://schemas.microsoft.com/office/drawing/2014/main" id="{B2470937-DFAF-E0F3-6F3C-CFBE82A179D6}"/>
              </a:ext>
            </a:extLst>
          </p:cNvPr>
          <p:cNvSpPr/>
          <p:nvPr/>
        </p:nvSpPr>
        <p:spPr>
          <a:xfrm>
            <a:off x="5233225" y="1051560"/>
            <a:ext cx="3608697" cy="1689924"/>
          </a:xfrm>
          <a:prstGeom prst="rect">
            <a:avLst/>
          </a:prstGeom>
          <a:solidFill>
            <a:srgbClr val="111838"/>
          </a:solidFill>
          <a:ln w="12700">
            <a:solidFill>
              <a:srgbClr val="1E2A5A"/>
            </a:solidFill>
            <a:prstDash val="solid"/>
          </a:ln>
        </p:spPr>
        <p:txBody>
          <a:bodyPr/>
          <a:lstStyle/>
          <a:p>
            <a:endParaRPr lang="en-US"/>
          </a:p>
        </p:txBody>
      </p:sp>
      <p:sp>
        <p:nvSpPr>
          <p:cNvPr id="74" name="Shape 22">
            <a:extLst>
              <a:ext uri="{FF2B5EF4-FFF2-40B4-BE49-F238E27FC236}">
                <a16:creationId xmlns:a16="http://schemas.microsoft.com/office/drawing/2014/main" id="{B5235D33-0478-D738-AE58-78C04ACB7902}"/>
              </a:ext>
            </a:extLst>
          </p:cNvPr>
          <p:cNvSpPr/>
          <p:nvPr/>
        </p:nvSpPr>
        <p:spPr>
          <a:xfrm>
            <a:off x="5233225" y="1051560"/>
            <a:ext cx="54864" cy="1689924"/>
          </a:xfrm>
          <a:prstGeom prst="rect">
            <a:avLst/>
          </a:prstGeom>
          <a:solidFill>
            <a:srgbClr val="00C2E0"/>
          </a:solidFill>
          <a:ln w="12700">
            <a:solidFill>
              <a:srgbClr val="00C2E0"/>
            </a:solidFill>
            <a:prstDash val="solid"/>
          </a:ln>
        </p:spPr>
        <p:txBody>
          <a:bodyPr/>
          <a:lstStyle/>
          <a:p>
            <a:endParaRPr lang="en-US"/>
          </a:p>
        </p:txBody>
      </p:sp>
      <p:sp>
        <p:nvSpPr>
          <p:cNvPr id="75" name="Text 23">
            <a:extLst>
              <a:ext uri="{FF2B5EF4-FFF2-40B4-BE49-F238E27FC236}">
                <a16:creationId xmlns:a16="http://schemas.microsoft.com/office/drawing/2014/main" id="{C05552F9-5286-AF38-D9A8-0E72DC8BD695}"/>
              </a:ext>
            </a:extLst>
          </p:cNvPr>
          <p:cNvSpPr/>
          <p:nvPr/>
        </p:nvSpPr>
        <p:spPr>
          <a:xfrm>
            <a:off x="5434393" y="1106424"/>
            <a:ext cx="3294897" cy="256032"/>
          </a:xfrm>
          <a:prstGeom prst="rect">
            <a:avLst/>
          </a:prstGeom>
          <a:noFill/>
          <a:ln/>
        </p:spPr>
        <p:txBody>
          <a:bodyPr wrap="square" lIns="0" tIns="0" rIns="0" bIns="0" rtlCol="0" anchor="ctr"/>
          <a:lstStyle/>
          <a:p>
            <a:r>
              <a:rPr lang="en-US" sz="1400" b="1" dirty="0">
                <a:solidFill>
                  <a:srgbClr val="00C2E0"/>
                </a:solidFill>
                <a:latin typeface="Trebuchet MS" pitchFamily="34" charset="0"/>
                <a:ea typeface="Trebuchet MS" pitchFamily="34" charset="-122"/>
                <a:cs typeface="Trebuchet MS" pitchFamily="34" charset="-120"/>
              </a:rPr>
              <a:t>Multi-year weather data</a:t>
            </a:r>
            <a:endParaRPr lang="en-US" sz="1400" dirty="0"/>
          </a:p>
        </p:txBody>
      </p:sp>
      <p:sp>
        <p:nvSpPr>
          <p:cNvPr id="76" name="Text 24">
            <a:extLst>
              <a:ext uri="{FF2B5EF4-FFF2-40B4-BE49-F238E27FC236}">
                <a16:creationId xmlns:a16="http://schemas.microsoft.com/office/drawing/2014/main" id="{60380E66-E804-0307-26EB-CA8E69413992}"/>
              </a:ext>
            </a:extLst>
          </p:cNvPr>
          <p:cNvSpPr/>
          <p:nvPr/>
        </p:nvSpPr>
        <p:spPr>
          <a:xfrm>
            <a:off x="5434393" y="1389888"/>
            <a:ext cx="3294897" cy="1278861"/>
          </a:xfrm>
          <a:prstGeom prst="rect">
            <a:avLst/>
          </a:prstGeom>
          <a:noFill/>
          <a:ln/>
        </p:spPr>
        <p:txBody>
          <a:bodyPr wrap="square" lIns="0" tIns="0" rIns="0" bIns="0" rtlCol="0" anchor="ctr"/>
          <a:lstStyle/>
          <a:p>
            <a:r>
              <a:rPr lang="en-US" sz="1200" dirty="0">
                <a:solidFill>
                  <a:srgbClr val="B0B8D0"/>
                </a:solidFill>
                <a:latin typeface="Calibri" pitchFamily="34" charset="0"/>
                <a:ea typeface="Calibri" pitchFamily="34" charset="-122"/>
                <a:cs typeface="Calibri" pitchFamily="34" charset="-120"/>
              </a:rPr>
              <a:t>Incorporate multiple years of weather data for seasonal + annual trend modeling</a:t>
            </a:r>
            <a:endParaRPr lang="en-US" sz="1200" dirty="0"/>
          </a:p>
        </p:txBody>
      </p:sp>
      <p:sp>
        <p:nvSpPr>
          <p:cNvPr id="77" name="Shape 25">
            <a:extLst>
              <a:ext uri="{FF2B5EF4-FFF2-40B4-BE49-F238E27FC236}">
                <a16:creationId xmlns:a16="http://schemas.microsoft.com/office/drawing/2014/main" id="{2BC09551-0775-356F-1281-0EEE07A53403}"/>
              </a:ext>
            </a:extLst>
          </p:cNvPr>
          <p:cNvSpPr/>
          <p:nvPr/>
        </p:nvSpPr>
        <p:spPr>
          <a:xfrm>
            <a:off x="5233225" y="706944"/>
            <a:ext cx="54864" cy="256032"/>
          </a:xfrm>
          <a:prstGeom prst="rect">
            <a:avLst/>
          </a:prstGeom>
          <a:solidFill>
            <a:srgbClr val="00C2E0"/>
          </a:solidFill>
          <a:ln w="12700">
            <a:solidFill>
              <a:srgbClr val="00C2E0"/>
            </a:solidFill>
            <a:prstDash val="solid"/>
          </a:ln>
        </p:spPr>
        <p:txBody>
          <a:bodyPr/>
          <a:lstStyle/>
          <a:p>
            <a:endParaRPr lang="en-US"/>
          </a:p>
        </p:txBody>
      </p:sp>
      <p:sp>
        <p:nvSpPr>
          <p:cNvPr id="78" name="Text 26">
            <a:extLst>
              <a:ext uri="{FF2B5EF4-FFF2-40B4-BE49-F238E27FC236}">
                <a16:creationId xmlns:a16="http://schemas.microsoft.com/office/drawing/2014/main" id="{F9CC3230-9328-6B8F-1F13-C7D6E066ADA9}"/>
              </a:ext>
            </a:extLst>
          </p:cNvPr>
          <p:cNvSpPr/>
          <p:nvPr/>
        </p:nvSpPr>
        <p:spPr>
          <a:xfrm>
            <a:off x="5361241" y="706944"/>
            <a:ext cx="3657600" cy="256032"/>
          </a:xfrm>
          <a:prstGeom prst="rect">
            <a:avLst/>
          </a:prstGeom>
          <a:noFill/>
          <a:ln/>
        </p:spPr>
        <p:txBody>
          <a:bodyPr wrap="square" lIns="0" tIns="0" rIns="0" bIns="0" rtlCol="0" anchor="ctr"/>
          <a:lstStyle/>
          <a:p>
            <a:pPr marL="0" indent="0">
              <a:buNone/>
            </a:pPr>
            <a:r>
              <a:rPr lang="en-US" sz="1400" b="1" dirty="0">
                <a:solidFill>
                  <a:srgbClr val="00C2E0"/>
                </a:solidFill>
                <a:latin typeface="Trebuchet MS" pitchFamily="34" charset="0"/>
                <a:ea typeface="Trebuchet MS" pitchFamily="34" charset="-122"/>
                <a:cs typeface="Trebuchet MS" pitchFamily="34" charset="-120"/>
              </a:rPr>
              <a:t>Recommendations</a:t>
            </a:r>
            <a:endParaRPr lang="en-US" sz="1400" dirty="0"/>
          </a:p>
        </p:txBody>
      </p:sp>
      <p:sp>
        <p:nvSpPr>
          <p:cNvPr id="79" name="Shape 25">
            <a:extLst>
              <a:ext uri="{FF2B5EF4-FFF2-40B4-BE49-F238E27FC236}">
                <a16:creationId xmlns:a16="http://schemas.microsoft.com/office/drawing/2014/main" id="{8FFF49B0-D903-6E2C-6058-70EC3E639EF7}"/>
              </a:ext>
            </a:extLst>
          </p:cNvPr>
          <p:cNvSpPr/>
          <p:nvPr/>
        </p:nvSpPr>
        <p:spPr>
          <a:xfrm>
            <a:off x="5233225" y="2892360"/>
            <a:ext cx="3608697" cy="1691640"/>
          </a:xfrm>
          <a:prstGeom prst="rect">
            <a:avLst/>
          </a:prstGeom>
          <a:solidFill>
            <a:srgbClr val="111838"/>
          </a:solidFill>
          <a:ln w="12700">
            <a:solidFill>
              <a:srgbClr val="1E2A5A"/>
            </a:solidFill>
            <a:prstDash val="solid"/>
          </a:ln>
        </p:spPr>
        <p:txBody>
          <a:bodyPr/>
          <a:lstStyle/>
          <a:p>
            <a:endParaRPr lang="en-US"/>
          </a:p>
        </p:txBody>
      </p:sp>
      <p:sp>
        <p:nvSpPr>
          <p:cNvPr id="80" name="Shape 26">
            <a:extLst>
              <a:ext uri="{FF2B5EF4-FFF2-40B4-BE49-F238E27FC236}">
                <a16:creationId xmlns:a16="http://schemas.microsoft.com/office/drawing/2014/main" id="{51F8B602-E956-6B2B-905F-263DABCAE3E5}"/>
              </a:ext>
            </a:extLst>
          </p:cNvPr>
          <p:cNvSpPr/>
          <p:nvPr/>
        </p:nvSpPr>
        <p:spPr>
          <a:xfrm>
            <a:off x="5233225" y="2892360"/>
            <a:ext cx="54864" cy="1691640"/>
          </a:xfrm>
          <a:prstGeom prst="rect">
            <a:avLst/>
          </a:prstGeom>
          <a:solidFill>
            <a:srgbClr val="F59E0B"/>
          </a:solidFill>
          <a:ln w="12700">
            <a:solidFill>
              <a:srgbClr val="F59E0B"/>
            </a:solidFill>
            <a:prstDash val="solid"/>
          </a:ln>
        </p:spPr>
        <p:txBody>
          <a:bodyPr/>
          <a:lstStyle/>
          <a:p>
            <a:endParaRPr lang="en-US"/>
          </a:p>
        </p:txBody>
      </p:sp>
      <p:sp>
        <p:nvSpPr>
          <p:cNvPr id="81" name="Text 27">
            <a:extLst>
              <a:ext uri="{FF2B5EF4-FFF2-40B4-BE49-F238E27FC236}">
                <a16:creationId xmlns:a16="http://schemas.microsoft.com/office/drawing/2014/main" id="{6BF06F39-A03D-E9B7-42D8-C61C482DE079}"/>
              </a:ext>
            </a:extLst>
          </p:cNvPr>
          <p:cNvSpPr/>
          <p:nvPr/>
        </p:nvSpPr>
        <p:spPr>
          <a:xfrm>
            <a:off x="5434393" y="2947224"/>
            <a:ext cx="3294897" cy="256032"/>
          </a:xfrm>
          <a:prstGeom prst="rect">
            <a:avLst/>
          </a:prstGeom>
          <a:noFill/>
          <a:ln/>
        </p:spPr>
        <p:txBody>
          <a:bodyPr wrap="square" lIns="0" tIns="0" rIns="0" bIns="0" rtlCol="0" anchor="ctr"/>
          <a:lstStyle/>
          <a:p>
            <a:pPr marL="0" indent="0">
              <a:buNone/>
            </a:pPr>
            <a:r>
              <a:rPr lang="en-US" sz="1400" b="1" dirty="0">
                <a:solidFill>
                  <a:srgbClr val="F59E0B"/>
                </a:solidFill>
              </a:rPr>
              <a:t>Real-time weather API</a:t>
            </a:r>
            <a:endParaRPr lang="en-US" sz="1400" dirty="0"/>
          </a:p>
        </p:txBody>
      </p:sp>
      <p:sp>
        <p:nvSpPr>
          <p:cNvPr id="82" name="Text 28">
            <a:extLst>
              <a:ext uri="{FF2B5EF4-FFF2-40B4-BE49-F238E27FC236}">
                <a16:creationId xmlns:a16="http://schemas.microsoft.com/office/drawing/2014/main" id="{84330025-8933-7B8C-DB0E-4FDB88452644}"/>
              </a:ext>
            </a:extLst>
          </p:cNvPr>
          <p:cNvSpPr/>
          <p:nvPr/>
        </p:nvSpPr>
        <p:spPr>
          <a:xfrm>
            <a:off x="5434393" y="3230688"/>
            <a:ext cx="3294897" cy="1280160"/>
          </a:xfrm>
          <a:prstGeom prst="rect">
            <a:avLst/>
          </a:prstGeom>
          <a:noFill/>
          <a:ln/>
        </p:spPr>
        <p:txBody>
          <a:bodyPr wrap="square" lIns="0" tIns="0" rIns="0" bIns="0" rtlCol="0" anchor="ctr"/>
          <a:lstStyle/>
          <a:p>
            <a:r>
              <a:rPr lang="en-US" sz="1200" dirty="0">
                <a:solidFill>
                  <a:srgbClr val="B0B8D0"/>
                </a:solidFill>
                <a:latin typeface="Calibri" pitchFamily="34" charset="0"/>
                <a:ea typeface="Calibri" pitchFamily="34" charset="-122"/>
                <a:cs typeface="Calibri" pitchFamily="34" charset="-120"/>
              </a:rPr>
              <a:t>Integrate live forecasts (e.g. Bureau of Meteorology API) for genuine forward-looking predictions</a:t>
            </a:r>
            <a:endParaRPr lang="en-US" sz="1200" dirty="0"/>
          </a:p>
        </p:txBody>
      </p:sp>
    </p:spTree>
    <p:extLst>
      <p:ext uri="{BB962C8B-B14F-4D97-AF65-F5344CB8AC3E}">
        <p14:creationId xmlns:p14="http://schemas.microsoft.com/office/powerpoint/2010/main" val="2010440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Agent System Flow</a:t>
            </a:r>
            <a:endParaRPr lang="en-US" sz="1700" dirty="0"/>
          </a:p>
        </p:txBody>
      </p:sp>
      <p:sp>
        <p:nvSpPr>
          <p:cNvPr id="5" name="Shape 3"/>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402336" y="594360"/>
            <a:ext cx="3657600" cy="256032"/>
          </a:xfrm>
          <a:prstGeom prst="rect">
            <a:avLst/>
          </a:prstGeom>
          <a:noFill/>
          <a:ln/>
        </p:spPr>
        <p:txBody>
          <a:bodyPr wrap="square" lIns="0" tIns="0" rIns="0" bIns="0" rtlCol="0" anchor="ctr"/>
          <a:lstStyle/>
          <a:p>
            <a:pPr marL="0" indent="0">
              <a:buNone/>
            </a:pPr>
            <a:r>
              <a:rPr lang="en-US" sz="1400" b="1" dirty="0">
                <a:solidFill>
                  <a:srgbClr val="7C3AED"/>
                </a:solidFill>
                <a:latin typeface="Trebuchet MS" pitchFamily="34" charset="0"/>
                <a:ea typeface="Trebuchet MS" pitchFamily="34" charset="-122"/>
                <a:cs typeface="Trebuchet MS" pitchFamily="34" charset="-120"/>
              </a:rPr>
              <a:t>REACT AGENT PIPELINE</a:t>
            </a:r>
            <a:endParaRPr lang="en-US" sz="1400" dirty="0"/>
          </a:p>
        </p:txBody>
      </p:sp>
      <p:sp>
        <p:nvSpPr>
          <p:cNvPr id="14" name="Shape 12"/>
          <p:cNvSpPr/>
          <p:nvPr/>
        </p:nvSpPr>
        <p:spPr>
          <a:xfrm>
            <a:off x="274320" y="914400"/>
            <a:ext cx="2743200" cy="621792"/>
          </a:xfrm>
          <a:prstGeom prst="rect">
            <a:avLst/>
          </a:prstGeom>
          <a:solidFill>
            <a:srgbClr val="161E45"/>
          </a:solidFill>
          <a:ln w="12700">
            <a:solidFill>
              <a:srgbClr val="1E2A5A"/>
            </a:solidFill>
            <a:prstDash val="solid"/>
          </a:ln>
        </p:spPr>
        <p:txBody>
          <a:bodyPr/>
          <a:lstStyle/>
          <a:p>
            <a:endParaRPr lang="en-US"/>
          </a:p>
        </p:txBody>
      </p:sp>
      <p:sp>
        <p:nvSpPr>
          <p:cNvPr id="15" name="Text 13"/>
          <p:cNvSpPr/>
          <p:nvPr/>
        </p:nvSpPr>
        <p:spPr>
          <a:xfrm>
            <a:off x="384048" y="950976"/>
            <a:ext cx="2523744" cy="256032"/>
          </a:xfrm>
          <a:prstGeom prst="rect">
            <a:avLst/>
          </a:prstGeom>
          <a:noFill/>
          <a:ln/>
        </p:spPr>
        <p:txBody>
          <a:bodyPr wrap="square" lIns="0" tIns="0" rIns="0" bIns="0" rtlCol="0" anchor="ctr"/>
          <a:lstStyle/>
          <a:p>
            <a:pPr marL="0" indent="0">
              <a:buNone/>
            </a:pPr>
            <a:r>
              <a:rPr lang="en-US" sz="1200" b="1" dirty="0">
                <a:solidFill>
                  <a:srgbClr val="E8EDF5"/>
                </a:solidFill>
              </a:rPr>
              <a:t>User Question</a:t>
            </a:r>
            <a:endParaRPr lang="en-US" sz="1200" dirty="0"/>
          </a:p>
        </p:txBody>
      </p:sp>
      <p:sp>
        <p:nvSpPr>
          <p:cNvPr id="16" name="Text 14"/>
          <p:cNvSpPr/>
          <p:nvPr/>
        </p:nvSpPr>
        <p:spPr>
          <a:xfrm>
            <a:off x="384048" y="1225296"/>
            <a:ext cx="2523744" cy="256032"/>
          </a:xfrm>
          <a:prstGeom prst="rect">
            <a:avLst/>
          </a:prstGeom>
          <a:noFill/>
          <a:ln/>
        </p:spPr>
        <p:txBody>
          <a:bodyPr wrap="square" lIns="0" tIns="0" rIns="0" bIns="0" rtlCol="0" anchor="ctr"/>
          <a:lstStyle/>
          <a:p>
            <a:pPr marL="0" indent="0">
              <a:buNone/>
            </a:pPr>
            <a:r>
              <a:rPr lang="en-US" sz="1000" dirty="0">
                <a:solidFill>
                  <a:srgbClr val="8A99C0"/>
                </a:solidFill>
              </a:rPr>
              <a:t>Natural language via Gradio Chat</a:t>
            </a:r>
            <a:endParaRPr lang="en-US" sz="1000" dirty="0"/>
          </a:p>
        </p:txBody>
      </p:sp>
      <p:sp>
        <p:nvSpPr>
          <p:cNvPr id="17" name="Shape 15"/>
          <p:cNvSpPr/>
          <p:nvPr/>
        </p:nvSpPr>
        <p:spPr>
          <a:xfrm>
            <a:off x="1536192" y="1536192"/>
            <a:ext cx="36576" cy="128016"/>
          </a:xfrm>
          <a:prstGeom prst="rect">
            <a:avLst/>
          </a:prstGeom>
          <a:solidFill>
            <a:srgbClr val="7C3AED"/>
          </a:solidFill>
          <a:ln w="12700">
            <a:solidFill>
              <a:srgbClr val="7C3AED"/>
            </a:solidFill>
            <a:prstDash val="solid"/>
          </a:ln>
        </p:spPr>
        <p:txBody>
          <a:bodyPr/>
          <a:lstStyle/>
          <a:p>
            <a:endParaRPr lang="en-US"/>
          </a:p>
        </p:txBody>
      </p:sp>
      <p:sp>
        <p:nvSpPr>
          <p:cNvPr id="18" name="Shape 16"/>
          <p:cNvSpPr/>
          <p:nvPr/>
        </p:nvSpPr>
        <p:spPr>
          <a:xfrm>
            <a:off x="274320" y="1664208"/>
            <a:ext cx="2743200" cy="621792"/>
          </a:xfrm>
          <a:prstGeom prst="rect">
            <a:avLst/>
          </a:prstGeom>
          <a:solidFill>
            <a:srgbClr val="7C3AED"/>
          </a:solidFill>
          <a:ln w="12700">
            <a:solidFill>
              <a:srgbClr val="7C3AED"/>
            </a:solidFill>
            <a:prstDash val="solid"/>
          </a:ln>
        </p:spPr>
        <p:txBody>
          <a:bodyPr/>
          <a:lstStyle/>
          <a:p>
            <a:endParaRPr lang="en-US"/>
          </a:p>
        </p:txBody>
      </p:sp>
      <p:sp>
        <p:nvSpPr>
          <p:cNvPr id="19" name="Text 17"/>
          <p:cNvSpPr/>
          <p:nvPr/>
        </p:nvSpPr>
        <p:spPr>
          <a:xfrm>
            <a:off x="384048" y="1700784"/>
            <a:ext cx="2523744" cy="256032"/>
          </a:xfrm>
          <a:prstGeom prst="rect">
            <a:avLst/>
          </a:prstGeom>
          <a:noFill/>
          <a:ln/>
        </p:spPr>
        <p:txBody>
          <a:bodyPr wrap="square" lIns="0" tIns="0" rIns="0" bIns="0" rtlCol="0" anchor="ctr"/>
          <a:lstStyle/>
          <a:p>
            <a:pPr marL="0" indent="0">
              <a:buNone/>
            </a:pPr>
            <a:r>
              <a:rPr lang="en-US" sz="1200" b="1" dirty="0">
                <a:solidFill>
                  <a:srgbClr val="FFFFFF"/>
                </a:solidFill>
              </a:rPr>
              <a:t>LangChain ReAct Agent</a:t>
            </a:r>
            <a:endParaRPr lang="en-US" sz="1200" dirty="0"/>
          </a:p>
        </p:txBody>
      </p:sp>
      <p:sp>
        <p:nvSpPr>
          <p:cNvPr id="20" name="Text 18"/>
          <p:cNvSpPr/>
          <p:nvPr/>
        </p:nvSpPr>
        <p:spPr>
          <a:xfrm>
            <a:off x="384048" y="1975104"/>
            <a:ext cx="2523744" cy="256032"/>
          </a:xfrm>
          <a:prstGeom prst="rect">
            <a:avLst/>
          </a:prstGeom>
          <a:noFill/>
          <a:ln/>
        </p:spPr>
        <p:txBody>
          <a:bodyPr wrap="square" lIns="0" tIns="0" rIns="0" bIns="0" rtlCol="0" anchor="ctr"/>
          <a:lstStyle/>
          <a:p>
            <a:pPr marL="0" indent="0">
              <a:buNone/>
            </a:pPr>
            <a:r>
              <a:rPr lang="en-US" sz="1000" dirty="0">
                <a:solidFill>
                  <a:srgbClr val="E8EDF5"/>
                </a:solidFill>
              </a:rPr>
              <a:t>Gemini 2.5 Flash · LangGraph MemorySaver</a:t>
            </a:r>
            <a:endParaRPr lang="en-US" sz="1000" dirty="0"/>
          </a:p>
        </p:txBody>
      </p:sp>
      <p:sp>
        <p:nvSpPr>
          <p:cNvPr id="21" name="Shape 19"/>
          <p:cNvSpPr/>
          <p:nvPr/>
        </p:nvSpPr>
        <p:spPr>
          <a:xfrm>
            <a:off x="1536192" y="2286000"/>
            <a:ext cx="36576" cy="128016"/>
          </a:xfrm>
          <a:prstGeom prst="rect">
            <a:avLst/>
          </a:prstGeom>
          <a:solidFill>
            <a:srgbClr val="7C3AED"/>
          </a:solidFill>
          <a:ln w="12700">
            <a:solidFill>
              <a:srgbClr val="7C3AED"/>
            </a:solidFill>
            <a:prstDash val="solid"/>
          </a:ln>
        </p:spPr>
        <p:txBody>
          <a:bodyPr/>
          <a:lstStyle/>
          <a:p>
            <a:endParaRPr lang="en-US"/>
          </a:p>
        </p:txBody>
      </p:sp>
      <p:sp>
        <p:nvSpPr>
          <p:cNvPr id="22" name="Shape 20"/>
          <p:cNvSpPr/>
          <p:nvPr/>
        </p:nvSpPr>
        <p:spPr>
          <a:xfrm>
            <a:off x="274320" y="2414016"/>
            <a:ext cx="2743200" cy="621792"/>
          </a:xfrm>
          <a:prstGeom prst="rect">
            <a:avLst/>
          </a:prstGeom>
          <a:solidFill>
            <a:srgbClr val="161E45"/>
          </a:solidFill>
          <a:ln w="12700">
            <a:solidFill>
              <a:srgbClr val="1E2A5A"/>
            </a:solidFill>
            <a:prstDash val="solid"/>
          </a:ln>
        </p:spPr>
        <p:txBody>
          <a:bodyPr/>
          <a:lstStyle/>
          <a:p>
            <a:endParaRPr lang="en-US"/>
          </a:p>
        </p:txBody>
      </p:sp>
      <p:sp>
        <p:nvSpPr>
          <p:cNvPr id="23" name="Text 21"/>
          <p:cNvSpPr/>
          <p:nvPr/>
        </p:nvSpPr>
        <p:spPr>
          <a:xfrm>
            <a:off x="384048" y="2450592"/>
            <a:ext cx="2523744" cy="256032"/>
          </a:xfrm>
          <a:prstGeom prst="rect">
            <a:avLst/>
          </a:prstGeom>
          <a:noFill/>
          <a:ln/>
        </p:spPr>
        <p:txBody>
          <a:bodyPr wrap="square" lIns="0" tIns="0" rIns="0" bIns="0" rtlCol="0" anchor="ctr"/>
          <a:lstStyle/>
          <a:p>
            <a:pPr marL="0" indent="0">
              <a:buNone/>
            </a:pPr>
            <a:r>
              <a:rPr lang="en-US" sz="1200" b="1" dirty="0">
                <a:solidFill>
                  <a:srgbClr val="E8EDF5"/>
                </a:solidFill>
              </a:rPr>
              <a:t>get_city_weather_stats</a:t>
            </a:r>
            <a:endParaRPr lang="en-US" sz="1200" dirty="0"/>
          </a:p>
        </p:txBody>
      </p:sp>
      <p:sp>
        <p:nvSpPr>
          <p:cNvPr id="24" name="Text 22"/>
          <p:cNvSpPr/>
          <p:nvPr/>
        </p:nvSpPr>
        <p:spPr>
          <a:xfrm>
            <a:off x="384048" y="2724912"/>
            <a:ext cx="2523744" cy="256032"/>
          </a:xfrm>
          <a:prstGeom prst="rect">
            <a:avLst/>
          </a:prstGeom>
          <a:noFill/>
          <a:ln/>
        </p:spPr>
        <p:txBody>
          <a:bodyPr wrap="square" lIns="0" tIns="0" rIns="0" bIns="0" rtlCol="0" anchor="ctr"/>
          <a:lstStyle/>
          <a:p>
            <a:pPr marL="0" indent="0">
              <a:buNone/>
            </a:pPr>
            <a:r>
              <a:rPr lang="en-US" sz="1000" dirty="0">
                <a:solidFill>
                  <a:srgbClr val="8A99C0"/>
                </a:solidFill>
              </a:rPr>
              <a:t>rapidfuzz ≥80 · date / month / year avg (2010)</a:t>
            </a:r>
            <a:endParaRPr lang="en-US" sz="1000" dirty="0"/>
          </a:p>
        </p:txBody>
      </p:sp>
      <p:sp>
        <p:nvSpPr>
          <p:cNvPr id="25" name="Shape 23"/>
          <p:cNvSpPr/>
          <p:nvPr/>
        </p:nvSpPr>
        <p:spPr>
          <a:xfrm>
            <a:off x="1536192" y="3035808"/>
            <a:ext cx="36576" cy="128016"/>
          </a:xfrm>
          <a:prstGeom prst="rect">
            <a:avLst/>
          </a:prstGeom>
          <a:solidFill>
            <a:srgbClr val="7C3AED"/>
          </a:solidFill>
          <a:ln w="12700">
            <a:solidFill>
              <a:srgbClr val="7C3AED"/>
            </a:solidFill>
            <a:prstDash val="solid"/>
          </a:ln>
        </p:spPr>
        <p:txBody>
          <a:bodyPr/>
          <a:lstStyle/>
          <a:p>
            <a:endParaRPr lang="en-US"/>
          </a:p>
        </p:txBody>
      </p:sp>
      <p:sp>
        <p:nvSpPr>
          <p:cNvPr id="26" name="Shape 24"/>
          <p:cNvSpPr/>
          <p:nvPr/>
        </p:nvSpPr>
        <p:spPr>
          <a:xfrm>
            <a:off x="274320" y="3163824"/>
            <a:ext cx="2743200" cy="621792"/>
          </a:xfrm>
          <a:prstGeom prst="rect">
            <a:avLst/>
          </a:prstGeom>
          <a:solidFill>
            <a:srgbClr val="161E45"/>
          </a:solidFill>
          <a:ln w="12700">
            <a:solidFill>
              <a:srgbClr val="1E2A5A"/>
            </a:solidFill>
            <a:prstDash val="solid"/>
          </a:ln>
        </p:spPr>
        <p:txBody>
          <a:bodyPr/>
          <a:lstStyle/>
          <a:p>
            <a:endParaRPr lang="en-US"/>
          </a:p>
        </p:txBody>
      </p:sp>
      <p:sp>
        <p:nvSpPr>
          <p:cNvPr id="27" name="Text 25"/>
          <p:cNvSpPr/>
          <p:nvPr/>
        </p:nvSpPr>
        <p:spPr>
          <a:xfrm>
            <a:off x="384048" y="3200400"/>
            <a:ext cx="2523744" cy="256032"/>
          </a:xfrm>
          <a:prstGeom prst="rect">
            <a:avLst/>
          </a:prstGeom>
          <a:noFill/>
          <a:ln/>
        </p:spPr>
        <p:txBody>
          <a:bodyPr wrap="square" lIns="0" tIns="0" rIns="0" bIns="0" rtlCol="0" anchor="ctr"/>
          <a:lstStyle/>
          <a:p>
            <a:pPr marL="0" indent="0">
              <a:buNone/>
            </a:pPr>
            <a:r>
              <a:rPr lang="en-US" sz="1200" b="1" dirty="0">
                <a:solidFill>
                  <a:srgbClr val="E8EDF5"/>
                </a:solidFill>
              </a:rPr>
              <a:t>Qualitative Override (</a:t>
            </a:r>
            <a:r>
              <a:rPr lang="en-US" sz="1200" b="1" dirty="0" err="1">
                <a:solidFill>
                  <a:srgbClr val="E8EDF5"/>
                </a:solidFill>
              </a:rPr>
              <a:t>pydantic</a:t>
            </a:r>
            <a:r>
              <a:rPr lang="en-US" sz="1200" b="1" dirty="0">
                <a:solidFill>
                  <a:srgbClr val="E8EDF5"/>
                </a:solidFill>
              </a:rPr>
              <a:t> </a:t>
            </a:r>
            <a:r>
              <a:rPr lang="en-US" sz="1200" b="1" dirty="0" err="1">
                <a:solidFill>
                  <a:srgbClr val="E8EDF5"/>
                </a:solidFill>
              </a:rPr>
              <a:t>shema</a:t>
            </a:r>
            <a:r>
              <a:rPr lang="en-US" sz="1200" b="1" dirty="0">
                <a:solidFill>
                  <a:srgbClr val="E8EDF5"/>
                </a:solidFill>
              </a:rPr>
              <a:t>)</a:t>
            </a:r>
            <a:endParaRPr lang="en-US" sz="1200" dirty="0"/>
          </a:p>
        </p:txBody>
      </p:sp>
      <p:sp>
        <p:nvSpPr>
          <p:cNvPr id="28" name="Text 26"/>
          <p:cNvSpPr/>
          <p:nvPr/>
        </p:nvSpPr>
        <p:spPr>
          <a:xfrm>
            <a:off x="384048" y="3474720"/>
            <a:ext cx="2523744" cy="256032"/>
          </a:xfrm>
          <a:prstGeom prst="rect">
            <a:avLst/>
          </a:prstGeom>
          <a:noFill/>
          <a:ln/>
        </p:spPr>
        <p:txBody>
          <a:bodyPr wrap="square" lIns="0" tIns="0" rIns="0" bIns="0" rtlCol="0" anchor="ctr"/>
          <a:lstStyle/>
          <a:p>
            <a:pPr marL="0" indent="0">
              <a:buNone/>
            </a:pPr>
            <a:r>
              <a:rPr lang="en-US" sz="1000" dirty="0">
                <a:solidFill>
                  <a:srgbClr val="8A99C0"/>
                </a:solidFill>
              </a:rPr>
              <a:t>"scorching hot" → high MaxTemp, low Humidity</a:t>
            </a:r>
            <a:endParaRPr lang="en-US" sz="1000" dirty="0"/>
          </a:p>
        </p:txBody>
      </p:sp>
      <p:sp>
        <p:nvSpPr>
          <p:cNvPr id="29" name="Shape 27"/>
          <p:cNvSpPr/>
          <p:nvPr/>
        </p:nvSpPr>
        <p:spPr>
          <a:xfrm>
            <a:off x="1536192" y="3785616"/>
            <a:ext cx="36576" cy="128016"/>
          </a:xfrm>
          <a:prstGeom prst="rect">
            <a:avLst/>
          </a:prstGeom>
          <a:solidFill>
            <a:srgbClr val="7C3AED"/>
          </a:solidFill>
          <a:ln w="12700">
            <a:solidFill>
              <a:srgbClr val="7C3AED"/>
            </a:solidFill>
            <a:prstDash val="solid"/>
          </a:ln>
        </p:spPr>
        <p:txBody>
          <a:bodyPr/>
          <a:lstStyle/>
          <a:p>
            <a:endParaRPr lang="en-US"/>
          </a:p>
        </p:txBody>
      </p:sp>
      <p:sp>
        <p:nvSpPr>
          <p:cNvPr id="30" name="Shape 28"/>
          <p:cNvSpPr/>
          <p:nvPr/>
        </p:nvSpPr>
        <p:spPr>
          <a:xfrm>
            <a:off x="274320" y="3913632"/>
            <a:ext cx="2743200" cy="621792"/>
          </a:xfrm>
          <a:prstGeom prst="rect">
            <a:avLst/>
          </a:prstGeom>
          <a:solidFill>
            <a:srgbClr val="161E45"/>
          </a:solidFill>
          <a:ln w="12700">
            <a:solidFill>
              <a:srgbClr val="1E2A5A"/>
            </a:solidFill>
            <a:prstDash val="solid"/>
          </a:ln>
        </p:spPr>
        <p:txBody>
          <a:bodyPr/>
          <a:lstStyle/>
          <a:p>
            <a:endParaRPr lang="en-US"/>
          </a:p>
        </p:txBody>
      </p:sp>
      <p:sp>
        <p:nvSpPr>
          <p:cNvPr id="31" name="Text 29"/>
          <p:cNvSpPr/>
          <p:nvPr/>
        </p:nvSpPr>
        <p:spPr>
          <a:xfrm>
            <a:off x="384048" y="3950208"/>
            <a:ext cx="2523744" cy="256032"/>
          </a:xfrm>
          <a:prstGeom prst="rect">
            <a:avLst/>
          </a:prstGeom>
          <a:noFill/>
          <a:ln/>
        </p:spPr>
        <p:txBody>
          <a:bodyPr wrap="square" lIns="0" tIns="0" rIns="0" bIns="0" rtlCol="0" anchor="ctr"/>
          <a:lstStyle/>
          <a:p>
            <a:pPr marL="0" indent="0">
              <a:buNone/>
            </a:pPr>
            <a:r>
              <a:rPr lang="en-US" sz="1200" b="1" dirty="0">
                <a:solidFill>
                  <a:srgbClr val="E8EDF5"/>
                </a:solidFill>
              </a:rPr>
              <a:t>predict_solar_yield</a:t>
            </a:r>
            <a:endParaRPr lang="en-US" sz="1200" dirty="0"/>
          </a:p>
        </p:txBody>
      </p:sp>
      <p:sp>
        <p:nvSpPr>
          <p:cNvPr id="32" name="Text 30"/>
          <p:cNvSpPr/>
          <p:nvPr/>
        </p:nvSpPr>
        <p:spPr>
          <a:xfrm>
            <a:off x="384048" y="4224528"/>
            <a:ext cx="2523744" cy="256032"/>
          </a:xfrm>
          <a:prstGeom prst="rect">
            <a:avLst/>
          </a:prstGeom>
          <a:noFill/>
          <a:ln/>
        </p:spPr>
        <p:txBody>
          <a:bodyPr wrap="square" lIns="0" tIns="0" rIns="0" bIns="0" rtlCol="0" anchor="ctr"/>
          <a:lstStyle/>
          <a:p>
            <a:pPr marL="0" indent="0">
              <a:buNone/>
            </a:pPr>
            <a:r>
              <a:rPr lang="en-US" sz="1000" dirty="0">
                <a:solidFill>
                  <a:srgbClr val="8A99C0"/>
                </a:solidFill>
              </a:rPr>
              <a:t>WeatherInput → XGBoost → PVOUT → yield</a:t>
            </a:r>
            <a:endParaRPr lang="en-US" sz="1000" dirty="0"/>
          </a:p>
        </p:txBody>
      </p:sp>
      <p:sp>
        <p:nvSpPr>
          <p:cNvPr id="33" name="Shape 31"/>
          <p:cNvSpPr/>
          <p:nvPr/>
        </p:nvSpPr>
        <p:spPr>
          <a:xfrm>
            <a:off x="274320" y="4535424"/>
            <a:ext cx="2743200" cy="256032"/>
          </a:xfrm>
          <a:prstGeom prst="rect">
            <a:avLst/>
          </a:prstGeom>
          <a:solidFill>
            <a:srgbClr val="00C2E0">
              <a:alpha val="20000"/>
            </a:srgbClr>
          </a:solidFill>
          <a:ln w="12700">
            <a:solidFill>
              <a:srgbClr val="00C2E0"/>
            </a:solidFill>
            <a:prstDash val="solid"/>
          </a:ln>
        </p:spPr>
        <p:txBody>
          <a:bodyPr/>
          <a:lstStyle/>
          <a:p>
            <a:endParaRPr lang="en-US"/>
          </a:p>
        </p:txBody>
      </p:sp>
      <p:sp>
        <p:nvSpPr>
          <p:cNvPr id="34" name="Text 32"/>
          <p:cNvSpPr/>
          <p:nvPr/>
        </p:nvSpPr>
        <p:spPr>
          <a:xfrm>
            <a:off x="274320" y="4535424"/>
            <a:ext cx="2743200" cy="256032"/>
          </a:xfrm>
          <a:prstGeom prst="rect">
            <a:avLst/>
          </a:prstGeom>
          <a:noFill/>
          <a:ln/>
        </p:spPr>
        <p:txBody>
          <a:bodyPr wrap="square" lIns="0" tIns="0" rIns="0" bIns="0" rtlCol="0" anchor="ctr"/>
          <a:lstStyle/>
          <a:p>
            <a:pPr marL="0" indent="0" algn="ctr">
              <a:buNone/>
            </a:pPr>
            <a:r>
              <a:rPr lang="en-US" sz="1000" b="1" dirty="0">
                <a:solidFill>
                  <a:srgbClr val="00C2E0"/>
                </a:solidFill>
              </a:rPr>
              <a:t>Agent synthesizes final response → Gradio UI</a:t>
            </a:r>
            <a:endParaRPr lang="en-US" sz="1000" dirty="0"/>
          </a:p>
        </p:txBody>
      </p:sp>
      <p:sp>
        <p:nvSpPr>
          <p:cNvPr id="35" name="Shape 33"/>
          <p:cNvSpPr/>
          <p:nvPr/>
        </p:nvSpPr>
        <p:spPr>
          <a:xfrm>
            <a:off x="3291840" y="594360"/>
            <a:ext cx="54864" cy="256032"/>
          </a:xfrm>
          <a:prstGeom prst="rect">
            <a:avLst/>
          </a:prstGeom>
          <a:solidFill>
            <a:srgbClr val="00C2E0"/>
          </a:solidFill>
          <a:ln w="12700">
            <a:solidFill>
              <a:srgbClr val="00C2E0"/>
            </a:solidFill>
            <a:prstDash val="solid"/>
          </a:ln>
        </p:spPr>
        <p:txBody>
          <a:bodyPr/>
          <a:lstStyle/>
          <a:p>
            <a:endParaRPr lang="en-US"/>
          </a:p>
        </p:txBody>
      </p:sp>
      <p:sp>
        <p:nvSpPr>
          <p:cNvPr id="36" name="Text 34"/>
          <p:cNvSpPr/>
          <p:nvPr/>
        </p:nvSpPr>
        <p:spPr>
          <a:xfrm>
            <a:off x="3419856" y="594360"/>
            <a:ext cx="3657600" cy="256032"/>
          </a:xfrm>
          <a:prstGeom prst="rect">
            <a:avLst/>
          </a:prstGeom>
          <a:noFill/>
          <a:ln/>
        </p:spPr>
        <p:txBody>
          <a:bodyPr wrap="square" lIns="0" tIns="0" rIns="0" bIns="0" rtlCol="0" anchor="ctr"/>
          <a:lstStyle/>
          <a:p>
            <a:pPr marL="0" indent="0">
              <a:buNone/>
            </a:pPr>
            <a:r>
              <a:rPr lang="en-US" sz="1400" b="1" dirty="0">
                <a:solidFill>
                  <a:srgbClr val="00C2E0"/>
                </a:solidFill>
                <a:latin typeface="Trebuchet MS" pitchFamily="34" charset="0"/>
                <a:ea typeface="Trebuchet MS" pitchFamily="34" charset="-122"/>
                <a:cs typeface="Trebuchet MS" pitchFamily="34" charset="-120"/>
              </a:rPr>
              <a:t>MEMORY &amp; RE-FETCH LOGIC</a:t>
            </a:r>
            <a:endParaRPr lang="en-US" sz="1400" dirty="0"/>
          </a:p>
        </p:txBody>
      </p:sp>
      <p:sp>
        <p:nvSpPr>
          <p:cNvPr id="37" name="Shape 35"/>
          <p:cNvSpPr/>
          <p:nvPr/>
        </p:nvSpPr>
        <p:spPr>
          <a:xfrm>
            <a:off x="3291840" y="914399"/>
            <a:ext cx="5577840" cy="1596821"/>
          </a:xfrm>
          <a:prstGeom prst="rect">
            <a:avLst/>
          </a:prstGeom>
          <a:solidFill>
            <a:srgbClr val="111838"/>
          </a:solidFill>
          <a:ln w="12700">
            <a:solidFill>
              <a:srgbClr val="1E2A5A"/>
            </a:solidFill>
            <a:prstDash val="solid"/>
          </a:ln>
        </p:spPr>
        <p:txBody>
          <a:bodyPr/>
          <a:lstStyle/>
          <a:p>
            <a:endParaRPr lang="en-US"/>
          </a:p>
        </p:txBody>
      </p:sp>
      <p:sp>
        <p:nvSpPr>
          <p:cNvPr id="38" name="Shape 36"/>
          <p:cNvSpPr/>
          <p:nvPr/>
        </p:nvSpPr>
        <p:spPr>
          <a:xfrm>
            <a:off x="3291840" y="914399"/>
            <a:ext cx="54864" cy="1596821"/>
          </a:xfrm>
          <a:prstGeom prst="rect">
            <a:avLst/>
          </a:prstGeom>
          <a:solidFill>
            <a:srgbClr val="10B981"/>
          </a:solidFill>
          <a:ln w="12700">
            <a:solidFill>
              <a:srgbClr val="10B981"/>
            </a:solidFill>
            <a:prstDash val="solid"/>
          </a:ln>
        </p:spPr>
        <p:txBody>
          <a:bodyPr/>
          <a:lstStyle/>
          <a:p>
            <a:endParaRPr lang="en-US"/>
          </a:p>
        </p:txBody>
      </p:sp>
      <p:sp>
        <p:nvSpPr>
          <p:cNvPr id="39" name="Text 37"/>
          <p:cNvSpPr/>
          <p:nvPr/>
        </p:nvSpPr>
        <p:spPr>
          <a:xfrm>
            <a:off x="3493008" y="969264"/>
            <a:ext cx="5212080" cy="256032"/>
          </a:xfrm>
          <a:prstGeom prst="rect">
            <a:avLst/>
          </a:prstGeom>
          <a:noFill/>
          <a:ln/>
        </p:spPr>
        <p:txBody>
          <a:bodyPr wrap="square" lIns="0" tIns="0" rIns="0" bIns="0" rtlCol="0" anchor="ctr"/>
          <a:lstStyle/>
          <a:p>
            <a:pPr marL="0" indent="0">
              <a:buNone/>
            </a:pPr>
            <a:r>
              <a:rPr lang="en-US" sz="1200" b="1" dirty="0">
                <a:solidFill>
                  <a:srgbClr val="10B981"/>
                </a:solidFill>
              </a:rPr>
              <a:t>Re-fetches weather  (calls get_city_weather_stats again):</a:t>
            </a:r>
            <a:endParaRPr lang="en-US" sz="1200" dirty="0"/>
          </a:p>
        </p:txBody>
      </p:sp>
      <p:sp>
        <p:nvSpPr>
          <p:cNvPr id="40" name="Shape 38"/>
          <p:cNvSpPr/>
          <p:nvPr/>
        </p:nvSpPr>
        <p:spPr>
          <a:xfrm>
            <a:off x="3493008" y="1298448"/>
            <a:ext cx="164592" cy="164592"/>
          </a:xfrm>
          <a:prstGeom prst="line">
            <a:avLst/>
          </a:prstGeom>
          <a:solidFill>
            <a:srgbClr val="10B981"/>
          </a:solidFill>
          <a:ln w="12700">
            <a:solidFill>
              <a:srgbClr val="10B981"/>
            </a:solidFill>
            <a:prstDash val="solid"/>
          </a:ln>
        </p:spPr>
        <p:txBody>
          <a:bodyPr/>
          <a:lstStyle/>
          <a:p>
            <a:endParaRPr lang="en-US"/>
          </a:p>
        </p:txBody>
      </p:sp>
      <p:sp>
        <p:nvSpPr>
          <p:cNvPr id="41" name="Text 39"/>
          <p:cNvSpPr/>
          <p:nvPr/>
        </p:nvSpPr>
        <p:spPr>
          <a:xfrm>
            <a:off x="3749040" y="1298448"/>
            <a:ext cx="4937760" cy="201168"/>
          </a:xfrm>
          <a:prstGeom prst="rect">
            <a:avLst/>
          </a:prstGeom>
          <a:noFill/>
          <a:ln/>
        </p:spPr>
        <p:txBody>
          <a:bodyPr wrap="square" lIns="0" tIns="0" rIns="0" bIns="0" rtlCol="0" anchor="ctr"/>
          <a:lstStyle/>
          <a:p>
            <a:pPr marL="0" indent="0">
              <a:buNone/>
            </a:pPr>
            <a:r>
              <a:rPr lang="en-US" sz="1000" dirty="0">
                <a:solidFill>
                  <a:srgbClr val="E8EDF5"/>
                </a:solidFill>
              </a:rPr>
              <a:t>City changes</a:t>
            </a:r>
            <a:endParaRPr lang="en-US" sz="1000" dirty="0"/>
          </a:p>
        </p:txBody>
      </p:sp>
      <p:sp>
        <p:nvSpPr>
          <p:cNvPr id="42" name="Shape 40"/>
          <p:cNvSpPr/>
          <p:nvPr/>
        </p:nvSpPr>
        <p:spPr>
          <a:xfrm>
            <a:off x="3493008" y="1618488"/>
            <a:ext cx="164592" cy="164592"/>
          </a:xfrm>
          <a:prstGeom prst="line">
            <a:avLst/>
          </a:prstGeom>
          <a:solidFill>
            <a:srgbClr val="10B981"/>
          </a:solidFill>
          <a:ln w="12700">
            <a:solidFill>
              <a:srgbClr val="10B981"/>
            </a:solidFill>
            <a:prstDash val="solid"/>
          </a:ln>
        </p:spPr>
        <p:txBody>
          <a:bodyPr/>
          <a:lstStyle/>
          <a:p>
            <a:endParaRPr lang="en-US"/>
          </a:p>
        </p:txBody>
      </p:sp>
      <p:sp>
        <p:nvSpPr>
          <p:cNvPr id="43" name="Text 41"/>
          <p:cNvSpPr/>
          <p:nvPr/>
        </p:nvSpPr>
        <p:spPr>
          <a:xfrm>
            <a:off x="3749040" y="1618488"/>
            <a:ext cx="4937760" cy="201168"/>
          </a:xfrm>
          <a:prstGeom prst="rect">
            <a:avLst/>
          </a:prstGeom>
          <a:noFill/>
          <a:ln/>
        </p:spPr>
        <p:txBody>
          <a:bodyPr wrap="square" lIns="0" tIns="0" rIns="0" bIns="0" rtlCol="0" anchor="ctr"/>
          <a:lstStyle/>
          <a:p>
            <a:pPr marL="0" indent="0">
              <a:buNone/>
            </a:pPr>
            <a:r>
              <a:rPr lang="en-US" sz="1000" dirty="0">
                <a:solidFill>
                  <a:srgbClr val="E8EDF5"/>
                </a:solidFill>
              </a:rPr>
              <a:t>Date or month changes</a:t>
            </a:r>
            <a:endParaRPr lang="en-US" sz="1000" dirty="0"/>
          </a:p>
        </p:txBody>
      </p:sp>
      <p:sp>
        <p:nvSpPr>
          <p:cNvPr id="44" name="Shape 42"/>
          <p:cNvSpPr/>
          <p:nvPr/>
        </p:nvSpPr>
        <p:spPr>
          <a:xfrm>
            <a:off x="3291840" y="2657325"/>
            <a:ext cx="5577840" cy="1596821"/>
          </a:xfrm>
          <a:prstGeom prst="rect">
            <a:avLst/>
          </a:prstGeom>
          <a:solidFill>
            <a:srgbClr val="111838"/>
          </a:solidFill>
          <a:ln w="12700">
            <a:solidFill>
              <a:srgbClr val="1E2A5A"/>
            </a:solidFill>
            <a:prstDash val="solid"/>
          </a:ln>
        </p:spPr>
        <p:txBody>
          <a:bodyPr/>
          <a:lstStyle/>
          <a:p>
            <a:endParaRPr lang="en-US"/>
          </a:p>
        </p:txBody>
      </p:sp>
      <p:sp>
        <p:nvSpPr>
          <p:cNvPr id="45" name="Shape 43"/>
          <p:cNvSpPr/>
          <p:nvPr/>
        </p:nvSpPr>
        <p:spPr>
          <a:xfrm>
            <a:off x="3291840" y="2657325"/>
            <a:ext cx="54864" cy="1596821"/>
          </a:xfrm>
          <a:prstGeom prst="rect">
            <a:avLst/>
          </a:prstGeom>
          <a:solidFill>
            <a:srgbClr val="F59E0B"/>
          </a:solidFill>
          <a:ln w="12700">
            <a:solidFill>
              <a:srgbClr val="F59E0B"/>
            </a:solidFill>
            <a:prstDash val="solid"/>
          </a:ln>
        </p:spPr>
        <p:txBody>
          <a:bodyPr/>
          <a:lstStyle/>
          <a:p>
            <a:endParaRPr lang="en-US"/>
          </a:p>
        </p:txBody>
      </p:sp>
      <p:sp>
        <p:nvSpPr>
          <p:cNvPr id="46" name="Text 44"/>
          <p:cNvSpPr/>
          <p:nvPr/>
        </p:nvSpPr>
        <p:spPr>
          <a:xfrm>
            <a:off x="3493008" y="2712190"/>
            <a:ext cx="5212080" cy="256032"/>
          </a:xfrm>
          <a:prstGeom prst="rect">
            <a:avLst/>
          </a:prstGeom>
          <a:noFill/>
          <a:ln/>
        </p:spPr>
        <p:txBody>
          <a:bodyPr wrap="square" lIns="0" tIns="0" rIns="0" bIns="0" rtlCol="0" anchor="ctr"/>
          <a:lstStyle/>
          <a:p>
            <a:pPr marL="0" indent="0">
              <a:buNone/>
            </a:pPr>
            <a:r>
              <a:rPr lang="en-US" sz="1200" b="1" dirty="0">
                <a:solidFill>
                  <a:srgbClr val="F59E0B"/>
                </a:solidFill>
              </a:rPr>
              <a:t>Reuses memory context (occasional no re-fetch):</a:t>
            </a:r>
            <a:endParaRPr lang="en-US" sz="1200" dirty="0"/>
          </a:p>
        </p:txBody>
      </p:sp>
      <p:sp>
        <p:nvSpPr>
          <p:cNvPr id="47" name="Shape 45"/>
          <p:cNvSpPr/>
          <p:nvPr/>
        </p:nvSpPr>
        <p:spPr>
          <a:xfrm>
            <a:off x="3493008" y="3041374"/>
            <a:ext cx="164592" cy="164592"/>
          </a:xfrm>
          <a:prstGeom prst="line">
            <a:avLst/>
          </a:prstGeom>
          <a:solidFill>
            <a:srgbClr val="F59E0B"/>
          </a:solidFill>
          <a:ln w="12700">
            <a:solidFill>
              <a:srgbClr val="F59E0B"/>
            </a:solidFill>
            <a:prstDash val="solid"/>
          </a:ln>
        </p:spPr>
        <p:txBody>
          <a:bodyPr/>
          <a:lstStyle/>
          <a:p>
            <a:endParaRPr lang="en-US"/>
          </a:p>
        </p:txBody>
      </p:sp>
      <p:sp>
        <p:nvSpPr>
          <p:cNvPr id="48" name="Text 46"/>
          <p:cNvSpPr/>
          <p:nvPr/>
        </p:nvSpPr>
        <p:spPr>
          <a:xfrm>
            <a:off x="3749040" y="3041374"/>
            <a:ext cx="4937760" cy="201168"/>
          </a:xfrm>
          <a:prstGeom prst="rect">
            <a:avLst/>
          </a:prstGeom>
          <a:noFill/>
          <a:ln/>
        </p:spPr>
        <p:txBody>
          <a:bodyPr wrap="square" lIns="0" tIns="0" rIns="0" bIns="0" rtlCol="0" anchor="ctr"/>
          <a:lstStyle/>
          <a:p>
            <a:pPr marL="0" indent="0">
              <a:buNone/>
            </a:pPr>
            <a:r>
              <a:rPr lang="en-US" sz="1000" dirty="0">
                <a:solidFill>
                  <a:srgbClr val="E8EDF5"/>
                </a:solidFill>
              </a:rPr>
              <a:t>Only farm size changes</a:t>
            </a:r>
            <a:endParaRPr lang="en-US" sz="1000" dirty="0"/>
          </a:p>
        </p:txBody>
      </p:sp>
      <p:sp>
        <p:nvSpPr>
          <p:cNvPr id="49" name="Shape 47"/>
          <p:cNvSpPr/>
          <p:nvPr/>
        </p:nvSpPr>
        <p:spPr>
          <a:xfrm>
            <a:off x="3493008" y="3361414"/>
            <a:ext cx="164592" cy="164592"/>
          </a:xfrm>
          <a:prstGeom prst="line">
            <a:avLst/>
          </a:prstGeom>
          <a:solidFill>
            <a:srgbClr val="F59E0B"/>
          </a:solidFill>
          <a:ln w="12700">
            <a:solidFill>
              <a:srgbClr val="F59E0B"/>
            </a:solidFill>
            <a:prstDash val="solid"/>
          </a:ln>
        </p:spPr>
        <p:txBody>
          <a:bodyPr/>
          <a:lstStyle/>
          <a:p>
            <a:endParaRPr lang="en-US"/>
          </a:p>
        </p:txBody>
      </p:sp>
      <p:sp>
        <p:nvSpPr>
          <p:cNvPr id="50" name="Text 48"/>
          <p:cNvSpPr/>
          <p:nvPr/>
        </p:nvSpPr>
        <p:spPr>
          <a:xfrm>
            <a:off x="3749040" y="3361414"/>
            <a:ext cx="4937760" cy="201168"/>
          </a:xfrm>
          <a:prstGeom prst="rect">
            <a:avLst/>
          </a:prstGeom>
          <a:noFill/>
          <a:ln/>
        </p:spPr>
        <p:txBody>
          <a:bodyPr wrap="square" lIns="0" tIns="0" rIns="0" bIns="0" rtlCol="0" anchor="ctr"/>
          <a:lstStyle/>
          <a:p>
            <a:pPr marL="0" indent="0">
              <a:buNone/>
            </a:pPr>
            <a:r>
              <a:rPr lang="en-US" sz="1000" dirty="0">
                <a:solidFill>
                  <a:srgbClr val="E8EDF5"/>
                </a:solidFill>
              </a:rPr>
              <a:t>Only GCR or panel efficiency changes</a:t>
            </a:r>
            <a:endParaRPr lang="en-US" sz="1000" dirty="0"/>
          </a:p>
        </p:txBody>
      </p:sp>
      <p:sp>
        <p:nvSpPr>
          <p:cNvPr id="51" name="Shape 49"/>
          <p:cNvSpPr/>
          <p:nvPr/>
        </p:nvSpPr>
        <p:spPr>
          <a:xfrm>
            <a:off x="3493008" y="3681454"/>
            <a:ext cx="164592" cy="164592"/>
          </a:xfrm>
          <a:prstGeom prst="line">
            <a:avLst/>
          </a:prstGeom>
          <a:solidFill>
            <a:srgbClr val="F59E0B"/>
          </a:solidFill>
          <a:ln w="12700">
            <a:solidFill>
              <a:srgbClr val="F59E0B"/>
            </a:solidFill>
            <a:prstDash val="solid"/>
          </a:ln>
        </p:spPr>
        <p:txBody>
          <a:bodyPr/>
          <a:lstStyle/>
          <a:p>
            <a:endParaRPr lang="en-US"/>
          </a:p>
        </p:txBody>
      </p:sp>
      <p:sp>
        <p:nvSpPr>
          <p:cNvPr id="52" name="Text 50"/>
          <p:cNvSpPr/>
          <p:nvPr/>
        </p:nvSpPr>
        <p:spPr>
          <a:xfrm>
            <a:off x="3749040" y="3681454"/>
            <a:ext cx="4937760" cy="201168"/>
          </a:xfrm>
          <a:prstGeom prst="rect">
            <a:avLst/>
          </a:prstGeom>
          <a:noFill/>
          <a:ln/>
        </p:spPr>
        <p:txBody>
          <a:bodyPr wrap="square" lIns="0" tIns="0" rIns="0" bIns="0" rtlCol="0" anchor="ctr"/>
          <a:lstStyle/>
          <a:p>
            <a:pPr marL="0" indent="0">
              <a:buNone/>
            </a:pPr>
            <a:r>
              <a:rPr lang="en-US" sz="1000" dirty="0">
                <a:solidFill>
                  <a:srgbClr val="E8EDF5"/>
                </a:solidFill>
              </a:rPr>
              <a:t>Only qualitative weather description changes</a:t>
            </a:r>
            <a:endParaRPr lang="en-US" sz="1000" dirty="0"/>
          </a:p>
        </p:txBody>
      </p:sp>
      <p:sp>
        <p:nvSpPr>
          <p:cNvPr id="53" name="Shape 51"/>
          <p:cNvSpPr/>
          <p:nvPr/>
        </p:nvSpPr>
        <p:spPr>
          <a:xfrm>
            <a:off x="3291840" y="4405023"/>
            <a:ext cx="5577840" cy="384048"/>
          </a:xfrm>
          <a:prstGeom prst="rect">
            <a:avLst/>
          </a:prstGeom>
          <a:solidFill>
            <a:srgbClr val="161E45"/>
          </a:solidFill>
          <a:ln w="12700">
            <a:solidFill>
              <a:srgbClr val="1E2A5A"/>
            </a:solidFill>
            <a:prstDash val="solid"/>
          </a:ln>
        </p:spPr>
        <p:txBody>
          <a:bodyPr/>
          <a:lstStyle/>
          <a:p>
            <a:endParaRPr lang="en-US"/>
          </a:p>
        </p:txBody>
      </p:sp>
      <p:sp>
        <p:nvSpPr>
          <p:cNvPr id="54" name="Shape 52"/>
          <p:cNvSpPr/>
          <p:nvPr/>
        </p:nvSpPr>
        <p:spPr>
          <a:xfrm>
            <a:off x="3291840" y="4405023"/>
            <a:ext cx="54864" cy="384048"/>
          </a:xfrm>
          <a:prstGeom prst="rect">
            <a:avLst/>
          </a:prstGeom>
          <a:solidFill>
            <a:srgbClr val="00C2E0"/>
          </a:solidFill>
          <a:ln w="12700">
            <a:solidFill>
              <a:srgbClr val="00C2E0"/>
            </a:solidFill>
            <a:prstDash val="solid"/>
          </a:ln>
        </p:spPr>
        <p:txBody>
          <a:bodyPr/>
          <a:lstStyle/>
          <a:p>
            <a:endParaRPr lang="en-US"/>
          </a:p>
        </p:txBody>
      </p:sp>
      <p:sp>
        <p:nvSpPr>
          <p:cNvPr id="55" name="Text 53"/>
          <p:cNvSpPr/>
          <p:nvPr/>
        </p:nvSpPr>
        <p:spPr>
          <a:xfrm>
            <a:off x="3493008" y="4505607"/>
            <a:ext cx="5303520" cy="182880"/>
          </a:xfrm>
          <a:prstGeom prst="rect">
            <a:avLst/>
          </a:prstGeom>
          <a:noFill/>
          <a:ln/>
        </p:spPr>
        <p:txBody>
          <a:bodyPr wrap="square" lIns="0" tIns="0" rIns="0" bIns="0" rtlCol="0" anchor="ctr"/>
          <a:lstStyle/>
          <a:p>
            <a:pPr marL="0" indent="0">
              <a:buNone/>
            </a:pPr>
            <a:r>
              <a:rPr lang="en-US" sz="1200" dirty="0">
                <a:solidFill>
                  <a:srgbClr val="8A99C0"/>
                </a:solidFill>
              </a:rPr>
              <a:t>Tool call observability panel in Gradio — panel can see agent reasoning in real time</a:t>
            </a:r>
            <a:endParaRPr lang="en-US" sz="1200" dirty="0"/>
          </a:p>
        </p:txBody>
      </p:sp>
      <p:sp>
        <p:nvSpPr>
          <p:cNvPr id="7" name="Text 12">
            <a:extLst>
              <a:ext uri="{FF2B5EF4-FFF2-40B4-BE49-F238E27FC236}">
                <a16:creationId xmlns:a16="http://schemas.microsoft.com/office/drawing/2014/main" id="{C98FA750-E7B0-EFFD-BADB-5774C5232689}"/>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00C2E0"/>
          </a:solidFill>
          <a:ln w="12700">
            <a:solidFill>
              <a:srgbClr val="00C2E0"/>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5 Agent Questions with Analysis</a:t>
            </a:r>
            <a:endParaRPr lang="en-US" sz="1700" dirty="0"/>
          </a:p>
        </p:txBody>
      </p:sp>
      <p:sp>
        <p:nvSpPr>
          <p:cNvPr id="5" name="Shape 3"/>
          <p:cNvSpPr/>
          <p:nvPr/>
        </p:nvSpPr>
        <p:spPr>
          <a:xfrm>
            <a:off x="6720840" y="109728"/>
            <a:ext cx="1234440" cy="274320"/>
          </a:xfrm>
          <a:prstGeom prst="rect">
            <a:avLst/>
          </a:prstGeom>
          <a:solidFill>
            <a:srgbClr val="00C2E0">
              <a:alpha val="22000"/>
            </a:srgbClr>
          </a:solidFill>
          <a:ln w="12700">
            <a:solidFill>
              <a:srgbClr val="00C2E0"/>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1</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621792"/>
            <a:ext cx="8595360" cy="749808"/>
          </a:xfrm>
          <a:prstGeom prst="rect">
            <a:avLst/>
          </a:prstGeom>
          <a:solidFill>
            <a:srgbClr val="111838"/>
          </a:solidFill>
          <a:ln w="12700">
            <a:solidFill>
              <a:srgbClr val="1E2A5A"/>
            </a:solidFill>
            <a:prstDash val="solid"/>
          </a:ln>
        </p:spPr>
        <p:txBody>
          <a:bodyPr/>
          <a:lstStyle/>
          <a:p>
            <a:endParaRPr lang="en-US"/>
          </a:p>
        </p:txBody>
      </p:sp>
      <p:sp>
        <p:nvSpPr>
          <p:cNvPr id="13" name="Shape 11"/>
          <p:cNvSpPr/>
          <p:nvPr/>
        </p:nvSpPr>
        <p:spPr>
          <a:xfrm>
            <a:off x="274320" y="621792"/>
            <a:ext cx="54864" cy="749808"/>
          </a:xfrm>
          <a:prstGeom prst="rect">
            <a:avLst/>
          </a:prstGeom>
          <a:solidFill>
            <a:srgbClr val="00C2E0"/>
          </a:solidFill>
          <a:ln w="12700">
            <a:solidFill>
              <a:srgbClr val="00C2E0"/>
            </a:solidFill>
            <a:prstDash val="solid"/>
          </a:ln>
        </p:spPr>
        <p:txBody>
          <a:bodyPr/>
          <a:lstStyle/>
          <a:p>
            <a:endParaRPr lang="en-US"/>
          </a:p>
        </p:txBody>
      </p:sp>
      <p:sp>
        <p:nvSpPr>
          <p:cNvPr id="14" name="Shape 12"/>
          <p:cNvSpPr/>
          <p:nvPr/>
        </p:nvSpPr>
        <p:spPr>
          <a:xfrm>
            <a:off x="7040880" y="676656"/>
            <a:ext cx="1737360" cy="219456"/>
          </a:xfrm>
          <a:prstGeom prst="rect">
            <a:avLst/>
          </a:prstGeom>
          <a:solidFill>
            <a:srgbClr val="00C2E0">
              <a:alpha val="18000"/>
            </a:srgbClr>
          </a:solidFill>
          <a:ln w="12700">
            <a:solidFill>
              <a:srgbClr val="00C2E0"/>
            </a:solidFill>
            <a:prstDash val="solid"/>
          </a:ln>
        </p:spPr>
        <p:txBody>
          <a:bodyPr/>
          <a:lstStyle/>
          <a:p>
            <a:endParaRPr lang="en-US"/>
          </a:p>
        </p:txBody>
      </p:sp>
      <p:sp>
        <p:nvSpPr>
          <p:cNvPr id="15" name="Text 13"/>
          <p:cNvSpPr/>
          <p:nvPr/>
        </p:nvSpPr>
        <p:spPr>
          <a:xfrm>
            <a:off x="7040880" y="676656"/>
            <a:ext cx="1737360" cy="219456"/>
          </a:xfrm>
          <a:prstGeom prst="rect">
            <a:avLst/>
          </a:prstGeom>
          <a:noFill/>
          <a:ln/>
        </p:spPr>
        <p:txBody>
          <a:bodyPr wrap="square" lIns="0" tIns="0" rIns="0" bIns="0" rtlCol="0" anchor="ctr"/>
          <a:lstStyle/>
          <a:p>
            <a:pPr marL="0" indent="0" algn="ctr">
              <a:buNone/>
            </a:pPr>
            <a:r>
              <a:rPr lang="en-US" sz="1000" b="1" dirty="0">
                <a:solidFill>
                  <a:srgbClr val="00C2E0"/>
                </a:solidFill>
              </a:rPr>
              <a:t>DATE RESOLUTION</a:t>
            </a:r>
            <a:endParaRPr lang="en-US" sz="1000" dirty="0"/>
          </a:p>
        </p:txBody>
      </p:sp>
      <p:sp>
        <p:nvSpPr>
          <p:cNvPr id="16" name="Text 14"/>
          <p:cNvSpPr/>
          <p:nvPr/>
        </p:nvSpPr>
        <p:spPr>
          <a:xfrm>
            <a:off x="475488" y="676656"/>
            <a:ext cx="274320" cy="256032"/>
          </a:xfrm>
          <a:prstGeom prst="rect">
            <a:avLst/>
          </a:prstGeom>
          <a:noFill/>
          <a:ln/>
        </p:spPr>
        <p:txBody>
          <a:bodyPr wrap="square" lIns="0" tIns="0" rIns="0" bIns="0" rtlCol="0" anchor="ctr"/>
          <a:lstStyle/>
          <a:p>
            <a:pPr marL="0" indent="0">
              <a:buNone/>
            </a:pPr>
            <a:r>
              <a:rPr lang="en-US" sz="1000" b="1" dirty="0">
                <a:solidFill>
                  <a:srgbClr val="00C2E0"/>
                </a:solidFill>
              </a:rPr>
              <a:t>Q1</a:t>
            </a:r>
            <a:endParaRPr lang="en-US" sz="1000" dirty="0"/>
          </a:p>
        </p:txBody>
      </p:sp>
      <p:sp>
        <p:nvSpPr>
          <p:cNvPr id="17" name="Text 15"/>
          <p:cNvSpPr/>
          <p:nvPr/>
        </p:nvSpPr>
        <p:spPr>
          <a:xfrm>
            <a:off x="804672" y="658368"/>
            <a:ext cx="6144768" cy="256032"/>
          </a:xfrm>
          <a:prstGeom prst="rect">
            <a:avLst/>
          </a:prstGeom>
          <a:noFill/>
          <a:ln/>
        </p:spPr>
        <p:txBody>
          <a:bodyPr wrap="square" lIns="0" tIns="0" rIns="0" bIns="0" rtlCol="0" anchor="ctr"/>
          <a:lstStyle/>
          <a:p>
            <a:pPr marL="0" indent="0">
              <a:buNone/>
            </a:pPr>
            <a:r>
              <a:rPr lang="en-US" sz="1200" b="1" i="1" dirty="0">
                <a:solidFill>
                  <a:srgbClr val="FFFFFF"/>
                </a:solidFill>
              </a:rPr>
              <a:t>What is the expected daily yield for a 50ha solar farm in Sydney tomorrow?</a:t>
            </a:r>
            <a:endParaRPr lang="en-US" sz="1200" dirty="0"/>
          </a:p>
        </p:txBody>
      </p:sp>
      <p:sp>
        <p:nvSpPr>
          <p:cNvPr id="18" name="Text 16"/>
          <p:cNvSpPr/>
          <p:nvPr/>
        </p:nvSpPr>
        <p:spPr>
          <a:xfrm>
            <a:off x="804672" y="941832"/>
            <a:ext cx="6144768" cy="402336"/>
          </a:xfrm>
          <a:prstGeom prst="rect">
            <a:avLst/>
          </a:prstGeom>
          <a:noFill/>
          <a:ln/>
        </p:spPr>
        <p:txBody>
          <a:bodyPr wrap="square" lIns="0" tIns="0" rIns="0" bIns="0" rtlCol="0" anchor="ctr"/>
          <a:lstStyle/>
          <a:p>
            <a:pPr marL="0" indent="0">
              <a:buNone/>
            </a:pPr>
            <a:r>
              <a:rPr lang="en-US" sz="1000" dirty="0">
                <a:solidFill>
                  <a:srgbClr val="8A99C0"/>
                </a:solidFill>
              </a:rPr>
              <a:t>Tests core prediction pipeline with date resolution. Agent resolves 'tomorrow' → calls get_city_weather_stats with that date → fetches 2010-equivalent historical row → predicts yield.</a:t>
            </a:r>
            <a:endParaRPr lang="en-US" sz="1000" dirty="0"/>
          </a:p>
        </p:txBody>
      </p:sp>
      <p:sp>
        <p:nvSpPr>
          <p:cNvPr id="19" name="Shape 17"/>
          <p:cNvSpPr/>
          <p:nvPr/>
        </p:nvSpPr>
        <p:spPr>
          <a:xfrm>
            <a:off x="274320" y="1472184"/>
            <a:ext cx="8595360" cy="749808"/>
          </a:xfrm>
          <a:prstGeom prst="rect">
            <a:avLst/>
          </a:prstGeom>
          <a:solidFill>
            <a:srgbClr val="111838"/>
          </a:solidFill>
          <a:ln w="12700">
            <a:solidFill>
              <a:srgbClr val="1E2A5A"/>
            </a:solidFill>
            <a:prstDash val="solid"/>
          </a:ln>
        </p:spPr>
        <p:txBody>
          <a:bodyPr/>
          <a:lstStyle/>
          <a:p>
            <a:endParaRPr lang="en-US"/>
          </a:p>
        </p:txBody>
      </p:sp>
      <p:sp>
        <p:nvSpPr>
          <p:cNvPr id="20" name="Shape 18"/>
          <p:cNvSpPr/>
          <p:nvPr/>
        </p:nvSpPr>
        <p:spPr>
          <a:xfrm>
            <a:off x="274320" y="1472184"/>
            <a:ext cx="54864" cy="749808"/>
          </a:xfrm>
          <a:prstGeom prst="rect">
            <a:avLst/>
          </a:prstGeom>
          <a:solidFill>
            <a:srgbClr val="F59E0B"/>
          </a:solidFill>
          <a:ln w="12700">
            <a:solidFill>
              <a:srgbClr val="F59E0B"/>
            </a:solidFill>
            <a:prstDash val="solid"/>
          </a:ln>
        </p:spPr>
        <p:txBody>
          <a:bodyPr/>
          <a:lstStyle/>
          <a:p>
            <a:endParaRPr lang="en-US"/>
          </a:p>
        </p:txBody>
      </p:sp>
      <p:sp>
        <p:nvSpPr>
          <p:cNvPr id="21" name="Shape 19"/>
          <p:cNvSpPr/>
          <p:nvPr/>
        </p:nvSpPr>
        <p:spPr>
          <a:xfrm>
            <a:off x="7040880" y="1527048"/>
            <a:ext cx="1737360" cy="219456"/>
          </a:xfrm>
          <a:prstGeom prst="rect">
            <a:avLst/>
          </a:prstGeom>
          <a:solidFill>
            <a:srgbClr val="F59E0B">
              <a:alpha val="18000"/>
            </a:srgbClr>
          </a:solidFill>
          <a:ln w="12700">
            <a:solidFill>
              <a:srgbClr val="F59E0B"/>
            </a:solidFill>
            <a:prstDash val="solid"/>
          </a:ln>
        </p:spPr>
        <p:txBody>
          <a:bodyPr/>
          <a:lstStyle/>
          <a:p>
            <a:endParaRPr lang="en-US"/>
          </a:p>
        </p:txBody>
      </p:sp>
      <p:sp>
        <p:nvSpPr>
          <p:cNvPr id="22" name="Text 20"/>
          <p:cNvSpPr/>
          <p:nvPr/>
        </p:nvSpPr>
        <p:spPr>
          <a:xfrm>
            <a:off x="7040880" y="1527048"/>
            <a:ext cx="1737360" cy="219456"/>
          </a:xfrm>
          <a:prstGeom prst="rect">
            <a:avLst/>
          </a:prstGeom>
          <a:noFill/>
          <a:ln/>
        </p:spPr>
        <p:txBody>
          <a:bodyPr wrap="square" lIns="0" tIns="0" rIns="0" bIns="0" rtlCol="0" anchor="ctr"/>
          <a:lstStyle/>
          <a:p>
            <a:pPr marL="0" indent="0" algn="ctr">
              <a:buNone/>
            </a:pPr>
            <a:r>
              <a:rPr lang="en-US" sz="1000" b="1" dirty="0">
                <a:solidFill>
                  <a:srgbClr val="F59E0B"/>
                </a:solidFill>
              </a:rPr>
              <a:t>QUALITATIVE OVERRIDE</a:t>
            </a:r>
            <a:endParaRPr lang="en-US" sz="1000" dirty="0"/>
          </a:p>
        </p:txBody>
      </p:sp>
      <p:sp>
        <p:nvSpPr>
          <p:cNvPr id="23" name="Text 21"/>
          <p:cNvSpPr/>
          <p:nvPr/>
        </p:nvSpPr>
        <p:spPr>
          <a:xfrm>
            <a:off x="475488" y="1527048"/>
            <a:ext cx="274320" cy="256032"/>
          </a:xfrm>
          <a:prstGeom prst="rect">
            <a:avLst/>
          </a:prstGeom>
          <a:noFill/>
          <a:ln/>
        </p:spPr>
        <p:txBody>
          <a:bodyPr wrap="square" lIns="0" tIns="0" rIns="0" bIns="0" rtlCol="0" anchor="ctr"/>
          <a:lstStyle/>
          <a:p>
            <a:pPr marL="0" indent="0">
              <a:buNone/>
            </a:pPr>
            <a:r>
              <a:rPr lang="en-US" sz="1000" b="1" dirty="0">
                <a:solidFill>
                  <a:srgbClr val="F59E0B"/>
                </a:solidFill>
              </a:rPr>
              <a:t>Q2</a:t>
            </a:r>
            <a:endParaRPr lang="en-US" sz="1000" dirty="0"/>
          </a:p>
        </p:txBody>
      </p:sp>
      <p:sp>
        <p:nvSpPr>
          <p:cNvPr id="24" name="Text 22"/>
          <p:cNvSpPr/>
          <p:nvPr/>
        </p:nvSpPr>
        <p:spPr>
          <a:xfrm>
            <a:off x="804672" y="1508760"/>
            <a:ext cx="6144768" cy="256032"/>
          </a:xfrm>
          <a:prstGeom prst="rect">
            <a:avLst/>
          </a:prstGeom>
          <a:noFill/>
          <a:ln/>
        </p:spPr>
        <p:txBody>
          <a:bodyPr wrap="square" lIns="0" tIns="0" rIns="0" bIns="0" rtlCol="0" anchor="ctr"/>
          <a:lstStyle/>
          <a:p>
            <a:pPr marL="0" indent="0">
              <a:buNone/>
            </a:pPr>
            <a:r>
              <a:rPr lang="en-US" sz="1200" b="1" i="1" dirty="0">
                <a:solidFill>
                  <a:srgbClr val="FFFFFF"/>
                </a:solidFill>
              </a:rPr>
              <a:t>100ha farm in Darwin, scorching hot and perfectly clear day, what's my yield?</a:t>
            </a:r>
            <a:endParaRPr lang="en-US" sz="1200" dirty="0"/>
          </a:p>
        </p:txBody>
      </p:sp>
      <p:sp>
        <p:nvSpPr>
          <p:cNvPr id="25" name="Text 23"/>
          <p:cNvSpPr/>
          <p:nvPr/>
        </p:nvSpPr>
        <p:spPr>
          <a:xfrm>
            <a:off x="804672" y="1792224"/>
            <a:ext cx="6144768" cy="402336"/>
          </a:xfrm>
          <a:prstGeom prst="rect">
            <a:avLst/>
          </a:prstGeom>
          <a:noFill/>
          <a:ln/>
        </p:spPr>
        <p:txBody>
          <a:bodyPr wrap="square" lIns="0" tIns="0" rIns="0" bIns="0" rtlCol="0" anchor="ctr"/>
          <a:lstStyle/>
          <a:p>
            <a:pPr marL="0" indent="0">
              <a:buNone/>
            </a:pPr>
            <a:r>
              <a:rPr lang="en-US" sz="1000" dirty="0">
                <a:solidFill>
                  <a:srgbClr val="8A99C0"/>
                </a:solidFill>
              </a:rPr>
              <a:t>Tests qualitative weather inference. Agent fetches Darwin yearly baseline → overrides fields from description (high MaxTemp, high Sunshine, low Cloud, low Humidity).</a:t>
            </a:r>
            <a:endParaRPr lang="en-US" sz="1000" dirty="0"/>
          </a:p>
        </p:txBody>
      </p:sp>
      <p:sp>
        <p:nvSpPr>
          <p:cNvPr id="26" name="Shape 24"/>
          <p:cNvSpPr/>
          <p:nvPr/>
        </p:nvSpPr>
        <p:spPr>
          <a:xfrm>
            <a:off x="274320" y="2322576"/>
            <a:ext cx="8595360" cy="749808"/>
          </a:xfrm>
          <a:prstGeom prst="rect">
            <a:avLst/>
          </a:prstGeom>
          <a:solidFill>
            <a:srgbClr val="111838"/>
          </a:solidFill>
          <a:ln w="12700">
            <a:solidFill>
              <a:srgbClr val="1E2A5A"/>
            </a:solidFill>
            <a:prstDash val="solid"/>
          </a:ln>
        </p:spPr>
        <p:txBody>
          <a:bodyPr/>
          <a:lstStyle/>
          <a:p>
            <a:endParaRPr lang="en-US"/>
          </a:p>
        </p:txBody>
      </p:sp>
      <p:sp>
        <p:nvSpPr>
          <p:cNvPr id="27" name="Shape 25"/>
          <p:cNvSpPr/>
          <p:nvPr/>
        </p:nvSpPr>
        <p:spPr>
          <a:xfrm>
            <a:off x="274320" y="2322576"/>
            <a:ext cx="54864" cy="749808"/>
          </a:xfrm>
          <a:prstGeom prst="rect">
            <a:avLst/>
          </a:prstGeom>
          <a:solidFill>
            <a:srgbClr val="7C3AED"/>
          </a:solidFill>
          <a:ln w="12700">
            <a:solidFill>
              <a:srgbClr val="7C3AED"/>
            </a:solidFill>
            <a:prstDash val="solid"/>
          </a:ln>
        </p:spPr>
        <p:txBody>
          <a:bodyPr/>
          <a:lstStyle/>
          <a:p>
            <a:endParaRPr lang="en-US"/>
          </a:p>
        </p:txBody>
      </p:sp>
      <p:sp>
        <p:nvSpPr>
          <p:cNvPr id="28" name="Shape 26"/>
          <p:cNvSpPr/>
          <p:nvPr/>
        </p:nvSpPr>
        <p:spPr>
          <a:xfrm>
            <a:off x="7040880" y="2377440"/>
            <a:ext cx="1737360" cy="219456"/>
          </a:xfrm>
          <a:prstGeom prst="rect">
            <a:avLst/>
          </a:prstGeom>
          <a:solidFill>
            <a:srgbClr val="7C3AED">
              <a:alpha val="18000"/>
            </a:srgbClr>
          </a:solidFill>
          <a:ln w="12700">
            <a:solidFill>
              <a:srgbClr val="7C3AED"/>
            </a:solidFill>
            <a:prstDash val="solid"/>
          </a:ln>
        </p:spPr>
        <p:txBody>
          <a:bodyPr/>
          <a:lstStyle/>
          <a:p>
            <a:endParaRPr lang="en-US"/>
          </a:p>
        </p:txBody>
      </p:sp>
      <p:sp>
        <p:nvSpPr>
          <p:cNvPr id="29" name="Text 27"/>
          <p:cNvSpPr/>
          <p:nvPr/>
        </p:nvSpPr>
        <p:spPr>
          <a:xfrm>
            <a:off x="7040880" y="2377440"/>
            <a:ext cx="1737360" cy="219456"/>
          </a:xfrm>
          <a:prstGeom prst="rect">
            <a:avLst/>
          </a:prstGeom>
          <a:noFill/>
          <a:ln/>
        </p:spPr>
        <p:txBody>
          <a:bodyPr wrap="square" lIns="0" tIns="0" rIns="0" bIns="0" rtlCol="0" anchor="ctr"/>
          <a:lstStyle/>
          <a:p>
            <a:pPr marL="0" indent="0" algn="ctr">
              <a:buNone/>
            </a:pPr>
            <a:r>
              <a:rPr lang="en-US" sz="1000" b="1" dirty="0">
                <a:solidFill>
                  <a:srgbClr val="7C3AED"/>
                </a:solidFill>
              </a:rPr>
              <a:t>ADVERSE WEATHER</a:t>
            </a:r>
            <a:endParaRPr lang="en-US" sz="1000" dirty="0"/>
          </a:p>
        </p:txBody>
      </p:sp>
      <p:sp>
        <p:nvSpPr>
          <p:cNvPr id="30" name="Text 28"/>
          <p:cNvSpPr/>
          <p:nvPr/>
        </p:nvSpPr>
        <p:spPr>
          <a:xfrm>
            <a:off x="475488" y="2377440"/>
            <a:ext cx="274320" cy="256032"/>
          </a:xfrm>
          <a:prstGeom prst="rect">
            <a:avLst/>
          </a:prstGeom>
          <a:noFill/>
          <a:ln/>
        </p:spPr>
        <p:txBody>
          <a:bodyPr wrap="square" lIns="0" tIns="0" rIns="0" bIns="0" rtlCol="0" anchor="ctr"/>
          <a:lstStyle/>
          <a:p>
            <a:pPr marL="0" indent="0">
              <a:buNone/>
            </a:pPr>
            <a:r>
              <a:rPr lang="en-US" sz="1000" b="1" dirty="0">
                <a:solidFill>
                  <a:srgbClr val="7C3AED"/>
                </a:solidFill>
              </a:rPr>
              <a:t>Q3</a:t>
            </a:r>
            <a:endParaRPr lang="en-US" sz="1000" dirty="0"/>
          </a:p>
        </p:txBody>
      </p:sp>
      <p:sp>
        <p:nvSpPr>
          <p:cNvPr id="31" name="Text 29"/>
          <p:cNvSpPr/>
          <p:nvPr/>
        </p:nvSpPr>
        <p:spPr>
          <a:xfrm>
            <a:off x="804672" y="2359152"/>
            <a:ext cx="6144768" cy="256032"/>
          </a:xfrm>
          <a:prstGeom prst="rect">
            <a:avLst/>
          </a:prstGeom>
          <a:noFill/>
          <a:ln/>
        </p:spPr>
        <p:txBody>
          <a:bodyPr wrap="square" lIns="0" tIns="0" rIns="0" bIns="0" rtlCol="0" anchor="ctr"/>
          <a:lstStyle/>
          <a:p>
            <a:pPr marL="0" indent="0">
              <a:buNone/>
            </a:pPr>
            <a:r>
              <a:rPr lang="en-US" sz="1200" b="1" i="1" dirty="0">
                <a:solidFill>
                  <a:srgbClr val="FFFFFF"/>
                </a:solidFill>
              </a:rPr>
              <a:t>Heavy storms expected in Melbourne next Monday for my 75ha farm. How bad is my yield?</a:t>
            </a:r>
            <a:endParaRPr lang="en-US" sz="1200" dirty="0"/>
          </a:p>
        </p:txBody>
      </p:sp>
      <p:sp>
        <p:nvSpPr>
          <p:cNvPr id="32" name="Text 30"/>
          <p:cNvSpPr/>
          <p:nvPr/>
        </p:nvSpPr>
        <p:spPr>
          <a:xfrm>
            <a:off x="804672" y="2642616"/>
            <a:ext cx="6144768" cy="402336"/>
          </a:xfrm>
          <a:prstGeom prst="rect">
            <a:avLst/>
          </a:prstGeom>
          <a:noFill/>
          <a:ln/>
        </p:spPr>
        <p:txBody>
          <a:bodyPr wrap="square" lIns="0" tIns="0" rIns="0" bIns="0" rtlCol="0" anchor="ctr"/>
          <a:lstStyle/>
          <a:p>
            <a:pPr marL="0" indent="0">
              <a:buNone/>
            </a:pPr>
            <a:r>
              <a:rPr lang="en-US" sz="1000" dirty="0">
                <a:solidFill>
                  <a:srgbClr val="8A99C0"/>
                </a:solidFill>
              </a:rPr>
              <a:t>Tests negative weather scenario. Agent resolves 'next Monday' → overrides storm-correlated fields (near-zero Sunshine, max Cloud, high Humidity, high Rainfall).</a:t>
            </a:r>
            <a:endParaRPr lang="en-US" sz="1000" dirty="0"/>
          </a:p>
        </p:txBody>
      </p:sp>
      <p:sp>
        <p:nvSpPr>
          <p:cNvPr id="33" name="Shape 31"/>
          <p:cNvSpPr/>
          <p:nvPr/>
        </p:nvSpPr>
        <p:spPr>
          <a:xfrm>
            <a:off x="274320" y="3172968"/>
            <a:ext cx="8595360" cy="749808"/>
          </a:xfrm>
          <a:prstGeom prst="rect">
            <a:avLst/>
          </a:prstGeom>
          <a:solidFill>
            <a:srgbClr val="111838"/>
          </a:solidFill>
          <a:ln w="12700">
            <a:solidFill>
              <a:srgbClr val="1E2A5A"/>
            </a:solidFill>
            <a:prstDash val="solid"/>
          </a:ln>
        </p:spPr>
        <p:txBody>
          <a:bodyPr/>
          <a:lstStyle/>
          <a:p>
            <a:endParaRPr lang="en-US"/>
          </a:p>
        </p:txBody>
      </p:sp>
      <p:sp>
        <p:nvSpPr>
          <p:cNvPr id="34" name="Shape 32"/>
          <p:cNvSpPr/>
          <p:nvPr/>
        </p:nvSpPr>
        <p:spPr>
          <a:xfrm>
            <a:off x="274320" y="3172968"/>
            <a:ext cx="54864" cy="749808"/>
          </a:xfrm>
          <a:prstGeom prst="rect">
            <a:avLst/>
          </a:prstGeom>
          <a:solidFill>
            <a:srgbClr val="10B981"/>
          </a:solidFill>
          <a:ln w="12700">
            <a:solidFill>
              <a:srgbClr val="10B981"/>
            </a:solidFill>
            <a:prstDash val="solid"/>
          </a:ln>
        </p:spPr>
        <p:txBody>
          <a:bodyPr/>
          <a:lstStyle/>
          <a:p>
            <a:endParaRPr lang="en-US"/>
          </a:p>
        </p:txBody>
      </p:sp>
      <p:sp>
        <p:nvSpPr>
          <p:cNvPr id="35" name="Shape 33"/>
          <p:cNvSpPr/>
          <p:nvPr/>
        </p:nvSpPr>
        <p:spPr>
          <a:xfrm>
            <a:off x="7040880" y="3227832"/>
            <a:ext cx="1737360" cy="219456"/>
          </a:xfrm>
          <a:prstGeom prst="rect">
            <a:avLst/>
          </a:prstGeom>
          <a:solidFill>
            <a:srgbClr val="10B981">
              <a:alpha val="18000"/>
            </a:srgbClr>
          </a:solidFill>
          <a:ln w="12700">
            <a:solidFill>
              <a:srgbClr val="10B981"/>
            </a:solidFill>
            <a:prstDash val="solid"/>
          </a:ln>
        </p:spPr>
        <p:txBody>
          <a:bodyPr/>
          <a:lstStyle/>
          <a:p>
            <a:endParaRPr lang="en-US"/>
          </a:p>
        </p:txBody>
      </p:sp>
      <p:sp>
        <p:nvSpPr>
          <p:cNvPr id="36" name="Text 34"/>
          <p:cNvSpPr/>
          <p:nvPr/>
        </p:nvSpPr>
        <p:spPr>
          <a:xfrm>
            <a:off x="7040880" y="3227832"/>
            <a:ext cx="1737360" cy="219456"/>
          </a:xfrm>
          <a:prstGeom prst="rect">
            <a:avLst/>
          </a:prstGeom>
          <a:noFill/>
          <a:ln/>
        </p:spPr>
        <p:txBody>
          <a:bodyPr wrap="square" lIns="0" tIns="0" rIns="0" bIns="0" rtlCol="0" anchor="ctr"/>
          <a:lstStyle/>
          <a:p>
            <a:pPr marL="0" indent="0" algn="ctr">
              <a:buNone/>
            </a:pPr>
            <a:r>
              <a:rPr lang="en-US" sz="1000" b="1" dirty="0">
                <a:solidFill>
                  <a:srgbClr val="10B981"/>
                </a:solidFill>
              </a:rPr>
              <a:t>MULTI-CITY COMPARE</a:t>
            </a:r>
            <a:endParaRPr lang="en-US" sz="1000" dirty="0"/>
          </a:p>
        </p:txBody>
      </p:sp>
      <p:sp>
        <p:nvSpPr>
          <p:cNvPr id="37" name="Text 35"/>
          <p:cNvSpPr/>
          <p:nvPr/>
        </p:nvSpPr>
        <p:spPr>
          <a:xfrm>
            <a:off x="475488" y="3227832"/>
            <a:ext cx="274320" cy="256032"/>
          </a:xfrm>
          <a:prstGeom prst="rect">
            <a:avLst/>
          </a:prstGeom>
          <a:noFill/>
          <a:ln/>
        </p:spPr>
        <p:txBody>
          <a:bodyPr wrap="square" lIns="0" tIns="0" rIns="0" bIns="0" rtlCol="0" anchor="ctr"/>
          <a:lstStyle/>
          <a:p>
            <a:pPr marL="0" indent="0">
              <a:buNone/>
            </a:pPr>
            <a:r>
              <a:rPr lang="en-US" sz="1000" b="1" dirty="0">
                <a:solidFill>
                  <a:srgbClr val="10B981"/>
                </a:solidFill>
              </a:rPr>
              <a:t>Q4</a:t>
            </a:r>
            <a:endParaRPr lang="en-US" sz="1000" dirty="0"/>
          </a:p>
        </p:txBody>
      </p:sp>
      <p:sp>
        <p:nvSpPr>
          <p:cNvPr id="38" name="Text 36"/>
          <p:cNvSpPr/>
          <p:nvPr/>
        </p:nvSpPr>
        <p:spPr>
          <a:xfrm>
            <a:off x="804672" y="3209544"/>
            <a:ext cx="6144768" cy="256032"/>
          </a:xfrm>
          <a:prstGeom prst="rect">
            <a:avLst/>
          </a:prstGeom>
          <a:noFill/>
          <a:ln/>
        </p:spPr>
        <p:txBody>
          <a:bodyPr wrap="square" lIns="0" tIns="0" rIns="0" bIns="0" rtlCol="0" anchor="ctr"/>
          <a:lstStyle/>
          <a:p>
            <a:pPr marL="0" indent="0">
              <a:buNone/>
            </a:pPr>
            <a:r>
              <a:rPr lang="en-US" sz="1200" b="1" i="1" dirty="0">
                <a:solidFill>
                  <a:srgbClr val="FFFFFF"/>
                </a:solidFill>
              </a:rPr>
              <a:t>Best city for a 100ha solar farm, Alice Springs or Melbourne? And why?</a:t>
            </a:r>
            <a:endParaRPr lang="en-US" sz="1200" dirty="0"/>
          </a:p>
        </p:txBody>
      </p:sp>
      <p:sp>
        <p:nvSpPr>
          <p:cNvPr id="39" name="Text 37"/>
          <p:cNvSpPr/>
          <p:nvPr/>
        </p:nvSpPr>
        <p:spPr>
          <a:xfrm>
            <a:off x="804672" y="3493008"/>
            <a:ext cx="6144768" cy="402336"/>
          </a:xfrm>
          <a:prstGeom prst="rect">
            <a:avLst/>
          </a:prstGeom>
          <a:noFill/>
          <a:ln/>
        </p:spPr>
        <p:txBody>
          <a:bodyPr wrap="square" lIns="0" tIns="0" rIns="0" bIns="0" rtlCol="0" anchor="ctr"/>
          <a:lstStyle/>
          <a:p>
            <a:pPr marL="0" indent="0">
              <a:buNone/>
            </a:pPr>
            <a:r>
              <a:rPr lang="en-US" sz="1000" dirty="0">
                <a:solidFill>
                  <a:srgbClr val="8A99C0"/>
                </a:solidFill>
              </a:rPr>
              <a:t>Tests multi-city comparison requiring two sequential tool call pairs. Agent explains difference in terms of latitude, sunshine hours, cloud cover — not just two numbers.</a:t>
            </a:r>
            <a:endParaRPr lang="en-US" sz="1000" dirty="0"/>
          </a:p>
        </p:txBody>
      </p:sp>
      <p:sp>
        <p:nvSpPr>
          <p:cNvPr id="40" name="Shape 38"/>
          <p:cNvSpPr/>
          <p:nvPr/>
        </p:nvSpPr>
        <p:spPr>
          <a:xfrm>
            <a:off x="274320" y="4023360"/>
            <a:ext cx="8595360" cy="749808"/>
          </a:xfrm>
          <a:prstGeom prst="rect">
            <a:avLst/>
          </a:prstGeom>
          <a:solidFill>
            <a:srgbClr val="111838"/>
          </a:solidFill>
          <a:ln w="12700">
            <a:solidFill>
              <a:srgbClr val="1E2A5A"/>
            </a:solidFill>
            <a:prstDash val="solid"/>
          </a:ln>
        </p:spPr>
        <p:txBody>
          <a:bodyPr/>
          <a:lstStyle/>
          <a:p>
            <a:endParaRPr lang="en-US"/>
          </a:p>
        </p:txBody>
      </p:sp>
      <p:sp>
        <p:nvSpPr>
          <p:cNvPr id="41" name="Shape 39"/>
          <p:cNvSpPr/>
          <p:nvPr/>
        </p:nvSpPr>
        <p:spPr>
          <a:xfrm>
            <a:off x="274320" y="4023360"/>
            <a:ext cx="54864" cy="749808"/>
          </a:xfrm>
          <a:prstGeom prst="rect">
            <a:avLst/>
          </a:prstGeom>
          <a:solidFill>
            <a:srgbClr val="9B59D6"/>
          </a:solidFill>
          <a:ln w="12700">
            <a:solidFill>
              <a:srgbClr val="9B59D6"/>
            </a:solidFill>
            <a:prstDash val="solid"/>
          </a:ln>
        </p:spPr>
        <p:txBody>
          <a:bodyPr/>
          <a:lstStyle/>
          <a:p>
            <a:endParaRPr lang="en-US"/>
          </a:p>
        </p:txBody>
      </p:sp>
      <p:sp>
        <p:nvSpPr>
          <p:cNvPr id="42" name="Shape 40"/>
          <p:cNvSpPr/>
          <p:nvPr/>
        </p:nvSpPr>
        <p:spPr>
          <a:xfrm>
            <a:off x="7040880" y="4078224"/>
            <a:ext cx="1737360" cy="219456"/>
          </a:xfrm>
          <a:prstGeom prst="rect">
            <a:avLst/>
          </a:prstGeom>
          <a:solidFill>
            <a:srgbClr val="9B59D6">
              <a:alpha val="18000"/>
            </a:srgbClr>
          </a:solidFill>
          <a:ln w="12700">
            <a:solidFill>
              <a:srgbClr val="9B59D6"/>
            </a:solidFill>
            <a:prstDash val="solid"/>
          </a:ln>
        </p:spPr>
        <p:txBody>
          <a:bodyPr/>
          <a:lstStyle/>
          <a:p>
            <a:endParaRPr lang="en-US"/>
          </a:p>
        </p:txBody>
      </p:sp>
      <p:sp>
        <p:nvSpPr>
          <p:cNvPr id="43" name="Text 41"/>
          <p:cNvSpPr/>
          <p:nvPr/>
        </p:nvSpPr>
        <p:spPr>
          <a:xfrm>
            <a:off x="7040880" y="4078224"/>
            <a:ext cx="1737360" cy="219456"/>
          </a:xfrm>
          <a:prstGeom prst="rect">
            <a:avLst/>
          </a:prstGeom>
          <a:noFill/>
          <a:ln/>
        </p:spPr>
        <p:txBody>
          <a:bodyPr wrap="square" lIns="0" tIns="0" rIns="0" bIns="0" rtlCol="0" anchor="ctr"/>
          <a:lstStyle/>
          <a:p>
            <a:pPr marL="0" indent="0" algn="ctr">
              <a:buNone/>
            </a:pPr>
            <a:r>
              <a:rPr lang="en-US" sz="1000" b="1" dirty="0">
                <a:solidFill>
                  <a:srgbClr val="9B59D6"/>
                </a:solidFill>
              </a:rPr>
              <a:t>SELF-AWARENESS</a:t>
            </a:r>
            <a:endParaRPr lang="en-US" sz="1000" dirty="0"/>
          </a:p>
        </p:txBody>
      </p:sp>
      <p:sp>
        <p:nvSpPr>
          <p:cNvPr id="44" name="Text 42"/>
          <p:cNvSpPr/>
          <p:nvPr/>
        </p:nvSpPr>
        <p:spPr>
          <a:xfrm>
            <a:off x="475488" y="4078224"/>
            <a:ext cx="274320" cy="256032"/>
          </a:xfrm>
          <a:prstGeom prst="rect">
            <a:avLst/>
          </a:prstGeom>
          <a:noFill/>
          <a:ln/>
        </p:spPr>
        <p:txBody>
          <a:bodyPr wrap="square" lIns="0" tIns="0" rIns="0" bIns="0" rtlCol="0" anchor="ctr"/>
          <a:lstStyle/>
          <a:p>
            <a:pPr marL="0" indent="0">
              <a:buNone/>
            </a:pPr>
            <a:r>
              <a:rPr lang="en-US" sz="1000" b="1" dirty="0">
                <a:solidFill>
                  <a:srgbClr val="9B59D6"/>
                </a:solidFill>
              </a:rPr>
              <a:t>Q5</a:t>
            </a:r>
            <a:endParaRPr lang="en-US" sz="1000" dirty="0"/>
          </a:p>
        </p:txBody>
      </p:sp>
      <p:sp>
        <p:nvSpPr>
          <p:cNvPr id="45" name="Text 43"/>
          <p:cNvSpPr/>
          <p:nvPr/>
        </p:nvSpPr>
        <p:spPr>
          <a:xfrm>
            <a:off x="804672" y="4059936"/>
            <a:ext cx="6144768" cy="256032"/>
          </a:xfrm>
          <a:prstGeom prst="rect">
            <a:avLst/>
          </a:prstGeom>
          <a:noFill/>
          <a:ln/>
        </p:spPr>
        <p:txBody>
          <a:bodyPr wrap="square" lIns="0" tIns="0" rIns="0" bIns="0" rtlCol="0" anchor="ctr"/>
          <a:lstStyle/>
          <a:p>
            <a:pPr marL="0" indent="0">
              <a:buNone/>
            </a:pPr>
            <a:r>
              <a:rPr lang="en-US" sz="1200" b="1" i="1" dirty="0">
                <a:solidFill>
                  <a:srgbClr val="FFFFFF"/>
                </a:solidFill>
              </a:rPr>
              <a:t>Can you explain how my daily solar yield is actually calculated?</a:t>
            </a:r>
            <a:endParaRPr lang="en-US" sz="1200" dirty="0"/>
          </a:p>
        </p:txBody>
      </p:sp>
      <p:sp>
        <p:nvSpPr>
          <p:cNvPr id="46" name="Text 44"/>
          <p:cNvSpPr/>
          <p:nvPr/>
        </p:nvSpPr>
        <p:spPr>
          <a:xfrm>
            <a:off x="804672" y="4343400"/>
            <a:ext cx="6144768" cy="402336"/>
          </a:xfrm>
          <a:prstGeom prst="rect">
            <a:avLst/>
          </a:prstGeom>
          <a:noFill/>
          <a:ln/>
        </p:spPr>
        <p:txBody>
          <a:bodyPr wrap="square" lIns="0" tIns="0" rIns="0" bIns="0" rtlCol="0" anchor="ctr"/>
          <a:lstStyle/>
          <a:p>
            <a:pPr marL="0" indent="0">
              <a:buNone/>
            </a:pPr>
            <a:r>
              <a:rPr lang="en-US" sz="1000" dirty="0">
                <a:solidFill>
                  <a:srgbClr val="8A99C0"/>
                </a:solidFill>
              </a:rPr>
              <a:t>Tests system self-awareness — no tool calls expected. Agent explains: weather features → XGBoost → PVOUT → yield formula, and notes theoretical maximum before performance ratio.</a:t>
            </a:r>
            <a:endParaRPr lang="en-US" sz="1000" dirty="0"/>
          </a:p>
        </p:txBody>
      </p:sp>
      <p:sp>
        <p:nvSpPr>
          <p:cNvPr id="7" name="Text 12">
            <a:extLst>
              <a:ext uri="{FF2B5EF4-FFF2-40B4-BE49-F238E27FC236}">
                <a16:creationId xmlns:a16="http://schemas.microsoft.com/office/drawing/2014/main" id="{5B650A8A-2398-1F03-5BB0-BD992006D2CA}"/>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7C3AED"/>
          </a:solidFill>
          <a:ln w="12700">
            <a:solidFill>
              <a:srgbClr val="7C3AED"/>
            </a:solidFill>
            <a:prstDash val="solid"/>
          </a:ln>
        </p:spPr>
        <p:txBody>
          <a:bodyPr/>
          <a:lstStyle/>
          <a:p>
            <a:endParaRPr lang="en-US"/>
          </a:p>
        </p:txBody>
      </p:sp>
      <p:sp>
        <p:nvSpPr>
          <p:cNvPr id="3" name="Shape 1"/>
          <p:cNvSpPr/>
          <p:nvPr/>
        </p:nvSpPr>
        <p:spPr>
          <a:xfrm>
            <a:off x="5029200" y="-914400"/>
            <a:ext cx="5486400" cy="5486400"/>
          </a:xfrm>
          <a:prstGeom prst="line">
            <a:avLst/>
          </a:prstGeom>
          <a:solidFill>
            <a:srgbClr val="7C3AED">
              <a:alpha val="7000"/>
            </a:srgbClr>
          </a:solidFill>
          <a:ln w="12700">
            <a:solidFill>
              <a:srgbClr val="7C3AED">
                <a:alpha val="30000"/>
              </a:srgbClr>
            </a:solidFill>
            <a:prstDash val="solid"/>
          </a:ln>
        </p:spPr>
        <p:txBody>
          <a:bodyPr/>
          <a:lstStyle/>
          <a:p>
            <a:endParaRPr lang="en-US"/>
          </a:p>
        </p:txBody>
      </p:sp>
      <p:sp>
        <p:nvSpPr>
          <p:cNvPr id="4" name="Shape 2"/>
          <p:cNvSpPr/>
          <p:nvPr/>
        </p:nvSpPr>
        <p:spPr>
          <a:xfrm>
            <a:off x="5943600" y="457200"/>
            <a:ext cx="2743200" cy="2743200"/>
          </a:xfrm>
          <a:prstGeom prst="line">
            <a:avLst/>
          </a:prstGeom>
          <a:solidFill>
            <a:srgbClr val="7C3AED">
              <a:alpha val="4000"/>
            </a:srgbClr>
          </a:solidFill>
          <a:ln w="12700">
            <a:solidFill>
              <a:srgbClr val="7C3AED">
                <a:alpha val="20000"/>
              </a:srgbClr>
            </a:solidFill>
            <a:prstDash val="solid"/>
          </a:ln>
        </p:spPr>
        <p:txBody>
          <a:bodyPr/>
          <a:lstStyle/>
          <a:p>
            <a:endParaRPr lang="en-US"/>
          </a:p>
        </p:txBody>
      </p:sp>
      <p:sp>
        <p:nvSpPr>
          <p:cNvPr id="5" name="Shape 3"/>
          <p:cNvSpPr/>
          <p:nvPr/>
        </p:nvSpPr>
        <p:spPr>
          <a:xfrm>
            <a:off x="457200" y="1371600"/>
            <a:ext cx="1371600" cy="1371600"/>
          </a:xfrm>
          <a:prstGeom prst="rect">
            <a:avLst/>
          </a:prstGeom>
          <a:solidFill>
            <a:srgbClr val="7C3AED">
              <a:alpha val="15000"/>
            </a:srgbClr>
          </a:solidFill>
          <a:ln w="12700">
            <a:solidFill>
              <a:srgbClr val="7C3AED"/>
            </a:solidFill>
            <a:prstDash val="solid"/>
          </a:ln>
        </p:spPr>
        <p:txBody>
          <a:bodyPr/>
          <a:lstStyle/>
          <a:p>
            <a:endParaRPr lang="en-US"/>
          </a:p>
        </p:txBody>
      </p:sp>
      <p:sp>
        <p:nvSpPr>
          <p:cNvPr id="6" name="Text 4"/>
          <p:cNvSpPr/>
          <p:nvPr/>
        </p:nvSpPr>
        <p:spPr>
          <a:xfrm>
            <a:off x="457200" y="1371600"/>
            <a:ext cx="1371600" cy="1371600"/>
          </a:xfrm>
          <a:prstGeom prst="rect">
            <a:avLst/>
          </a:prstGeom>
          <a:noFill/>
          <a:ln/>
        </p:spPr>
        <p:txBody>
          <a:bodyPr wrap="square" lIns="0" tIns="0" rIns="0" bIns="0" rtlCol="0" anchor="ctr"/>
          <a:lstStyle/>
          <a:p>
            <a:pPr marL="0" indent="0" algn="ctr">
              <a:buNone/>
            </a:pPr>
            <a:r>
              <a:rPr lang="en-US" sz="4400" b="1" dirty="0">
                <a:solidFill>
                  <a:srgbClr val="9B59D6"/>
                </a:solidFill>
                <a:latin typeface="Trebuchet MS" pitchFamily="34" charset="0"/>
                <a:ea typeface="Trebuchet MS" pitchFamily="34" charset="-122"/>
                <a:cs typeface="Trebuchet MS" pitchFamily="34" charset="-120"/>
              </a:rPr>
              <a:t>02</a:t>
            </a:r>
            <a:endParaRPr lang="en-US" sz="4400" dirty="0"/>
          </a:p>
        </p:txBody>
      </p:sp>
      <p:sp>
        <p:nvSpPr>
          <p:cNvPr id="7" name="Text 5"/>
          <p:cNvSpPr/>
          <p:nvPr/>
        </p:nvSpPr>
        <p:spPr>
          <a:xfrm>
            <a:off x="2011680" y="1463040"/>
            <a:ext cx="4572000" cy="365760"/>
          </a:xfrm>
          <a:prstGeom prst="rect">
            <a:avLst/>
          </a:prstGeom>
          <a:noFill/>
          <a:ln/>
        </p:spPr>
        <p:txBody>
          <a:bodyPr wrap="square" lIns="0" tIns="0" rIns="0" bIns="0" rtlCol="0" anchor="ctr"/>
          <a:lstStyle/>
          <a:p>
            <a:pPr marL="0" indent="0">
              <a:buNone/>
            </a:pPr>
            <a:r>
              <a:rPr lang="en-US" sz="1100" b="1" kern="0" spc="400" dirty="0">
                <a:solidFill>
                  <a:srgbClr val="9B59D6"/>
                </a:solidFill>
                <a:latin typeface="Trebuchet MS" pitchFamily="34" charset="0"/>
                <a:ea typeface="Trebuchet MS" pitchFamily="34" charset="-122"/>
                <a:cs typeface="Trebuchet MS" pitchFamily="34" charset="-120"/>
              </a:rPr>
              <a:t>CHALLENGE</a:t>
            </a:r>
            <a:endParaRPr lang="en-US" sz="1100" dirty="0"/>
          </a:p>
        </p:txBody>
      </p:sp>
      <p:sp>
        <p:nvSpPr>
          <p:cNvPr id="8" name="Text 6"/>
          <p:cNvSpPr/>
          <p:nvPr/>
        </p:nvSpPr>
        <p:spPr>
          <a:xfrm>
            <a:off x="2011680" y="1874520"/>
            <a:ext cx="6858000" cy="59436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Extracting Data From Receipts</a:t>
            </a:r>
            <a:endParaRPr lang="en-US" sz="3200" dirty="0"/>
          </a:p>
        </p:txBody>
      </p:sp>
      <p:sp>
        <p:nvSpPr>
          <p:cNvPr id="9" name="Text 7"/>
          <p:cNvSpPr/>
          <p:nvPr/>
        </p:nvSpPr>
        <p:spPr>
          <a:xfrm>
            <a:off x="2011680" y="2542032"/>
            <a:ext cx="6400800" cy="274320"/>
          </a:xfrm>
          <a:prstGeom prst="rect">
            <a:avLst/>
          </a:prstGeom>
          <a:noFill/>
          <a:ln/>
        </p:spPr>
        <p:txBody>
          <a:bodyPr wrap="square" lIns="0" tIns="0" rIns="0" bIns="0" rtlCol="0" anchor="ctr"/>
          <a:lstStyle/>
          <a:p>
            <a:pPr marL="0" indent="0">
              <a:buNone/>
            </a:pPr>
            <a:r>
              <a:rPr lang="en-US" sz="1000" dirty="0">
                <a:solidFill>
                  <a:srgbClr val="8A99C0"/>
                </a:solidFill>
                <a:latin typeface="Trebuchet MS" pitchFamily="34" charset="0"/>
                <a:ea typeface="Trebuchet MS" pitchFamily="34" charset="-122"/>
                <a:cs typeface="Trebuchet MS" pitchFamily="34" charset="-120"/>
              </a:rPr>
              <a:t>Computer Vision  ·  EasyOCR  ·  Gemini 2.5 Flash  ·  LangGraph  ·  Gradio  ·  Docker</a:t>
            </a:r>
            <a:endParaRPr lang="en-US" sz="1000" dirty="0"/>
          </a:p>
        </p:txBody>
      </p:sp>
      <p:sp>
        <p:nvSpPr>
          <p:cNvPr id="10" name="Shape 8"/>
          <p:cNvSpPr/>
          <p:nvPr/>
        </p:nvSpPr>
        <p:spPr>
          <a:xfrm>
            <a:off x="2011680" y="2926080"/>
            <a:ext cx="3657600" cy="32004"/>
          </a:xfrm>
          <a:prstGeom prst="rect">
            <a:avLst/>
          </a:prstGeom>
          <a:solidFill>
            <a:srgbClr val="7C3AED"/>
          </a:solidFill>
          <a:ln w="12700">
            <a:solidFill>
              <a:srgbClr val="7C3AED"/>
            </a:solidFill>
            <a:prstDash val="solid"/>
          </a:ln>
        </p:spPr>
        <p:txBody>
          <a:bodyPr/>
          <a:lstStyle/>
          <a:p>
            <a:endParaRPr lang="en-US"/>
          </a:p>
        </p:txBody>
      </p:sp>
      <p:sp>
        <p:nvSpPr>
          <p:cNvPr id="11" name="Text 9"/>
          <p:cNvSpPr/>
          <p:nvPr/>
        </p:nvSpPr>
        <p:spPr>
          <a:xfrm>
            <a:off x="2011680" y="3063240"/>
            <a:ext cx="4572000" cy="256032"/>
          </a:xfrm>
          <a:prstGeom prst="rect">
            <a:avLst/>
          </a:prstGeom>
          <a:noFill/>
          <a:ln/>
        </p:spPr>
        <p:txBody>
          <a:bodyPr wrap="square" lIns="0" tIns="0" rIns="0" bIns="0" rtlCol="0" anchor="ctr"/>
          <a:lstStyle/>
          <a:p>
            <a:pPr marL="0" indent="0">
              <a:buNone/>
            </a:pPr>
            <a:endParaRPr lang="en-US" sz="900" dirty="0"/>
          </a:p>
        </p:txBody>
      </p:sp>
      <p:sp>
        <p:nvSpPr>
          <p:cNvPr id="12" name="Shape 10"/>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13" name="Shape 11"/>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4" name="Text 12">
            <a:extLst>
              <a:ext uri="{FF2B5EF4-FFF2-40B4-BE49-F238E27FC236}">
                <a16:creationId xmlns:a16="http://schemas.microsoft.com/office/drawing/2014/main" id="{FB84AE8E-1FF5-777A-ADFE-8BED83FCCD05}"/>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The Problem: Automated Receipt Data Extraction</a:t>
            </a:r>
            <a:endParaRPr lang="en-US" sz="1700" dirty="0"/>
          </a:p>
        </p:txBody>
      </p:sp>
      <p:sp>
        <p:nvSpPr>
          <p:cNvPr id="5" name="Shape 3"/>
          <p:cNvSpPr/>
          <p:nvPr/>
        </p:nvSpPr>
        <p:spPr>
          <a:xfrm>
            <a:off x="6720840" y="109728"/>
            <a:ext cx="1234440" cy="274320"/>
          </a:xfrm>
          <a:prstGeom prst="rect">
            <a:avLst/>
          </a:prstGeom>
          <a:solidFill>
            <a:srgbClr val="7C3AED">
              <a:alpha val="22000"/>
            </a:srgbClr>
          </a:solidFill>
          <a:ln w="12700">
            <a:solidFill>
              <a:srgbClr val="7C3AED"/>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2</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658368"/>
            <a:ext cx="5120640" cy="1920240"/>
          </a:xfrm>
          <a:prstGeom prst="rect">
            <a:avLst/>
          </a:prstGeom>
          <a:solidFill>
            <a:srgbClr val="111838"/>
          </a:solidFill>
          <a:ln w="12700">
            <a:solidFill>
              <a:srgbClr val="1E2A5A"/>
            </a:solidFill>
            <a:prstDash val="solid"/>
          </a:ln>
        </p:spPr>
        <p:txBody>
          <a:bodyPr/>
          <a:lstStyle/>
          <a:p>
            <a:endParaRPr lang="en-US"/>
          </a:p>
        </p:txBody>
      </p:sp>
      <p:sp>
        <p:nvSpPr>
          <p:cNvPr id="13" name="Shape 11"/>
          <p:cNvSpPr/>
          <p:nvPr/>
        </p:nvSpPr>
        <p:spPr>
          <a:xfrm>
            <a:off x="274320" y="658368"/>
            <a:ext cx="54864" cy="1920240"/>
          </a:xfrm>
          <a:prstGeom prst="rect">
            <a:avLst/>
          </a:prstGeom>
          <a:solidFill>
            <a:srgbClr val="7C3AED"/>
          </a:solidFill>
          <a:ln w="12700">
            <a:solidFill>
              <a:srgbClr val="7C3AED"/>
            </a:solidFill>
            <a:prstDash val="solid"/>
          </a:ln>
        </p:spPr>
        <p:txBody>
          <a:bodyPr/>
          <a:lstStyle/>
          <a:p>
            <a:endParaRPr lang="en-US"/>
          </a:p>
        </p:txBody>
      </p:sp>
      <p:sp>
        <p:nvSpPr>
          <p:cNvPr id="14" name="Text 12"/>
          <p:cNvSpPr/>
          <p:nvPr/>
        </p:nvSpPr>
        <p:spPr>
          <a:xfrm>
            <a:off x="475488" y="713232"/>
            <a:ext cx="4754880" cy="256032"/>
          </a:xfrm>
          <a:prstGeom prst="rect">
            <a:avLst/>
          </a:prstGeom>
          <a:noFill/>
          <a:ln/>
        </p:spPr>
        <p:txBody>
          <a:bodyPr wrap="square" lIns="0" tIns="0" rIns="0" bIns="0" rtlCol="0" anchor="ctr"/>
          <a:lstStyle/>
          <a:p>
            <a:pPr marL="0" indent="0">
              <a:buNone/>
            </a:pPr>
            <a:r>
              <a:rPr lang="en-US" sz="1400" b="1" dirty="0">
                <a:solidFill>
                  <a:srgbClr val="9B59D6"/>
                </a:solidFill>
                <a:latin typeface="Trebuchet MS" pitchFamily="34" charset="0"/>
                <a:ea typeface="Trebuchet MS" pitchFamily="34" charset="-122"/>
                <a:cs typeface="Trebuchet MS" pitchFamily="34" charset="-120"/>
              </a:rPr>
              <a:t>The Stakes</a:t>
            </a:r>
            <a:endParaRPr lang="en-US" sz="1400" dirty="0"/>
          </a:p>
        </p:txBody>
      </p:sp>
      <p:sp>
        <p:nvSpPr>
          <p:cNvPr id="15" name="Text 13"/>
          <p:cNvSpPr/>
          <p:nvPr/>
        </p:nvSpPr>
        <p:spPr>
          <a:xfrm>
            <a:off x="475488" y="1024128"/>
            <a:ext cx="4754880" cy="1463040"/>
          </a:xfrm>
          <a:prstGeom prst="rect">
            <a:avLst/>
          </a:prstGeom>
          <a:noFill/>
          <a:ln/>
        </p:spPr>
        <p:txBody>
          <a:bodyPr wrap="square" lIns="0" tIns="0" rIns="0" bIns="0" rtlCol="0" anchor="ctr"/>
          <a:lstStyle/>
          <a:p>
            <a:pPr marL="0" indent="0">
              <a:buNone/>
            </a:pPr>
            <a:r>
              <a:rPr lang="en-US" sz="1200" dirty="0">
                <a:solidFill>
                  <a:srgbClr val="E8EDF5"/>
                </a:solidFill>
              </a:rPr>
              <a:t>Businesses rely on receipts and invoices across accounting, reimbursement, and supply-demand modelling. Manually processing hundreds of documents is slow, expensive, and error-prone. Automating extraction of key fields (company, date, address, total) is a high-value practical problem.</a:t>
            </a:r>
            <a:endParaRPr lang="en-US" sz="1200" dirty="0"/>
          </a:p>
        </p:txBody>
      </p:sp>
      <p:sp>
        <p:nvSpPr>
          <p:cNvPr id="16" name="Shape 14"/>
          <p:cNvSpPr/>
          <p:nvPr/>
        </p:nvSpPr>
        <p:spPr>
          <a:xfrm>
            <a:off x="5577840" y="658368"/>
            <a:ext cx="3291840" cy="1920240"/>
          </a:xfrm>
          <a:prstGeom prst="rect">
            <a:avLst/>
          </a:prstGeom>
          <a:solidFill>
            <a:srgbClr val="161E45"/>
          </a:solidFill>
          <a:ln w="12700">
            <a:solidFill>
              <a:srgbClr val="1E2A5A"/>
            </a:solidFill>
            <a:prstDash val="solid"/>
          </a:ln>
        </p:spPr>
        <p:txBody>
          <a:bodyPr/>
          <a:lstStyle/>
          <a:p>
            <a:endParaRPr lang="en-US"/>
          </a:p>
        </p:txBody>
      </p:sp>
      <p:sp>
        <p:nvSpPr>
          <p:cNvPr id="17" name="Shape 15"/>
          <p:cNvSpPr/>
          <p:nvPr/>
        </p:nvSpPr>
        <p:spPr>
          <a:xfrm>
            <a:off x="5577840" y="658368"/>
            <a:ext cx="54864" cy="1920240"/>
          </a:xfrm>
          <a:prstGeom prst="rect">
            <a:avLst/>
          </a:prstGeom>
          <a:solidFill>
            <a:srgbClr val="00C2E0"/>
          </a:solidFill>
          <a:ln w="12700">
            <a:solidFill>
              <a:srgbClr val="00C2E0"/>
            </a:solidFill>
            <a:prstDash val="solid"/>
          </a:ln>
        </p:spPr>
        <p:txBody>
          <a:bodyPr/>
          <a:lstStyle/>
          <a:p>
            <a:endParaRPr lang="en-US"/>
          </a:p>
        </p:txBody>
      </p:sp>
      <p:sp>
        <p:nvSpPr>
          <p:cNvPr id="18" name="Text 16"/>
          <p:cNvSpPr/>
          <p:nvPr/>
        </p:nvSpPr>
        <p:spPr>
          <a:xfrm>
            <a:off x="5779008" y="713232"/>
            <a:ext cx="2926080" cy="256032"/>
          </a:xfrm>
          <a:prstGeom prst="rect">
            <a:avLst/>
          </a:prstGeom>
          <a:noFill/>
          <a:ln/>
        </p:spPr>
        <p:txBody>
          <a:bodyPr wrap="square" lIns="0" tIns="0" rIns="0" bIns="0" rtlCol="0" anchor="ctr"/>
          <a:lstStyle/>
          <a:p>
            <a:pPr marL="0" indent="0">
              <a:buNone/>
            </a:pPr>
            <a:r>
              <a:rPr lang="en-US" sz="1400" b="1" dirty="0">
                <a:solidFill>
                  <a:srgbClr val="00C2E0"/>
                </a:solidFill>
                <a:latin typeface="Trebuchet MS" pitchFamily="34" charset="0"/>
                <a:ea typeface="Trebuchet MS" pitchFamily="34" charset="-122"/>
                <a:cs typeface="Trebuchet MS" pitchFamily="34" charset="-120"/>
              </a:rPr>
              <a:t>Goal</a:t>
            </a:r>
            <a:endParaRPr lang="en-US" sz="1400" dirty="0"/>
          </a:p>
        </p:txBody>
      </p:sp>
      <p:sp>
        <p:nvSpPr>
          <p:cNvPr id="19" name="Text 17"/>
          <p:cNvSpPr/>
          <p:nvPr/>
        </p:nvSpPr>
        <p:spPr>
          <a:xfrm>
            <a:off x="5779008" y="1024128"/>
            <a:ext cx="2926080" cy="347472"/>
          </a:xfrm>
          <a:prstGeom prst="rect">
            <a:avLst/>
          </a:prstGeom>
          <a:noFill/>
          <a:ln/>
        </p:spPr>
        <p:txBody>
          <a:bodyPr wrap="square" lIns="0" tIns="0" rIns="0" bIns="0" rtlCol="0" anchor="ctr"/>
          <a:lstStyle/>
          <a:p>
            <a:pPr marL="0" indent="0">
              <a:buNone/>
            </a:pPr>
            <a:r>
              <a:rPr lang="en-US" sz="1000" b="1" dirty="0">
                <a:solidFill>
                  <a:srgbClr val="00C2E0"/>
                </a:solidFill>
              </a:rPr>
              <a:t>1  </a:t>
            </a:r>
            <a:r>
              <a:rPr lang="en-US" sz="1000" dirty="0">
                <a:solidFill>
                  <a:srgbClr val="E8EDF5"/>
                </a:solidFill>
              </a:rPr>
              <a:t>Extract 4 entities from receipts</a:t>
            </a:r>
            <a:endParaRPr lang="en-US" sz="1000" dirty="0"/>
          </a:p>
        </p:txBody>
      </p:sp>
      <p:sp>
        <p:nvSpPr>
          <p:cNvPr id="20" name="Text 18"/>
          <p:cNvSpPr/>
          <p:nvPr/>
        </p:nvSpPr>
        <p:spPr>
          <a:xfrm>
            <a:off x="5779008" y="1408176"/>
            <a:ext cx="2926080" cy="347472"/>
          </a:xfrm>
          <a:prstGeom prst="rect">
            <a:avLst/>
          </a:prstGeom>
          <a:noFill/>
          <a:ln/>
        </p:spPr>
        <p:txBody>
          <a:bodyPr wrap="square" lIns="0" tIns="0" rIns="0" bIns="0" rtlCol="0" anchor="ctr"/>
          <a:lstStyle/>
          <a:p>
            <a:pPr marL="0" indent="0">
              <a:buNone/>
            </a:pPr>
            <a:r>
              <a:rPr lang="en-US" sz="1000" b="1" dirty="0">
                <a:solidFill>
                  <a:srgbClr val="00C2E0"/>
                </a:solidFill>
              </a:rPr>
              <a:t>2  </a:t>
            </a:r>
            <a:r>
              <a:rPr lang="en-US" sz="1000" dirty="0">
                <a:solidFill>
                  <a:srgbClr val="E8EDF5"/>
                </a:solidFill>
              </a:rPr>
              <a:t>Use LLMs to correct OCR errors</a:t>
            </a:r>
            <a:endParaRPr lang="en-US" sz="1000" dirty="0"/>
          </a:p>
        </p:txBody>
      </p:sp>
      <p:sp>
        <p:nvSpPr>
          <p:cNvPr id="21" name="Text 19"/>
          <p:cNvSpPr/>
          <p:nvPr/>
        </p:nvSpPr>
        <p:spPr>
          <a:xfrm>
            <a:off x="5779008" y="1792224"/>
            <a:ext cx="2926080" cy="347472"/>
          </a:xfrm>
          <a:prstGeom prst="rect">
            <a:avLst/>
          </a:prstGeom>
          <a:noFill/>
          <a:ln/>
        </p:spPr>
        <p:txBody>
          <a:bodyPr wrap="square" lIns="0" tIns="0" rIns="0" bIns="0" rtlCol="0" anchor="ctr"/>
          <a:lstStyle/>
          <a:p>
            <a:pPr marL="0" indent="0">
              <a:buNone/>
            </a:pPr>
            <a:r>
              <a:rPr lang="en-US" sz="1000" b="1" dirty="0">
                <a:solidFill>
                  <a:srgbClr val="00C2E0"/>
                </a:solidFill>
              </a:rPr>
              <a:t>3  </a:t>
            </a:r>
            <a:r>
              <a:rPr lang="en-US" sz="1000" dirty="0">
                <a:solidFill>
                  <a:srgbClr val="E8EDF5"/>
                </a:solidFill>
              </a:rPr>
              <a:t>Evaluate across 4 required pipeline configurations</a:t>
            </a:r>
            <a:endParaRPr lang="en-US" sz="1000" dirty="0"/>
          </a:p>
        </p:txBody>
      </p:sp>
      <p:sp>
        <p:nvSpPr>
          <p:cNvPr id="22" name="Text 20"/>
          <p:cNvSpPr/>
          <p:nvPr/>
        </p:nvSpPr>
        <p:spPr>
          <a:xfrm>
            <a:off x="5779008" y="2176272"/>
            <a:ext cx="2926080" cy="347472"/>
          </a:xfrm>
          <a:prstGeom prst="rect">
            <a:avLst/>
          </a:prstGeom>
          <a:noFill/>
          <a:ln/>
        </p:spPr>
        <p:txBody>
          <a:bodyPr wrap="square" lIns="0" tIns="0" rIns="0" bIns="0" rtlCol="0" anchor="ctr"/>
          <a:lstStyle/>
          <a:p>
            <a:pPr marL="0" indent="0">
              <a:buNone/>
            </a:pPr>
            <a:r>
              <a:rPr lang="en-US" sz="1000" b="1" dirty="0">
                <a:solidFill>
                  <a:srgbClr val="00C2E0"/>
                </a:solidFill>
              </a:rPr>
              <a:t>4  </a:t>
            </a:r>
            <a:r>
              <a:rPr lang="en-US" sz="1000" dirty="0">
                <a:solidFill>
                  <a:srgbClr val="E8EDF5"/>
                </a:solidFill>
              </a:rPr>
              <a:t>Expose as Gradio app with image upload and Q&amp;A</a:t>
            </a:r>
            <a:endParaRPr lang="en-US" sz="1000" dirty="0"/>
          </a:p>
        </p:txBody>
      </p:sp>
      <p:sp>
        <p:nvSpPr>
          <p:cNvPr id="23" name="Shape 21"/>
          <p:cNvSpPr/>
          <p:nvPr/>
        </p:nvSpPr>
        <p:spPr>
          <a:xfrm>
            <a:off x="274320" y="2724912"/>
            <a:ext cx="54864" cy="256032"/>
          </a:xfrm>
          <a:prstGeom prst="rect">
            <a:avLst/>
          </a:prstGeom>
          <a:solidFill>
            <a:srgbClr val="7C3AED"/>
          </a:solidFill>
          <a:ln w="12700">
            <a:solidFill>
              <a:srgbClr val="7C3AED"/>
            </a:solidFill>
            <a:prstDash val="solid"/>
          </a:ln>
        </p:spPr>
        <p:txBody>
          <a:bodyPr/>
          <a:lstStyle/>
          <a:p>
            <a:endParaRPr lang="en-US"/>
          </a:p>
        </p:txBody>
      </p:sp>
      <p:sp>
        <p:nvSpPr>
          <p:cNvPr id="24" name="Text 22"/>
          <p:cNvSpPr/>
          <p:nvPr/>
        </p:nvSpPr>
        <p:spPr>
          <a:xfrm>
            <a:off x="402336" y="2724912"/>
            <a:ext cx="3657600" cy="256032"/>
          </a:xfrm>
          <a:prstGeom prst="rect">
            <a:avLst/>
          </a:prstGeom>
          <a:noFill/>
          <a:ln/>
        </p:spPr>
        <p:txBody>
          <a:bodyPr wrap="square" lIns="0" tIns="0" rIns="0" bIns="0" rtlCol="0" anchor="ctr"/>
          <a:lstStyle/>
          <a:p>
            <a:pPr marL="0" indent="0">
              <a:buNone/>
            </a:pPr>
            <a:r>
              <a:rPr lang="en-US" sz="1400" b="1" dirty="0">
                <a:solidFill>
                  <a:srgbClr val="7C3AED"/>
                </a:solidFill>
                <a:latin typeface="Trebuchet MS" pitchFamily="34" charset="0"/>
                <a:ea typeface="Trebuchet MS" pitchFamily="34" charset="-122"/>
                <a:cs typeface="Trebuchet MS" pitchFamily="34" charset="-120"/>
              </a:rPr>
              <a:t>DATASET  —  SROIE V2 (ICDAR 2019)</a:t>
            </a:r>
            <a:endParaRPr lang="en-US" sz="1400" dirty="0"/>
          </a:p>
        </p:txBody>
      </p:sp>
      <p:sp>
        <p:nvSpPr>
          <p:cNvPr id="25" name="Shape 23"/>
          <p:cNvSpPr/>
          <p:nvPr/>
        </p:nvSpPr>
        <p:spPr>
          <a:xfrm>
            <a:off x="274320" y="3063240"/>
            <a:ext cx="1965960" cy="1234440"/>
          </a:xfrm>
          <a:prstGeom prst="rect">
            <a:avLst/>
          </a:prstGeom>
          <a:solidFill>
            <a:srgbClr val="161E45"/>
          </a:solidFill>
          <a:ln w="12700">
            <a:solidFill>
              <a:srgbClr val="1E2A5A"/>
            </a:solidFill>
            <a:prstDash val="solid"/>
          </a:ln>
        </p:spPr>
        <p:txBody>
          <a:bodyPr/>
          <a:lstStyle/>
          <a:p>
            <a:endParaRPr lang="en-US"/>
          </a:p>
        </p:txBody>
      </p:sp>
      <p:sp>
        <p:nvSpPr>
          <p:cNvPr id="26" name="Shape 24"/>
          <p:cNvSpPr/>
          <p:nvPr/>
        </p:nvSpPr>
        <p:spPr>
          <a:xfrm>
            <a:off x="274320" y="3063240"/>
            <a:ext cx="54864" cy="1234440"/>
          </a:xfrm>
          <a:prstGeom prst="rect">
            <a:avLst/>
          </a:prstGeom>
          <a:solidFill>
            <a:srgbClr val="9B59D6"/>
          </a:solidFill>
          <a:ln w="12700">
            <a:solidFill>
              <a:srgbClr val="9B59D6"/>
            </a:solidFill>
            <a:prstDash val="solid"/>
          </a:ln>
        </p:spPr>
        <p:txBody>
          <a:bodyPr/>
          <a:lstStyle/>
          <a:p>
            <a:endParaRPr lang="en-US"/>
          </a:p>
        </p:txBody>
      </p:sp>
      <p:sp>
        <p:nvSpPr>
          <p:cNvPr id="27" name="Text 25"/>
          <p:cNvSpPr/>
          <p:nvPr/>
        </p:nvSpPr>
        <p:spPr>
          <a:xfrm>
            <a:off x="475488" y="3118104"/>
            <a:ext cx="1645920" cy="566928"/>
          </a:xfrm>
          <a:prstGeom prst="rect">
            <a:avLst/>
          </a:prstGeom>
          <a:noFill/>
          <a:ln/>
        </p:spPr>
        <p:txBody>
          <a:bodyPr wrap="square" lIns="0" tIns="0" rIns="0" bIns="0" rtlCol="0" anchor="ctr"/>
          <a:lstStyle/>
          <a:p>
            <a:pPr marL="0" indent="0">
              <a:buNone/>
            </a:pPr>
            <a:r>
              <a:rPr lang="en-US" sz="3400" b="1" dirty="0">
                <a:solidFill>
                  <a:srgbClr val="9B59D6"/>
                </a:solidFill>
                <a:latin typeface="Trebuchet MS" pitchFamily="34" charset="0"/>
                <a:ea typeface="Trebuchet MS" pitchFamily="34" charset="-122"/>
                <a:cs typeface="Trebuchet MS" pitchFamily="34" charset="-120"/>
              </a:rPr>
              <a:t>973</a:t>
            </a:r>
            <a:endParaRPr lang="en-US" sz="3400" dirty="0"/>
          </a:p>
        </p:txBody>
      </p:sp>
      <p:sp>
        <p:nvSpPr>
          <p:cNvPr id="28" name="Text 26"/>
          <p:cNvSpPr/>
          <p:nvPr/>
        </p:nvSpPr>
        <p:spPr>
          <a:xfrm>
            <a:off x="475488" y="3712464"/>
            <a:ext cx="1645920" cy="256032"/>
          </a:xfrm>
          <a:prstGeom prst="rect">
            <a:avLst/>
          </a:prstGeom>
          <a:noFill/>
          <a:ln/>
        </p:spPr>
        <p:txBody>
          <a:bodyPr wrap="square" lIns="0" tIns="0" rIns="0" bIns="0" rtlCol="0" anchor="ctr"/>
          <a:lstStyle/>
          <a:p>
            <a:pPr marL="0" indent="0">
              <a:buNone/>
            </a:pPr>
            <a:r>
              <a:rPr lang="en-US" sz="1000" dirty="0">
                <a:solidFill>
                  <a:srgbClr val="8A99C0"/>
                </a:solidFill>
              </a:rPr>
              <a:t>Total Receipts</a:t>
            </a:r>
            <a:endParaRPr lang="en-US" sz="1000" dirty="0"/>
          </a:p>
        </p:txBody>
      </p:sp>
      <p:sp>
        <p:nvSpPr>
          <p:cNvPr id="29" name="Shape 27"/>
          <p:cNvSpPr/>
          <p:nvPr/>
        </p:nvSpPr>
        <p:spPr>
          <a:xfrm>
            <a:off x="2450592" y="3063240"/>
            <a:ext cx="1965960" cy="1234440"/>
          </a:xfrm>
          <a:prstGeom prst="rect">
            <a:avLst/>
          </a:prstGeom>
          <a:solidFill>
            <a:srgbClr val="161E45"/>
          </a:solidFill>
          <a:ln w="12700">
            <a:solidFill>
              <a:srgbClr val="1E2A5A"/>
            </a:solidFill>
            <a:prstDash val="solid"/>
          </a:ln>
        </p:spPr>
        <p:txBody>
          <a:bodyPr/>
          <a:lstStyle/>
          <a:p>
            <a:endParaRPr lang="en-US"/>
          </a:p>
        </p:txBody>
      </p:sp>
      <p:sp>
        <p:nvSpPr>
          <p:cNvPr id="30" name="Shape 28"/>
          <p:cNvSpPr/>
          <p:nvPr/>
        </p:nvSpPr>
        <p:spPr>
          <a:xfrm>
            <a:off x="2450592" y="3063240"/>
            <a:ext cx="54864" cy="1234440"/>
          </a:xfrm>
          <a:prstGeom prst="rect">
            <a:avLst/>
          </a:prstGeom>
          <a:solidFill>
            <a:srgbClr val="00C2E0"/>
          </a:solidFill>
          <a:ln w="12700">
            <a:solidFill>
              <a:srgbClr val="00C2E0"/>
            </a:solidFill>
            <a:prstDash val="solid"/>
          </a:ln>
        </p:spPr>
        <p:txBody>
          <a:bodyPr/>
          <a:lstStyle/>
          <a:p>
            <a:endParaRPr lang="en-US"/>
          </a:p>
        </p:txBody>
      </p:sp>
      <p:sp>
        <p:nvSpPr>
          <p:cNvPr id="31" name="Text 29"/>
          <p:cNvSpPr/>
          <p:nvPr/>
        </p:nvSpPr>
        <p:spPr>
          <a:xfrm>
            <a:off x="2651760" y="3118104"/>
            <a:ext cx="1645920" cy="566928"/>
          </a:xfrm>
          <a:prstGeom prst="rect">
            <a:avLst/>
          </a:prstGeom>
          <a:noFill/>
          <a:ln/>
        </p:spPr>
        <p:txBody>
          <a:bodyPr wrap="square" lIns="0" tIns="0" rIns="0" bIns="0" rtlCol="0" anchor="ctr"/>
          <a:lstStyle/>
          <a:p>
            <a:pPr marL="0" indent="0">
              <a:buNone/>
            </a:pPr>
            <a:r>
              <a:rPr lang="en-US" sz="3400" b="1" dirty="0">
                <a:solidFill>
                  <a:srgbClr val="00C2E0"/>
                </a:solidFill>
                <a:latin typeface="Trebuchet MS" pitchFamily="34" charset="0"/>
                <a:ea typeface="Trebuchet MS" pitchFamily="34" charset="-122"/>
                <a:cs typeface="Trebuchet MS" pitchFamily="34" charset="-120"/>
              </a:rPr>
              <a:t>626</a:t>
            </a:r>
            <a:endParaRPr lang="en-US" sz="3400" dirty="0"/>
          </a:p>
        </p:txBody>
      </p:sp>
      <p:sp>
        <p:nvSpPr>
          <p:cNvPr id="32" name="Text 30"/>
          <p:cNvSpPr/>
          <p:nvPr/>
        </p:nvSpPr>
        <p:spPr>
          <a:xfrm>
            <a:off x="2651760" y="3712464"/>
            <a:ext cx="1645920" cy="256032"/>
          </a:xfrm>
          <a:prstGeom prst="rect">
            <a:avLst/>
          </a:prstGeom>
          <a:noFill/>
          <a:ln/>
        </p:spPr>
        <p:txBody>
          <a:bodyPr wrap="square" lIns="0" tIns="0" rIns="0" bIns="0" rtlCol="0" anchor="ctr"/>
          <a:lstStyle/>
          <a:p>
            <a:pPr marL="0" indent="0">
              <a:buNone/>
            </a:pPr>
            <a:r>
              <a:rPr lang="en-US" sz="1000" dirty="0">
                <a:solidFill>
                  <a:srgbClr val="8A99C0"/>
                </a:solidFill>
              </a:rPr>
              <a:t>Train split</a:t>
            </a:r>
            <a:endParaRPr lang="en-US" sz="1000" dirty="0"/>
          </a:p>
        </p:txBody>
      </p:sp>
      <p:sp>
        <p:nvSpPr>
          <p:cNvPr id="33" name="Shape 31"/>
          <p:cNvSpPr/>
          <p:nvPr/>
        </p:nvSpPr>
        <p:spPr>
          <a:xfrm>
            <a:off x="4626864" y="3063240"/>
            <a:ext cx="1965960" cy="1234440"/>
          </a:xfrm>
          <a:prstGeom prst="rect">
            <a:avLst/>
          </a:prstGeom>
          <a:solidFill>
            <a:srgbClr val="161E45"/>
          </a:solidFill>
          <a:ln w="12700">
            <a:solidFill>
              <a:srgbClr val="1E2A5A"/>
            </a:solidFill>
            <a:prstDash val="solid"/>
          </a:ln>
        </p:spPr>
        <p:txBody>
          <a:bodyPr/>
          <a:lstStyle/>
          <a:p>
            <a:endParaRPr lang="en-US"/>
          </a:p>
        </p:txBody>
      </p:sp>
      <p:sp>
        <p:nvSpPr>
          <p:cNvPr id="34" name="Shape 32"/>
          <p:cNvSpPr/>
          <p:nvPr/>
        </p:nvSpPr>
        <p:spPr>
          <a:xfrm>
            <a:off x="4626864" y="3063240"/>
            <a:ext cx="54864" cy="1234440"/>
          </a:xfrm>
          <a:prstGeom prst="rect">
            <a:avLst/>
          </a:prstGeom>
          <a:solidFill>
            <a:srgbClr val="F59E0B"/>
          </a:solidFill>
          <a:ln w="12700">
            <a:solidFill>
              <a:srgbClr val="F59E0B"/>
            </a:solidFill>
            <a:prstDash val="solid"/>
          </a:ln>
        </p:spPr>
        <p:txBody>
          <a:bodyPr/>
          <a:lstStyle/>
          <a:p>
            <a:endParaRPr lang="en-US"/>
          </a:p>
        </p:txBody>
      </p:sp>
      <p:sp>
        <p:nvSpPr>
          <p:cNvPr id="35" name="Text 33"/>
          <p:cNvSpPr/>
          <p:nvPr/>
        </p:nvSpPr>
        <p:spPr>
          <a:xfrm>
            <a:off x="4828032" y="3118104"/>
            <a:ext cx="1645920" cy="566928"/>
          </a:xfrm>
          <a:prstGeom prst="rect">
            <a:avLst/>
          </a:prstGeom>
          <a:noFill/>
          <a:ln/>
        </p:spPr>
        <p:txBody>
          <a:bodyPr wrap="square" lIns="0" tIns="0" rIns="0" bIns="0" rtlCol="0" anchor="ctr"/>
          <a:lstStyle/>
          <a:p>
            <a:pPr marL="0" indent="0">
              <a:buNone/>
            </a:pPr>
            <a:r>
              <a:rPr lang="en-US" sz="3400" b="1" dirty="0">
                <a:solidFill>
                  <a:srgbClr val="F59E0B"/>
                </a:solidFill>
                <a:latin typeface="Trebuchet MS" pitchFamily="34" charset="0"/>
                <a:ea typeface="Trebuchet MS" pitchFamily="34" charset="-122"/>
                <a:cs typeface="Trebuchet MS" pitchFamily="34" charset="-120"/>
              </a:rPr>
              <a:t>347</a:t>
            </a:r>
            <a:endParaRPr lang="en-US" sz="3400" dirty="0"/>
          </a:p>
        </p:txBody>
      </p:sp>
      <p:sp>
        <p:nvSpPr>
          <p:cNvPr id="36" name="Text 34"/>
          <p:cNvSpPr/>
          <p:nvPr/>
        </p:nvSpPr>
        <p:spPr>
          <a:xfrm>
            <a:off x="4828032" y="3712464"/>
            <a:ext cx="1645920" cy="256032"/>
          </a:xfrm>
          <a:prstGeom prst="rect">
            <a:avLst/>
          </a:prstGeom>
          <a:noFill/>
          <a:ln/>
        </p:spPr>
        <p:txBody>
          <a:bodyPr wrap="square" lIns="0" tIns="0" rIns="0" bIns="0" rtlCol="0" anchor="ctr"/>
          <a:lstStyle/>
          <a:p>
            <a:pPr marL="0" indent="0">
              <a:buNone/>
            </a:pPr>
            <a:r>
              <a:rPr lang="en-US" sz="1000" dirty="0">
                <a:solidFill>
                  <a:srgbClr val="8A99C0"/>
                </a:solidFill>
              </a:rPr>
              <a:t>Test split</a:t>
            </a:r>
            <a:endParaRPr lang="en-US" sz="1000" dirty="0"/>
          </a:p>
        </p:txBody>
      </p:sp>
      <p:sp>
        <p:nvSpPr>
          <p:cNvPr id="37" name="Shape 35"/>
          <p:cNvSpPr/>
          <p:nvPr/>
        </p:nvSpPr>
        <p:spPr>
          <a:xfrm>
            <a:off x="6803136" y="3063240"/>
            <a:ext cx="1965960" cy="1234440"/>
          </a:xfrm>
          <a:prstGeom prst="rect">
            <a:avLst/>
          </a:prstGeom>
          <a:solidFill>
            <a:srgbClr val="161E45"/>
          </a:solidFill>
          <a:ln w="12700">
            <a:solidFill>
              <a:srgbClr val="1E2A5A"/>
            </a:solidFill>
            <a:prstDash val="solid"/>
          </a:ln>
        </p:spPr>
        <p:txBody>
          <a:bodyPr/>
          <a:lstStyle/>
          <a:p>
            <a:endParaRPr lang="en-US"/>
          </a:p>
        </p:txBody>
      </p:sp>
      <p:sp>
        <p:nvSpPr>
          <p:cNvPr id="38" name="Shape 36"/>
          <p:cNvSpPr/>
          <p:nvPr/>
        </p:nvSpPr>
        <p:spPr>
          <a:xfrm>
            <a:off x="6803136" y="3063240"/>
            <a:ext cx="54864" cy="1234440"/>
          </a:xfrm>
          <a:prstGeom prst="rect">
            <a:avLst/>
          </a:prstGeom>
          <a:solidFill>
            <a:srgbClr val="10B981"/>
          </a:solidFill>
          <a:ln w="12700">
            <a:solidFill>
              <a:srgbClr val="10B981"/>
            </a:solidFill>
            <a:prstDash val="solid"/>
          </a:ln>
        </p:spPr>
        <p:txBody>
          <a:bodyPr/>
          <a:lstStyle/>
          <a:p>
            <a:endParaRPr lang="en-US"/>
          </a:p>
        </p:txBody>
      </p:sp>
      <p:sp>
        <p:nvSpPr>
          <p:cNvPr id="39" name="Text 37"/>
          <p:cNvSpPr/>
          <p:nvPr/>
        </p:nvSpPr>
        <p:spPr>
          <a:xfrm>
            <a:off x="7004304" y="3118104"/>
            <a:ext cx="1645920" cy="566928"/>
          </a:xfrm>
          <a:prstGeom prst="rect">
            <a:avLst/>
          </a:prstGeom>
          <a:noFill/>
          <a:ln/>
        </p:spPr>
        <p:txBody>
          <a:bodyPr wrap="square" lIns="0" tIns="0" rIns="0" bIns="0" rtlCol="0" anchor="ctr"/>
          <a:lstStyle/>
          <a:p>
            <a:pPr marL="0" indent="0">
              <a:buNone/>
            </a:pPr>
            <a:r>
              <a:rPr lang="en-US" sz="3400" b="1" dirty="0">
                <a:solidFill>
                  <a:srgbClr val="10B981"/>
                </a:solidFill>
                <a:latin typeface="Trebuchet MS" pitchFamily="34" charset="0"/>
                <a:ea typeface="Trebuchet MS" pitchFamily="34" charset="-122"/>
                <a:cs typeface="Trebuchet MS" pitchFamily="34" charset="-120"/>
              </a:rPr>
              <a:t>4</a:t>
            </a:r>
            <a:endParaRPr lang="en-US" sz="3400" dirty="0"/>
          </a:p>
        </p:txBody>
      </p:sp>
      <p:sp>
        <p:nvSpPr>
          <p:cNvPr id="40" name="Text 38"/>
          <p:cNvSpPr/>
          <p:nvPr/>
        </p:nvSpPr>
        <p:spPr>
          <a:xfrm>
            <a:off x="7004304" y="3712464"/>
            <a:ext cx="1645920" cy="256032"/>
          </a:xfrm>
          <a:prstGeom prst="rect">
            <a:avLst/>
          </a:prstGeom>
          <a:noFill/>
          <a:ln/>
        </p:spPr>
        <p:txBody>
          <a:bodyPr wrap="square" lIns="0" tIns="0" rIns="0" bIns="0" rtlCol="0" anchor="ctr"/>
          <a:lstStyle/>
          <a:p>
            <a:pPr marL="0" indent="0">
              <a:buNone/>
            </a:pPr>
            <a:r>
              <a:rPr lang="en-US" sz="1000" dirty="0">
                <a:solidFill>
                  <a:srgbClr val="8A99C0"/>
                </a:solidFill>
              </a:rPr>
              <a:t>Ground truth fields</a:t>
            </a:r>
            <a:endParaRPr lang="en-US" sz="1000" dirty="0"/>
          </a:p>
        </p:txBody>
      </p:sp>
      <p:sp>
        <p:nvSpPr>
          <p:cNvPr id="41" name="Text 39"/>
          <p:cNvSpPr/>
          <p:nvPr/>
        </p:nvSpPr>
        <p:spPr>
          <a:xfrm>
            <a:off x="274320" y="4407408"/>
            <a:ext cx="8595360" cy="256032"/>
          </a:xfrm>
          <a:prstGeom prst="rect">
            <a:avLst/>
          </a:prstGeom>
          <a:noFill/>
          <a:ln/>
        </p:spPr>
        <p:txBody>
          <a:bodyPr wrap="square" lIns="0" tIns="0" rIns="0" bIns="0" rtlCol="0" anchor="ctr"/>
          <a:lstStyle/>
          <a:p>
            <a:pPr marL="0" indent="0" algn="ctr">
              <a:buNone/>
            </a:pPr>
            <a:r>
              <a:rPr lang="en-US" sz="1000" b="1" dirty="0">
                <a:solidFill>
                  <a:srgbClr val="E8EDF5"/>
                </a:solidFill>
              </a:rPr>
              <a:t>Ground truth fields: company · date · address · total</a:t>
            </a:r>
            <a:endParaRPr lang="en-US" sz="1000" dirty="0"/>
          </a:p>
        </p:txBody>
      </p:sp>
      <p:sp>
        <p:nvSpPr>
          <p:cNvPr id="7" name="Text 12">
            <a:extLst>
              <a:ext uri="{FF2B5EF4-FFF2-40B4-BE49-F238E27FC236}">
                <a16:creationId xmlns:a16="http://schemas.microsoft.com/office/drawing/2014/main" id="{930BC1F8-4262-FDEB-5AB9-29BDF74930D9}"/>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80C22"/>
        </a:solidFill>
        <a:effectLst/>
      </p:bgPr>
    </p:bg>
    <p:spTree>
      <p:nvGrpSpPr>
        <p:cNvPr id="1" name=""/>
        <p:cNvGrpSpPr/>
        <p:nvPr/>
      </p:nvGrpSpPr>
      <p:grpSpPr>
        <a:xfrm>
          <a:off x="0" y="0"/>
          <a:ext cx="0" cy="0"/>
          <a:chOff x="0" y="0"/>
          <a:chExt cx="0" cy="0"/>
        </a:xfrm>
      </p:grpSpPr>
      <p:sp>
        <p:nvSpPr>
          <p:cNvPr id="10" name="Shape 49">
            <a:extLst>
              <a:ext uri="{FF2B5EF4-FFF2-40B4-BE49-F238E27FC236}">
                <a16:creationId xmlns:a16="http://schemas.microsoft.com/office/drawing/2014/main" id="{BC8718E8-69D2-4B1D-68E0-9D42DA441857}"/>
              </a:ext>
            </a:extLst>
          </p:cNvPr>
          <p:cNvSpPr/>
          <p:nvPr/>
        </p:nvSpPr>
        <p:spPr>
          <a:xfrm>
            <a:off x="274320" y="4165092"/>
            <a:ext cx="566928" cy="598932"/>
          </a:xfrm>
          <a:prstGeom prst="rect">
            <a:avLst/>
          </a:prstGeom>
          <a:solidFill>
            <a:srgbClr val="10B981">
              <a:alpha val="18000"/>
            </a:srgbClr>
          </a:solidFill>
          <a:ln w="12700">
            <a:solidFill>
              <a:srgbClr val="10B981"/>
            </a:solidFill>
            <a:prstDash val="solid"/>
          </a:ln>
        </p:spPr>
        <p:txBody>
          <a:bodyPr/>
          <a:lstStyle/>
          <a:p>
            <a:endParaRPr lang="en-US" dirty="0"/>
          </a:p>
        </p:txBody>
      </p:sp>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Five-Tier Progressive Pipeline</a:t>
            </a:r>
            <a:endParaRPr lang="en-US" sz="1700" dirty="0"/>
          </a:p>
        </p:txBody>
      </p:sp>
      <p:sp>
        <p:nvSpPr>
          <p:cNvPr id="5" name="Shape 3"/>
          <p:cNvSpPr/>
          <p:nvPr/>
        </p:nvSpPr>
        <p:spPr>
          <a:xfrm>
            <a:off x="6720840" y="109728"/>
            <a:ext cx="1234440" cy="274320"/>
          </a:xfrm>
          <a:prstGeom prst="rect">
            <a:avLst/>
          </a:prstGeom>
          <a:solidFill>
            <a:srgbClr val="7C3AED">
              <a:alpha val="22000"/>
            </a:srgbClr>
          </a:solidFill>
          <a:ln w="12700">
            <a:solidFill>
              <a:srgbClr val="7C3AED"/>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2</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402335" y="594360"/>
            <a:ext cx="6814893" cy="256032"/>
          </a:xfrm>
          <a:prstGeom prst="rect">
            <a:avLst/>
          </a:prstGeom>
          <a:noFill/>
          <a:ln/>
        </p:spPr>
        <p:txBody>
          <a:bodyPr wrap="square" lIns="0" tIns="0" rIns="0" bIns="0" rtlCol="0" anchor="ctr"/>
          <a:lstStyle/>
          <a:p>
            <a:pPr marL="0" indent="0">
              <a:buNone/>
            </a:pPr>
            <a:r>
              <a:rPr lang="en-US" sz="1400" b="1" dirty="0">
                <a:solidFill>
                  <a:srgbClr val="7C3AED"/>
                </a:solidFill>
                <a:latin typeface="Trebuchet MS" pitchFamily="34" charset="0"/>
                <a:ea typeface="Trebuchet MS" pitchFamily="34" charset="-122"/>
                <a:cs typeface="Trebuchet MS" pitchFamily="34" charset="-120"/>
              </a:rPr>
              <a:t>CORE IDEA — each tier adds one LLM component; each addition is measurable</a:t>
            </a:r>
            <a:endParaRPr lang="en-US" sz="1400" dirty="0"/>
          </a:p>
        </p:txBody>
      </p:sp>
      <p:sp>
        <p:nvSpPr>
          <p:cNvPr id="14" name="Shape 12"/>
          <p:cNvSpPr/>
          <p:nvPr/>
        </p:nvSpPr>
        <p:spPr>
          <a:xfrm>
            <a:off x="274320" y="868680"/>
            <a:ext cx="566928" cy="640080"/>
          </a:xfrm>
          <a:prstGeom prst="rect">
            <a:avLst/>
          </a:prstGeom>
          <a:solidFill>
            <a:srgbClr val="8A99C0">
              <a:alpha val="20000"/>
            </a:srgbClr>
          </a:solidFill>
          <a:ln w="12700">
            <a:solidFill>
              <a:srgbClr val="8A99C0"/>
            </a:solidFill>
            <a:prstDash val="solid"/>
          </a:ln>
        </p:spPr>
        <p:txBody>
          <a:bodyPr/>
          <a:lstStyle/>
          <a:p>
            <a:endParaRPr lang="en-US"/>
          </a:p>
        </p:txBody>
      </p:sp>
      <p:sp>
        <p:nvSpPr>
          <p:cNvPr id="15" name="Text 13"/>
          <p:cNvSpPr/>
          <p:nvPr/>
        </p:nvSpPr>
        <p:spPr>
          <a:xfrm>
            <a:off x="274320" y="868680"/>
            <a:ext cx="566928" cy="640080"/>
          </a:xfrm>
          <a:prstGeom prst="rect">
            <a:avLst/>
          </a:prstGeom>
          <a:noFill/>
          <a:ln/>
        </p:spPr>
        <p:txBody>
          <a:bodyPr wrap="square" lIns="0" tIns="0" rIns="0" bIns="0" rtlCol="0" anchor="ctr"/>
          <a:lstStyle/>
          <a:p>
            <a:pPr marL="0" indent="0" algn="ctr">
              <a:buNone/>
            </a:pPr>
            <a:r>
              <a:rPr lang="en-US" sz="1400" b="1" dirty="0">
                <a:solidFill>
                  <a:srgbClr val="8A99C0"/>
                </a:solidFill>
              </a:rPr>
              <a:t>T1</a:t>
            </a:r>
            <a:endParaRPr lang="en-US" sz="1400" dirty="0"/>
          </a:p>
        </p:txBody>
      </p:sp>
      <p:sp>
        <p:nvSpPr>
          <p:cNvPr id="16" name="Shape 14"/>
          <p:cNvSpPr/>
          <p:nvPr/>
        </p:nvSpPr>
        <p:spPr>
          <a:xfrm>
            <a:off x="932688" y="868680"/>
            <a:ext cx="7936992" cy="640080"/>
          </a:xfrm>
          <a:prstGeom prst="rect">
            <a:avLst/>
          </a:prstGeom>
          <a:solidFill>
            <a:srgbClr val="111838"/>
          </a:solidFill>
          <a:ln w="12700">
            <a:solidFill>
              <a:srgbClr val="1E2A5A"/>
            </a:solidFill>
            <a:prstDash val="solid"/>
          </a:ln>
        </p:spPr>
        <p:txBody>
          <a:bodyPr/>
          <a:lstStyle/>
          <a:p>
            <a:endParaRPr lang="en-US"/>
          </a:p>
        </p:txBody>
      </p:sp>
      <p:sp>
        <p:nvSpPr>
          <p:cNvPr id="17" name="Shape 15"/>
          <p:cNvSpPr/>
          <p:nvPr/>
        </p:nvSpPr>
        <p:spPr>
          <a:xfrm>
            <a:off x="932688" y="868680"/>
            <a:ext cx="54864" cy="640080"/>
          </a:xfrm>
          <a:prstGeom prst="rect">
            <a:avLst/>
          </a:prstGeom>
          <a:solidFill>
            <a:srgbClr val="8A99C0"/>
          </a:solidFill>
          <a:ln w="12700">
            <a:solidFill>
              <a:srgbClr val="8A99C0"/>
            </a:solidFill>
            <a:prstDash val="solid"/>
          </a:ln>
        </p:spPr>
        <p:txBody>
          <a:bodyPr/>
          <a:lstStyle/>
          <a:p>
            <a:endParaRPr lang="en-US"/>
          </a:p>
        </p:txBody>
      </p:sp>
      <p:sp>
        <p:nvSpPr>
          <p:cNvPr id="18" name="Text 16"/>
          <p:cNvSpPr/>
          <p:nvPr/>
        </p:nvSpPr>
        <p:spPr>
          <a:xfrm>
            <a:off x="1133856" y="923544"/>
            <a:ext cx="5029200" cy="246888"/>
          </a:xfrm>
          <a:prstGeom prst="rect">
            <a:avLst/>
          </a:prstGeom>
          <a:noFill/>
          <a:ln/>
        </p:spPr>
        <p:txBody>
          <a:bodyPr wrap="square" lIns="0" tIns="0" rIns="0" bIns="0" rtlCol="0" anchor="ctr"/>
          <a:lstStyle/>
          <a:p>
            <a:pPr marL="0" indent="0">
              <a:buNone/>
            </a:pPr>
            <a:r>
              <a:rPr lang="en-US" sz="1200" b="1" dirty="0">
                <a:solidFill>
                  <a:srgbClr val="FFFFFF"/>
                </a:solidFill>
              </a:rPr>
              <a:t>Raw EasyOCR</a:t>
            </a:r>
            <a:endParaRPr lang="en-US" sz="1200" dirty="0"/>
          </a:p>
        </p:txBody>
      </p:sp>
      <p:sp>
        <p:nvSpPr>
          <p:cNvPr id="19" name="Shape 17"/>
          <p:cNvSpPr/>
          <p:nvPr/>
        </p:nvSpPr>
        <p:spPr>
          <a:xfrm>
            <a:off x="6309360" y="923544"/>
            <a:ext cx="2377440" cy="219456"/>
          </a:xfrm>
          <a:prstGeom prst="rect">
            <a:avLst/>
          </a:prstGeom>
          <a:solidFill>
            <a:srgbClr val="8A99C0">
              <a:alpha val="18000"/>
            </a:srgbClr>
          </a:solidFill>
          <a:ln w="12700">
            <a:solidFill>
              <a:srgbClr val="8A99C0"/>
            </a:solidFill>
            <a:prstDash val="solid"/>
          </a:ln>
        </p:spPr>
        <p:txBody>
          <a:bodyPr/>
          <a:lstStyle/>
          <a:p>
            <a:endParaRPr lang="en-US"/>
          </a:p>
        </p:txBody>
      </p:sp>
      <p:sp>
        <p:nvSpPr>
          <p:cNvPr id="20" name="Text 18"/>
          <p:cNvSpPr/>
          <p:nvPr/>
        </p:nvSpPr>
        <p:spPr>
          <a:xfrm>
            <a:off x="6309360" y="923544"/>
            <a:ext cx="2377440" cy="219456"/>
          </a:xfrm>
          <a:prstGeom prst="rect">
            <a:avLst/>
          </a:prstGeom>
          <a:noFill/>
          <a:ln/>
        </p:spPr>
        <p:txBody>
          <a:bodyPr wrap="square" lIns="0" tIns="0" rIns="0" bIns="0" rtlCol="0" anchor="ctr"/>
          <a:lstStyle/>
          <a:p>
            <a:pPr marL="0" indent="0" algn="ctr">
              <a:buNone/>
            </a:pPr>
            <a:r>
              <a:rPr lang="en-US" sz="1000" b="1" dirty="0">
                <a:solidFill>
                  <a:srgbClr val="8A99C0"/>
                </a:solidFill>
              </a:rPr>
              <a:t>Raw OCR</a:t>
            </a:r>
            <a:endParaRPr lang="en-US" sz="1000" dirty="0"/>
          </a:p>
        </p:txBody>
      </p:sp>
      <p:sp>
        <p:nvSpPr>
          <p:cNvPr id="21" name="Text 19"/>
          <p:cNvSpPr/>
          <p:nvPr/>
        </p:nvSpPr>
        <p:spPr>
          <a:xfrm>
            <a:off x="1133856" y="1197864"/>
            <a:ext cx="7589520" cy="256032"/>
          </a:xfrm>
          <a:prstGeom prst="rect">
            <a:avLst/>
          </a:prstGeom>
          <a:noFill/>
          <a:ln/>
        </p:spPr>
        <p:txBody>
          <a:bodyPr wrap="square" lIns="0" tIns="0" rIns="0" bIns="0" rtlCol="0" anchor="ctr"/>
          <a:lstStyle/>
          <a:p>
            <a:pPr marL="0" indent="0">
              <a:buNone/>
            </a:pPr>
            <a:r>
              <a:rPr lang="en-US" sz="1000" dirty="0">
                <a:solidFill>
                  <a:srgbClr val="8A99C0"/>
                </a:solidFill>
              </a:rPr>
              <a:t>EasyOCR → raw text blob. No LLM. Baseline.</a:t>
            </a:r>
            <a:endParaRPr lang="en-US" sz="1000" dirty="0"/>
          </a:p>
        </p:txBody>
      </p:sp>
      <p:sp>
        <p:nvSpPr>
          <p:cNvPr id="22" name="Shape 20"/>
          <p:cNvSpPr/>
          <p:nvPr/>
        </p:nvSpPr>
        <p:spPr>
          <a:xfrm>
            <a:off x="274320" y="1691640"/>
            <a:ext cx="566928" cy="640080"/>
          </a:xfrm>
          <a:prstGeom prst="rect">
            <a:avLst/>
          </a:prstGeom>
          <a:solidFill>
            <a:srgbClr val="00C2E0">
              <a:alpha val="20000"/>
            </a:srgbClr>
          </a:solidFill>
          <a:ln w="12700">
            <a:solidFill>
              <a:srgbClr val="00C2E0"/>
            </a:solidFill>
            <a:prstDash val="solid"/>
          </a:ln>
        </p:spPr>
        <p:txBody>
          <a:bodyPr/>
          <a:lstStyle/>
          <a:p>
            <a:endParaRPr lang="en-US"/>
          </a:p>
        </p:txBody>
      </p:sp>
      <p:sp>
        <p:nvSpPr>
          <p:cNvPr id="23" name="Text 21"/>
          <p:cNvSpPr/>
          <p:nvPr/>
        </p:nvSpPr>
        <p:spPr>
          <a:xfrm>
            <a:off x="274320" y="1691640"/>
            <a:ext cx="566928" cy="640080"/>
          </a:xfrm>
          <a:prstGeom prst="rect">
            <a:avLst/>
          </a:prstGeom>
          <a:noFill/>
          <a:ln/>
        </p:spPr>
        <p:txBody>
          <a:bodyPr wrap="square" lIns="0" tIns="0" rIns="0" bIns="0" rtlCol="0" anchor="ctr"/>
          <a:lstStyle/>
          <a:p>
            <a:pPr marL="0" indent="0" algn="ctr">
              <a:buNone/>
            </a:pPr>
            <a:r>
              <a:rPr lang="en-US" sz="1400" b="1" dirty="0">
                <a:solidFill>
                  <a:srgbClr val="00C2E0"/>
                </a:solidFill>
              </a:rPr>
              <a:t>T2</a:t>
            </a:r>
            <a:endParaRPr lang="en-US" sz="1400" dirty="0"/>
          </a:p>
        </p:txBody>
      </p:sp>
      <p:sp>
        <p:nvSpPr>
          <p:cNvPr id="24" name="Shape 22"/>
          <p:cNvSpPr/>
          <p:nvPr/>
        </p:nvSpPr>
        <p:spPr>
          <a:xfrm>
            <a:off x="932688" y="1691640"/>
            <a:ext cx="7936992" cy="640080"/>
          </a:xfrm>
          <a:prstGeom prst="rect">
            <a:avLst/>
          </a:prstGeom>
          <a:solidFill>
            <a:srgbClr val="111838"/>
          </a:solidFill>
          <a:ln w="12700">
            <a:solidFill>
              <a:srgbClr val="1E2A5A"/>
            </a:solidFill>
            <a:prstDash val="solid"/>
          </a:ln>
        </p:spPr>
        <p:txBody>
          <a:bodyPr/>
          <a:lstStyle/>
          <a:p>
            <a:endParaRPr lang="en-US"/>
          </a:p>
        </p:txBody>
      </p:sp>
      <p:sp>
        <p:nvSpPr>
          <p:cNvPr id="25" name="Shape 23"/>
          <p:cNvSpPr/>
          <p:nvPr/>
        </p:nvSpPr>
        <p:spPr>
          <a:xfrm>
            <a:off x="932688" y="1691640"/>
            <a:ext cx="54864" cy="640080"/>
          </a:xfrm>
          <a:prstGeom prst="rect">
            <a:avLst/>
          </a:prstGeom>
          <a:solidFill>
            <a:srgbClr val="00C2E0"/>
          </a:solidFill>
          <a:ln w="12700">
            <a:solidFill>
              <a:srgbClr val="00C2E0"/>
            </a:solidFill>
            <a:prstDash val="solid"/>
          </a:ln>
        </p:spPr>
        <p:txBody>
          <a:bodyPr/>
          <a:lstStyle/>
          <a:p>
            <a:endParaRPr lang="en-US"/>
          </a:p>
        </p:txBody>
      </p:sp>
      <p:sp>
        <p:nvSpPr>
          <p:cNvPr id="26" name="Text 24"/>
          <p:cNvSpPr/>
          <p:nvPr/>
        </p:nvSpPr>
        <p:spPr>
          <a:xfrm>
            <a:off x="1133856" y="1746504"/>
            <a:ext cx="5029200" cy="246888"/>
          </a:xfrm>
          <a:prstGeom prst="rect">
            <a:avLst/>
          </a:prstGeom>
          <a:noFill/>
          <a:ln/>
        </p:spPr>
        <p:txBody>
          <a:bodyPr wrap="square" lIns="0" tIns="0" rIns="0" bIns="0" rtlCol="0" anchor="ctr"/>
          <a:lstStyle/>
          <a:p>
            <a:pPr marL="0" indent="0">
              <a:buNone/>
            </a:pPr>
            <a:r>
              <a:rPr lang="en-US" sz="1200" b="1" dirty="0">
                <a:solidFill>
                  <a:srgbClr val="FFFFFF"/>
                </a:solidFill>
              </a:rPr>
              <a:t>Gemini Multimodal OCR</a:t>
            </a:r>
            <a:endParaRPr lang="en-US" sz="1200" dirty="0"/>
          </a:p>
        </p:txBody>
      </p:sp>
      <p:sp>
        <p:nvSpPr>
          <p:cNvPr id="27" name="Shape 25"/>
          <p:cNvSpPr/>
          <p:nvPr/>
        </p:nvSpPr>
        <p:spPr>
          <a:xfrm>
            <a:off x="6309360" y="1746504"/>
            <a:ext cx="2377440" cy="219456"/>
          </a:xfrm>
          <a:prstGeom prst="rect">
            <a:avLst/>
          </a:prstGeom>
          <a:solidFill>
            <a:srgbClr val="00C2E0">
              <a:alpha val="18000"/>
            </a:srgbClr>
          </a:solidFill>
          <a:ln w="12700">
            <a:solidFill>
              <a:srgbClr val="00C2E0"/>
            </a:solidFill>
            <a:prstDash val="solid"/>
          </a:ln>
        </p:spPr>
        <p:txBody>
          <a:bodyPr/>
          <a:lstStyle/>
          <a:p>
            <a:endParaRPr lang="en-US"/>
          </a:p>
        </p:txBody>
      </p:sp>
      <p:sp>
        <p:nvSpPr>
          <p:cNvPr id="28" name="Text 26"/>
          <p:cNvSpPr/>
          <p:nvPr/>
        </p:nvSpPr>
        <p:spPr>
          <a:xfrm>
            <a:off x="6309360" y="1746504"/>
            <a:ext cx="2377440" cy="219456"/>
          </a:xfrm>
          <a:prstGeom prst="rect">
            <a:avLst/>
          </a:prstGeom>
          <a:noFill/>
          <a:ln/>
        </p:spPr>
        <p:txBody>
          <a:bodyPr wrap="square" lIns="0" tIns="0" rIns="0" bIns="0" rtlCol="0" anchor="ctr"/>
          <a:lstStyle/>
          <a:p>
            <a:pPr marL="0" indent="0" algn="ctr">
              <a:buNone/>
            </a:pPr>
            <a:r>
              <a:rPr lang="en-US" sz="1000" b="1" dirty="0">
                <a:solidFill>
                  <a:srgbClr val="00C2E0"/>
                </a:solidFill>
              </a:rPr>
              <a:t>Improved OCR (LLM)</a:t>
            </a:r>
            <a:endParaRPr lang="en-US" sz="1000" dirty="0"/>
          </a:p>
        </p:txBody>
      </p:sp>
      <p:sp>
        <p:nvSpPr>
          <p:cNvPr id="29" name="Text 27"/>
          <p:cNvSpPr/>
          <p:nvPr/>
        </p:nvSpPr>
        <p:spPr>
          <a:xfrm>
            <a:off x="1133856" y="2020824"/>
            <a:ext cx="7589520" cy="256032"/>
          </a:xfrm>
          <a:prstGeom prst="rect">
            <a:avLst/>
          </a:prstGeom>
          <a:noFill/>
          <a:ln/>
        </p:spPr>
        <p:txBody>
          <a:bodyPr wrap="square" lIns="0" tIns="0" rIns="0" bIns="0" rtlCol="0" anchor="ctr"/>
          <a:lstStyle/>
          <a:p>
            <a:pPr marL="0" indent="0">
              <a:buNone/>
            </a:pPr>
            <a:r>
              <a:rPr lang="en-US" sz="1000" dirty="0">
                <a:solidFill>
                  <a:srgbClr val="8A99C0"/>
                </a:solidFill>
              </a:rPr>
              <a:t>Image → Gemini multimodal → improved text blob. LLM as OCR replacement.</a:t>
            </a:r>
            <a:endParaRPr lang="en-US" sz="1000" dirty="0"/>
          </a:p>
        </p:txBody>
      </p:sp>
      <p:sp>
        <p:nvSpPr>
          <p:cNvPr id="30" name="Shape 28"/>
          <p:cNvSpPr/>
          <p:nvPr/>
        </p:nvSpPr>
        <p:spPr>
          <a:xfrm>
            <a:off x="274320" y="2514600"/>
            <a:ext cx="566928" cy="640080"/>
          </a:xfrm>
          <a:prstGeom prst="rect">
            <a:avLst/>
          </a:prstGeom>
          <a:solidFill>
            <a:srgbClr val="F59E0B">
              <a:alpha val="20000"/>
            </a:srgbClr>
          </a:solidFill>
          <a:ln w="12700">
            <a:solidFill>
              <a:srgbClr val="F59E0B"/>
            </a:solidFill>
            <a:prstDash val="solid"/>
          </a:ln>
        </p:spPr>
        <p:txBody>
          <a:bodyPr/>
          <a:lstStyle/>
          <a:p>
            <a:endParaRPr lang="en-US"/>
          </a:p>
        </p:txBody>
      </p:sp>
      <p:sp>
        <p:nvSpPr>
          <p:cNvPr id="31" name="Text 29"/>
          <p:cNvSpPr/>
          <p:nvPr/>
        </p:nvSpPr>
        <p:spPr>
          <a:xfrm>
            <a:off x="274320" y="2514600"/>
            <a:ext cx="566928" cy="640080"/>
          </a:xfrm>
          <a:prstGeom prst="rect">
            <a:avLst/>
          </a:prstGeom>
          <a:noFill/>
          <a:ln/>
        </p:spPr>
        <p:txBody>
          <a:bodyPr wrap="square" lIns="0" tIns="0" rIns="0" bIns="0" rtlCol="0" anchor="ctr"/>
          <a:lstStyle/>
          <a:p>
            <a:pPr marL="0" indent="0" algn="ctr">
              <a:buNone/>
            </a:pPr>
            <a:r>
              <a:rPr lang="en-US" sz="1400" b="1" dirty="0">
                <a:solidFill>
                  <a:srgbClr val="F59E0B"/>
                </a:solidFill>
              </a:rPr>
              <a:t>T3</a:t>
            </a:r>
            <a:endParaRPr lang="en-US" sz="1400" dirty="0"/>
          </a:p>
        </p:txBody>
      </p:sp>
      <p:sp>
        <p:nvSpPr>
          <p:cNvPr id="32" name="Shape 30"/>
          <p:cNvSpPr/>
          <p:nvPr/>
        </p:nvSpPr>
        <p:spPr>
          <a:xfrm>
            <a:off x="932688" y="2514600"/>
            <a:ext cx="7936992" cy="640080"/>
          </a:xfrm>
          <a:prstGeom prst="rect">
            <a:avLst/>
          </a:prstGeom>
          <a:solidFill>
            <a:srgbClr val="111838"/>
          </a:solidFill>
          <a:ln w="12700">
            <a:solidFill>
              <a:srgbClr val="1E2A5A"/>
            </a:solidFill>
            <a:prstDash val="solid"/>
          </a:ln>
        </p:spPr>
        <p:txBody>
          <a:bodyPr/>
          <a:lstStyle/>
          <a:p>
            <a:endParaRPr lang="en-US"/>
          </a:p>
        </p:txBody>
      </p:sp>
      <p:sp>
        <p:nvSpPr>
          <p:cNvPr id="33" name="Shape 31"/>
          <p:cNvSpPr/>
          <p:nvPr/>
        </p:nvSpPr>
        <p:spPr>
          <a:xfrm>
            <a:off x="932688" y="2514600"/>
            <a:ext cx="54864" cy="640080"/>
          </a:xfrm>
          <a:prstGeom prst="rect">
            <a:avLst/>
          </a:prstGeom>
          <a:solidFill>
            <a:srgbClr val="F59E0B"/>
          </a:solidFill>
          <a:ln w="12700">
            <a:solidFill>
              <a:srgbClr val="F59E0B"/>
            </a:solidFill>
            <a:prstDash val="solid"/>
          </a:ln>
        </p:spPr>
        <p:txBody>
          <a:bodyPr/>
          <a:lstStyle/>
          <a:p>
            <a:endParaRPr lang="en-US"/>
          </a:p>
        </p:txBody>
      </p:sp>
      <p:sp>
        <p:nvSpPr>
          <p:cNvPr id="34" name="Text 32"/>
          <p:cNvSpPr/>
          <p:nvPr/>
        </p:nvSpPr>
        <p:spPr>
          <a:xfrm>
            <a:off x="1133856" y="2569464"/>
            <a:ext cx="5029200" cy="246888"/>
          </a:xfrm>
          <a:prstGeom prst="rect">
            <a:avLst/>
          </a:prstGeom>
          <a:noFill/>
          <a:ln/>
        </p:spPr>
        <p:txBody>
          <a:bodyPr wrap="square" lIns="0" tIns="0" rIns="0" bIns="0" rtlCol="0" anchor="ctr"/>
          <a:lstStyle/>
          <a:p>
            <a:pPr marL="0" indent="0">
              <a:buNone/>
            </a:pPr>
            <a:r>
              <a:rPr lang="en-US" sz="1200" b="1" dirty="0">
                <a:solidFill>
                  <a:srgbClr val="FFFFFF"/>
                </a:solidFill>
              </a:rPr>
              <a:t>EasyOCR + Entity LLM</a:t>
            </a:r>
            <a:endParaRPr lang="en-US" sz="1200" dirty="0"/>
          </a:p>
        </p:txBody>
      </p:sp>
      <p:sp>
        <p:nvSpPr>
          <p:cNvPr id="35" name="Shape 33"/>
          <p:cNvSpPr/>
          <p:nvPr/>
        </p:nvSpPr>
        <p:spPr>
          <a:xfrm>
            <a:off x="6309360" y="2569464"/>
            <a:ext cx="2377440" cy="219456"/>
          </a:xfrm>
          <a:prstGeom prst="rect">
            <a:avLst/>
          </a:prstGeom>
          <a:solidFill>
            <a:srgbClr val="F59E0B">
              <a:alpha val="18000"/>
            </a:srgbClr>
          </a:solidFill>
          <a:ln w="12700">
            <a:solidFill>
              <a:srgbClr val="F59E0B"/>
            </a:solidFill>
            <a:prstDash val="solid"/>
          </a:ln>
        </p:spPr>
        <p:txBody>
          <a:bodyPr/>
          <a:lstStyle/>
          <a:p>
            <a:endParaRPr lang="en-US"/>
          </a:p>
        </p:txBody>
      </p:sp>
      <p:sp>
        <p:nvSpPr>
          <p:cNvPr id="36" name="Text 34"/>
          <p:cNvSpPr/>
          <p:nvPr/>
        </p:nvSpPr>
        <p:spPr>
          <a:xfrm>
            <a:off x="6309360" y="2569464"/>
            <a:ext cx="2377440" cy="219456"/>
          </a:xfrm>
          <a:prstGeom prst="rect">
            <a:avLst/>
          </a:prstGeom>
          <a:noFill/>
          <a:ln/>
        </p:spPr>
        <p:txBody>
          <a:bodyPr wrap="square" lIns="0" tIns="0" rIns="0" bIns="0" rtlCol="0" anchor="ctr"/>
          <a:lstStyle/>
          <a:p>
            <a:pPr marL="0" indent="0" algn="ctr">
              <a:buNone/>
            </a:pPr>
            <a:r>
              <a:rPr lang="en-US" sz="1000" b="1" dirty="0">
                <a:solidFill>
                  <a:srgbClr val="F59E0B"/>
                </a:solidFill>
              </a:rPr>
              <a:t>Raw OCR + Entity LLM</a:t>
            </a:r>
            <a:endParaRPr lang="en-US" sz="1000" dirty="0"/>
          </a:p>
        </p:txBody>
      </p:sp>
      <p:sp>
        <p:nvSpPr>
          <p:cNvPr id="37" name="Text 35"/>
          <p:cNvSpPr/>
          <p:nvPr/>
        </p:nvSpPr>
        <p:spPr>
          <a:xfrm>
            <a:off x="1133856" y="2843784"/>
            <a:ext cx="7589520" cy="256032"/>
          </a:xfrm>
          <a:prstGeom prst="rect">
            <a:avLst/>
          </a:prstGeom>
          <a:noFill/>
          <a:ln/>
        </p:spPr>
        <p:txBody>
          <a:bodyPr wrap="square" lIns="0" tIns="0" rIns="0" bIns="0" rtlCol="0" anchor="ctr"/>
          <a:lstStyle/>
          <a:p>
            <a:pPr marL="0" indent="0">
              <a:buNone/>
            </a:pPr>
            <a:r>
              <a:rPr lang="en-US" sz="1000" dirty="0">
                <a:solidFill>
                  <a:srgbClr val="8A99C0"/>
                </a:solidFill>
              </a:rPr>
              <a:t>EasyOCR raw text → Entity LLM → ReceiptEntities. Traditional OCR + LLM extraction + correction.</a:t>
            </a:r>
            <a:endParaRPr lang="en-US" sz="1000" dirty="0"/>
          </a:p>
        </p:txBody>
      </p:sp>
      <p:sp>
        <p:nvSpPr>
          <p:cNvPr id="38" name="Shape 36"/>
          <p:cNvSpPr/>
          <p:nvPr/>
        </p:nvSpPr>
        <p:spPr>
          <a:xfrm>
            <a:off x="274320" y="3337560"/>
            <a:ext cx="566928" cy="640080"/>
          </a:xfrm>
          <a:prstGeom prst="rect">
            <a:avLst/>
          </a:prstGeom>
          <a:solidFill>
            <a:srgbClr val="9B59D6">
              <a:alpha val="20000"/>
            </a:srgbClr>
          </a:solidFill>
          <a:ln w="12700">
            <a:solidFill>
              <a:srgbClr val="9B59D6"/>
            </a:solidFill>
            <a:prstDash val="solid"/>
          </a:ln>
        </p:spPr>
        <p:txBody>
          <a:bodyPr/>
          <a:lstStyle/>
          <a:p>
            <a:endParaRPr lang="en-US"/>
          </a:p>
        </p:txBody>
      </p:sp>
      <p:sp>
        <p:nvSpPr>
          <p:cNvPr id="39" name="Text 37"/>
          <p:cNvSpPr/>
          <p:nvPr/>
        </p:nvSpPr>
        <p:spPr>
          <a:xfrm>
            <a:off x="274320" y="3337560"/>
            <a:ext cx="566928" cy="640080"/>
          </a:xfrm>
          <a:prstGeom prst="rect">
            <a:avLst/>
          </a:prstGeom>
          <a:noFill/>
          <a:ln/>
        </p:spPr>
        <p:txBody>
          <a:bodyPr wrap="square" lIns="0" tIns="0" rIns="0" bIns="0" rtlCol="0" anchor="ctr"/>
          <a:lstStyle/>
          <a:p>
            <a:pPr marL="0" indent="0" algn="ctr">
              <a:buNone/>
            </a:pPr>
            <a:r>
              <a:rPr lang="en-US" sz="1400" b="1" dirty="0">
                <a:solidFill>
                  <a:srgbClr val="9B59D6"/>
                </a:solidFill>
              </a:rPr>
              <a:t>T4</a:t>
            </a:r>
            <a:endParaRPr lang="en-US" sz="1400" dirty="0"/>
          </a:p>
        </p:txBody>
      </p:sp>
      <p:sp>
        <p:nvSpPr>
          <p:cNvPr id="40" name="Shape 38"/>
          <p:cNvSpPr/>
          <p:nvPr/>
        </p:nvSpPr>
        <p:spPr>
          <a:xfrm>
            <a:off x="932688" y="3337560"/>
            <a:ext cx="7936992" cy="640080"/>
          </a:xfrm>
          <a:prstGeom prst="rect">
            <a:avLst/>
          </a:prstGeom>
          <a:solidFill>
            <a:srgbClr val="111838"/>
          </a:solidFill>
          <a:ln w="12700">
            <a:solidFill>
              <a:srgbClr val="1E2A5A"/>
            </a:solidFill>
            <a:prstDash val="solid"/>
          </a:ln>
        </p:spPr>
        <p:txBody>
          <a:bodyPr/>
          <a:lstStyle/>
          <a:p>
            <a:endParaRPr lang="en-US"/>
          </a:p>
        </p:txBody>
      </p:sp>
      <p:sp>
        <p:nvSpPr>
          <p:cNvPr id="41" name="Shape 39"/>
          <p:cNvSpPr/>
          <p:nvPr/>
        </p:nvSpPr>
        <p:spPr>
          <a:xfrm>
            <a:off x="932688" y="3337560"/>
            <a:ext cx="54864" cy="640080"/>
          </a:xfrm>
          <a:prstGeom prst="rect">
            <a:avLst/>
          </a:prstGeom>
          <a:solidFill>
            <a:srgbClr val="9B59D6"/>
          </a:solidFill>
          <a:ln w="12700">
            <a:solidFill>
              <a:srgbClr val="9B59D6"/>
            </a:solidFill>
            <a:prstDash val="solid"/>
          </a:ln>
        </p:spPr>
        <p:txBody>
          <a:bodyPr/>
          <a:lstStyle/>
          <a:p>
            <a:endParaRPr lang="en-US"/>
          </a:p>
        </p:txBody>
      </p:sp>
      <p:sp>
        <p:nvSpPr>
          <p:cNvPr id="42" name="Text 40"/>
          <p:cNvSpPr/>
          <p:nvPr/>
        </p:nvSpPr>
        <p:spPr>
          <a:xfrm>
            <a:off x="1133856" y="3392424"/>
            <a:ext cx="5029200" cy="246888"/>
          </a:xfrm>
          <a:prstGeom prst="rect">
            <a:avLst/>
          </a:prstGeom>
          <a:noFill/>
          <a:ln/>
        </p:spPr>
        <p:txBody>
          <a:bodyPr wrap="square" lIns="0" tIns="0" rIns="0" bIns="0" rtlCol="0" anchor="ctr"/>
          <a:lstStyle/>
          <a:p>
            <a:pPr marL="0" indent="0">
              <a:buNone/>
            </a:pPr>
            <a:r>
              <a:rPr lang="en-US" sz="1200" b="1" dirty="0">
                <a:solidFill>
                  <a:srgbClr val="FFFFFF"/>
                </a:solidFill>
              </a:rPr>
              <a:t>Gemini OCR + Entity LLM</a:t>
            </a:r>
            <a:endParaRPr lang="en-US" sz="1200" dirty="0"/>
          </a:p>
        </p:txBody>
      </p:sp>
      <p:sp>
        <p:nvSpPr>
          <p:cNvPr id="43" name="Shape 41"/>
          <p:cNvSpPr/>
          <p:nvPr/>
        </p:nvSpPr>
        <p:spPr>
          <a:xfrm>
            <a:off x="6309360" y="3392424"/>
            <a:ext cx="2377440" cy="219456"/>
          </a:xfrm>
          <a:prstGeom prst="rect">
            <a:avLst/>
          </a:prstGeom>
          <a:solidFill>
            <a:srgbClr val="9B59D6">
              <a:alpha val="18000"/>
            </a:srgbClr>
          </a:solidFill>
          <a:ln w="12700">
            <a:solidFill>
              <a:srgbClr val="9B59D6"/>
            </a:solidFill>
            <a:prstDash val="solid"/>
          </a:ln>
        </p:spPr>
        <p:txBody>
          <a:bodyPr/>
          <a:lstStyle/>
          <a:p>
            <a:endParaRPr lang="en-US"/>
          </a:p>
        </p:txBody>
      </p:sp>
      <p:sp>
        <p:nvSpPr>
          <p:cNvPr id="44" name="Text 42"/>
          <p:cNvSpPr/>
          <p:nvPr/>
        </p:nvSpPr>
        <p:spPr>
          <a:xfrm>
            <a:off x="6309360" y="3392424"/>
            <a:ext cx="2377440" cy="219456"/>
          </a:xfrm>
          <a:prstGeom prst="rect">
            <a:avLst/>
          </a:prstGeom>
          <a:noFill/>
          <a:ln/>
        </p:spPr>
        <p:txBody>
          <a:bodyPr wrap="square" lIns="0" tIns="0" rIns="0" bIns="0" rtlCol="0" anchor="ctr"/>
          <a:lstStyle/>
          <a:p>
            <a:pPr marL="0" indent="0" algn="ctr">
              <a:buNone/>
            </a:pPr>
            <a:r>
              <a:rPr lang="en-US" sz="1000" b="1" dirty="0">
                <a:solidFill>
                  <a:srgbClr val="9B59D6"/>
                </a:solidFill>
              </a:rPr>
              <a:t>Improved OCR + Entity LLM</a:t>
            </a:r>
            <a:endParaRPr lang="en-US" sz="1000" dirty="0"/>
          </a:p>
        </p:txBody>
      </p:sp>
      <p:sp>
        <p:nvSpPr>
          <p:cNvPr id="45" name="Text 43"/>
          <p:cNvSpPr/>
          <p:nvPr/>
        </p:nvSpPr>
        <p:spPr>
          <a:xfrm>
            <a:off x="1133856" y="3666744"/>
            <a:ext cx="7589520" cy="256032"/>
          </a:xfrm>
          <a:prstGeom prst="rect">
            <a:avLst/>
          </a:prstGeom>
          <a:noFill/>
          <a:ln/>
        </p:spPr>
        <p:txBody>
          <a:bodyPr wrap="square" lIns="0" tIns="0" rIns="0" bIns="0" rtlCol="0" anchor="ctr"/>
          <a:lstStyle/>
          <a:p>
            <a:pPr marL="0" indent="0">
              <a:buNone/>
            </a:pPr>
            <a:r>
              <a:rPr lang="en-US" sz="1000" dirty="0">
                <a:solidFill>
                  <a:srgbClr val="8A99C0"/>
                </a:solidFill>
              </a:rPr>
              <a:t>Gemini OCR improved text → Entity LLM → ReceiptEntities. Multimodal + extraction.</a:t>
            </a:r>
            <a:endParaRPr lang="en-US" sz="1000" dirty="0"/>
          </a:p>
        </p:txBody>
      </p:sp>
      <p:sp>
        <p:nvSpPr>
          <p:cNvPr id="47" name="Text 45"/>
          <p:cNvSpPr/>
          <p:nvPr/>
        </p:nvSpPr>
        <p:spPr>
          <a:xfrm>
            <a:off x="274320" y="4160520"/>
            <a:ext cx="566928" cy="640080"/>
          </a:xfrm>
          <a:prstGeom prst="rect">
            <a:avLst/>
          </a:prstGeom>
          <a:noFill/>
          <a:ln/>
        </p:spPr>
        <p:txBody>
          <a:bodyPr wrap="square" lIns="0" tIns="0" rIns="0" bIns="0" rtlCol="0" anchor="ctr"/>
          <a:lstStyle/>
          <a:p>
            <a:pPr marL="0" indent="0" algn="ctr">
              <a:buNone/>
            </a:pPr>
            <a:r>
              <a:rPr lang="en-US" sz="1400" b="1" dirty="0">
                <a:solidFill>
                  <a:srgbClr val="10B981"/>
                </a:solidFill>
              </a:rPr>
              <a:t>T5</a:t>
            </a:r>
            <a:endParaRPr lang="en-US" sz="1400" dirty="0"/>
          </a:p>
        </p:txBody>
      </p:sp>
      <p:sp>
        <p:nvSpPr>
          <p:cNvPr id="48" name="Shape 46"/>
          <p:cNvSpPr/>
          <p:nvPr/>
        </p:nvSpPr>
        <p:spPr>
          <a:xfrm>
            <a:off x="932688" y="4160520"/>
            <a:ext cx="7936992" cy="640080"/>
          </a:xfrm>
          <a:prstGeom prst="rect">
            <a:avLst/>
          </a:prstGeom>
          <a:solidFill>
            <a:srgbClr val="161E45"/>
          </a:solidFill>
          <a:ln w="12700">
            <a:solidFill>
              <a:srgbClr val="1E2A5A"/>
            </a:solidFill>
            <a:prstDash val="solid"/>
          </a:ln>
        </p:spPr>
        <p:txBody>
          <a:bodyPr/>
          <a:lstStyle/>
          <a:p>
            <a:endParaRPr lang="en-US"/>
          </a:p>
        </p:txBody>
      </p:sp>
      <p:sp>
        <p:nvSpPr>
          <p:cNvPr id="49" name="Shape 47"/>
          <p:cNvSpPr/>
          <p:nvPr/>
        </p:nvSpPr>
        <p:spPr>
          <a:xfrm>
            <a:off x="932688" y="4160520"/>
            <a:ext cx="54864" cy="640080"/>
          </a:xfrm>
          <a:prstGeom prst="rect">
            <a:avLst/>
          </a:prstGeom>
          <a:solidFill>
            <a:srgbClr val="10B981"/>
          </a:solidFill>
          <a:ln w="12700">
            <a:solidFill>
              <a:srgbClr val="10B981"/>
            </a:solidFill>
            <a:prstDash val="solid"/>
          </a:ln>
        </p:spPr>
        <p:txBody>
          <a:bodyPr/>
          <a:lstStyle/>
          <a:p>
            <a:endParaRPr lang="en-US"/>
          </a:p>
        </p:txBody>
      </p:sp>
      <p:sp>
        <p:nvSpPr>
          <p:cNvPr id="50" name="Text 48"/>
          <p:cNvSpPr/>
          <p:nvPr/>
        </p:nvSpPr>
        <p:spPr>
          <a:xfrm>
            <a:off x="1133856" y="4215384"/>
            <a:ext cx="5029200" cy="246888"/>
          </a:xfrm>
          <a:prstGeom prst="rect">
            <a:avLst/>
          </a:prstGeom>
          <a:noFill/>
          <a:ln/>
        </p:spPr>
        <p:txBody>
          <a:bodyPr wrap="square" lIns="0" tIns="0" rIns="0" bIns="0" rtlCol="0" anchor="ctr"/>
          <a:lstStyle/>
          <a:p>
            <a:pPr marL="0" indent="0">
              <a:buNone/>
            </a:pPr>
            <a:r>
              <a:rPr lang="en-US" sz="1200" b="1" dirty="0">
                <a:solidFill>
                  <a:srgbClr val="10B981"/>
                </a:solidFill>
              </a:rPr>
              <a:t>Unified Gemini (Single Call)</a:t>
            </a:r>
            <a:endParaRPr lang="en-US" sz="1200" dirty="0"/>
          </a:p>
        </p:txBody>
      </p:sp>
      <p:sp>
        <p:nvSpPr>
          <p:cNvPr id="51" name="Shape 49"/>
          <p:cNvSpPr/>
          <p:nvPr/>
        </p:nvSpPr>
        <p:spPr>
          <a:xfrm>
            <a:off x="6309360" y="4215384"/>
            <a:ext cx="2377440" cy="219456"/>
          </a:xfrm>
          <a:prstGeom prst="rect">
            <a:avLst/>
          </a:prstGeom>
          <a:solidFill>
            <a:srgbClr val="10B981">
              <a:alpha val="18000"/>
            </a:srgbClr>
          </a:solidFill>
          <a:ln w="12700">
            <a:solidFill>
              <a:srgbClr val="10B981"/>
            </a:solidFill>
            <a:prstDash val="solid"/>
          </a:ln>
        </p:spPr>
        <p:txBody>
          <a:bodyPr/>
          <a:lstStyle/>
          <a:p>
            <a:endParaRPr lang="en-US" dirty="0"/>
          </a:p>
        </p:txBody>
      </p:sp>
      <p:sp>
        <p:nvSpPr>
          <p:cNvPr id="52" name="Text 50"/>
          <p:cNvSpPr/>
          <p:nvPr/>
        </p:nvSpPr>
        <p:spPr>
          <a:xfrm>
            <a:off x="6309360" y="4215384"/>
            <a:ext cx="2377440" cy="219456"/>
          </a:xfrm>
          <a:prstGeom prst="rect">
            <a:avLst/>
          </a:prstGeom>
          <a:noFill/>
          <a:ln/>
        </p:spPr>
        <p:txBody>
          <a:bodyPr wrap="square" lIns="0" tIns="0" rIns="0" bIns="0" rtlCol="0" anchor="ctr"/>
          <a:lstStyle/>
          <a:p>
            <a:pPr marL="0" indent="0" algn="ctr">
              <a:buNone/>
            </a:pPr>
            <a:r>
              <a:rPr lang="en-US" sz="1000" b="1" dirty="0">
                <a:solidFill>
                  <a:srgbClr val="10B981"/>
                </a:solidFill>
              </a:rPr>
              <a:t>BONUS: Unified</a:t>
            </a:r>
            <a:endParaRPr lang="en-US" sz="1000" dirty="0"/>
          </a:p>
        </p:txBody>
      </p:sp>
      <p:sp>
        <p:nvSpPr>
          <p:cNvPr id="53" name="Text 51"/>
          <p:cNvSpPr/>
          <p:nvPr/>
        </p:nvSpPr>
        <p:spPr>
          <a:xfrm>
            <a:off x="1133856" y="4489704"/>
            <a:ext cx="7589520" cy="256032"/>
          </a:xfrm>
          <a:prstGeom prst="rect">
            <a:avLst/>
          </a:prstGeom>
          <a:noFill/>
          <a:ln/>
        </p:spPr>
        <p:txBody>
          <a:bodyPr wrap="square" lIns="0" tIns="0" rIns="0" bIns="0" rtlCol="0" anchor="ctr"/>
          <a:lstStyle/>
          <a:p>
            <a:pPr marL="0" indent="0">
              <a:buNone/>
            </a:pPr>
            <a:r>
              <a:rPr lang="en-US" sz="1000" dirty="0">
                <a:solidFill>
                  <a:srgbClr val="8A99C0"/>
                </a:solidFill>
              </a:rPr>
              <a:t>Image → Gemini → ReceiptEntities. One prompt handles OCR + extract + correct simultaneously.</a:t>
            </a:r>
            <a:endParaRPr lang="en-US" sz="1000" dirty="0"/>
          </a:p>
        </p:txBody>
      </p:sp>
      <p:sp>
        <p:nvSpPr>
          <p:cNvPr id="54" name="Shape 52"/>
          <p:cNvSpPr/>
          <p:nvPr/>
        </p:nvSpPr>
        <p:spPr>
          <a:xfrm>
            <a:off x="274320" y="4773168"/>
            <a:ext cx="8595360" cy="201168"/>
          </a:xfrm>
          <a:prstGeom prst="rect">
            <a:avLst/>
          </a:prstGeom>
          <a:solidFill>
            <a:srgbClr val="161E45"/>
          </a:solidFill>
          <a:ln w="12700">
            <a:solidFill>
              <a:srgbClr val="1E2A5A"/>
            </a:solidFill>
            <a:prstDash val="solid"/>
          </a:ln>
        </p:spPr>
        <p:txBody>
          <a:bodyPr/>
          <a:lstStyle/>
          <a:p>
            <a:endParaRPr lang="en-US"/>
          </a:p>
        </p:txBody>
      </p:sp>
      <p:sp>
        <p:nvSpPr>
          <p:cNvPr id="55" name="Shape 53"/>
          <p:cNvSpPr/>
          <p:nvPr/>
        </p:nvSpPr>
        <p:spPr>
          <a:xfrm>
            <a:off x="274320" y="4773168"/>
            <a:ext cx="54864" cy="201168"/>
          </a:xfrm>
          <a:prstGeom prst="rect">
            <a:avLst/>
          </a:prstGeom>
          <a:solidFill>
            <a:srgbClr val="00C2E0"/>
          </a:solidFill>
          <a:ln w="12700">
            <a:solidFill>
              <a:srgbClr val="00C2E0"/>
            </a:solidFill>
            <a:prstDash val="solid"/>
          </a:ln>
        </p:spPr>
        <p:txBody>
          <a:bodyPr/>
          <a:lstStyle/>
          <a:p>
            <a:endParaRPr lang="en-US"/>
          </a:p>
        </p:txBody>
      </p:sp>
      <p:sp>
        <p:nvSpPr>
          <p:cNvPr id="56" name="Text 54"/>
          <p:cNvSpPr/>
          <p:nvPr/>
        </p:nvSpPr>
        <p:spPr>
          <a:xfrm>
            <a:off x="475488" y="4773168"/>
            <a:ext cx="8321040" cy="201168"/>
          </a:xfrm>
          <a:prstGeom prst="rect">
            <a:avLst/>
          </a:prstGeom>
          <a:noFill/>
          <a:ln/>
        </p:spPr>
        <p:txBody>
          <a:bodyPr wrap="square" lIns="0" tIns="0" rIns="0" bIns="0" rtlCol="0" anchor="ctr"/>
          <a:lstStyle/>
          <a:p>
            <a:pPr marL="0" indent="0">
              <a:buNone/>
            </a:pPr>
            <a:r>
              <a:rPr lang="en-US" sz="750" dirty="0">
                <a:solidFill>
                  <a:srgbClr val="8A99C0"/>
                </a:solidFill>
              </a:rPr>
              <a:t>Assessment mapping: T1 = Raw OCR ✓  ·  T2 = Improved OCR ✓  ·  T3 = Raw OCR + Entity LLM ✓  ·  T4 = Improved + Entity LLM ✓  ·  T5 = Bonus ✓</a:t>
            </a:r>
            <a:endParaRPr lang="en-US" sz="750" dirty="0"/>
          </a:p>
        </p:txBody>
      </p:sp>
      <p:sp>
        <p:nvSpPr>
          <p:cNvPr id="7" name="Text 12">
            <a:extLst>
              <a:ext uri="{FF2B5EF4-FFF2-40B4-BE49-F238E27FC236}">
                <a16:creationId xmlns:a16="http://schemas.microsoft.com/office/drawing/2014/main" id="{9BBB730B-3A8C-191C-9837-6B95BEEDE856}"/>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SROIE V2 Dataset — Known Issues &amp; Handling</a:t>
            </a:r>
            <a:endParaRPr lang="en-US" sz="1700" dirty="0"/>
          </a:p>
        </p:txBody>
      </p:sp>
      <p:sp>
        <p:nvSpPr>
          <p:cNvPr id="5" name="Shape 3"/>
          <p:cNvSpPr/>
          <p:nvPr/>
        </p:nvSpPr>
        <p:spPr>
          <a:xfrm>
            <a:off x="6720840" y="109728"/>
            <a:ext cx="1234440" cy="274320"/>
          </a:xfrm>
          <a:prstGeom prst="rect">
            <a:avLst/>
          </a:prstGeom>
          <a:solidFill>
            <a:srgbClr val="7C3AED">
              <a:alpha val="22000"/>
            </a:srgbClr>
          </a:solidFill>
          <a:ln w="12700">
            <a:solidFill>
              <a:srgbClr val="7C3AED"/>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2</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F59E0B"/>
          </a:solidFill>
          <a:ln w="12700">
            <a:solidFill>
              <a:srgbClr val="F59E0B"/>
            </a:solidFill>
            <a:prstDash val="solid"/>
          </a:ln>
        </p:spPr>
        <p:txBody>
          <a:bodyPr/>
          <a:lstStyle/>
          <a:p>
            <a:endParaRPr lang="en-US"/>
          </a:p>
        </p:txBody>
      </p:sp>
      <p:sp>
        <p:nvSpPr>
          <p:cNvPr id="13" name="Text 11"/>
          <p:cNvSpPr/>
          <p:nvPr/>
        </p:nvSpPr>
        <p:spPr>
          <a:xfrm>
            <a:off x="402336" y="594360"/>
            <a:ext cx="4749328" cy="256032"/>
          </a:xfrm>
          <a:prstGeom prst="rect">
            <a:avLst/>
          </a:prstGeom>
          <a:noFill/>
          <a:ln/>
        </p:spPr>
        <p:txBody>
          <a:bodyPr wrap="square" lIns="0" tIns="0" rIns="0" bIns="0" rtlCol="0" anchor="ctr"/>
          <a:lstStyle/>
          <a:p>
            <a:pPr marL="0" indent="0">
              <a:buNone/>
            </a:pPr>
            <a:r>
              <a:rPr lang="en-US" sz="1400" b="1" dirty="0">
                <a:solidFill>
                  <a:srgbClr val="F59E0B"/>
                </a:solidFill>
                <a:latin typeface="Trebuchet MS" pitchFamily="34" charset="0"/>
                <a:ea typeface="Trebuchet MS" pitchFamily="34" charset="-122"/>
                <a:cs typeface="Trebuchet MS" pitchFamily="34" charset="-120"/>
              </a:rPr>
              <a:t>KNOWN DATASET ISSUES</a:t>
            </a:r>
            <a:endParaRPr lang="en-US" sz="1400" dirty="0"/>
          </a:p>
        </p:txBody>
      </p:sp>
      <p:sp>
        <p:nvSpPr>
          <p:cNvPr id="14" name="Shape 12"/>
          <p:cNvSpPr/>
          <p:nvPr/>
        </p:nvSpPr>
        <p:spPr>
          <a:xfrm>
            <a:off x="274320" y="914400"/>
            <a:ext cx="8595360" cy="896112"/>
          </a:xfrm>
          <a:prstGeom prst="rect">
            <a:avLst/>
          </a:prstGeom>
          <a:solidFill>
            <a:srgbClr val="111838"/>
          </a:solidFill>
          <a:ln w="12700">
            <a:solidFill>
              <a:srgbClr val="1E2A5A"/>
            </a:solidFill>
            <a:prstDash val="solid"/>
          </a:ln>
        </p:spPr>
        <p:txBody>
          <a:bodyPr/>
          <a:lstStyle/>
          <a:p>
            <a:endParaRPr lang="en-US"/>
          </a:p>
        </p:txBody>
      </p:sp>
      <p:sp>
        <p:nvSpPr>
          <p:cNvPr id="15" name="Shape 13"/>
          <p:cNvSpPr/>
          <p:nvPr/>
        </p:nvSpPr>
        <p:spPr>
          <a:xfrm>
            <a:off x="274320" y="914400"/>
            <a:ext cx="54864" cy="896112"/>
          </a:xfrm>
          <a:prstGeom prst="rect">
            <a:avLst/>
          </a:prstGeom>
          <a:solidFill>
            <a:srgbClr val="F59E0B"/>
          </a:solidFill>
          <a:ln w="12700">
            <a:solidFill>
              <a:srgbClr val="F59E0B"/>
            </a:solidFill>
            <a:prstDash val="solid"/>
          </a:ln>
        </p:spPr>
        <p:txBody>
          <a:bodyPr/>
          <a:lstStyle/>
          <a:p>
            <a:endParaRPr lang="en-US"/>
          </a:p>
        </p:txBody>
      </p:sp>
      <p:sp>
        <p:nvSpPr>
          <p:cNvPr id="16" name="Text 14"/>
          <p:cNvSpPr/>
          <p:nvPr/>
        </p:nvSpPr>
        <p:spPr>
          <a:xfrm>
            <a:off x="475488" y="950976"/>
            <a:ext cx="2194560" cy="256032"/>
          </a:xfrm>
          <a:prstGeom prst="rect">
            <a:avLst/>
          </a:prstGeom>
          <a:noFill/>
          <a:ln/>
        </p:spPr>
        <p:txBody>
          <a:bodyPr wrap="square" lIns="0" tIns="0" rIns="0" bIns="0" rtlCol="0" anchor="ctr"/>
          <a:lstStyle/>
          <a:p>
            <a:pPr marL="0" indent="0">
              <a:buNone/>
            </a:pPr>
            <a:r>
              <a:rPr lang="en-US" sz="1200" b="1" dirty="0">
                <a:solidFill>
                  <a:srgbClr val="F59E0B"/>
                </a:solidFill>
              </a:rPr>
              <a:t>"tan woon yann" watermark</a:t>
            </a:r>
            <a:endParaRPr lang="en-US" sz="1200" dirty="0"/>
          </a:p>
        </p:txBody>
      </p:sp>
      <p:sp>
        <p:nvSpPr>
          <p:cNvPr id="17" name="Text 15"/>
          <p:cNvSpPr/>
          <p:nvPr/>
        </p:nvSpPr>
        <p:spPr>
          <a:xfrm>
            <a:off x="2743200" y="950976"/>
            <a:ext cx="548640" cy="219456"/>
          </a:xfrm>
          <a:prstGeom prst="rect">
            <a:avLst/>
          </a:prstGeom>
          <a:noFill/>
          <a:ln/>
        </p:spPr>
        <p:txBody>
          <a:bodyPr wrap="square" lIns="0" tIns="0" rIns="0" bIns="0" rtlCol="0" anchor="ctr"/>
          <a:lstStyle/>
          <a:p>
            <a:pPr marL="0" indent="0">
              <a:buNone/>
            </a:pPr>
            <a:r>
              <a:rPr lang="en-US" sz="1000" b="1" dirty="0">
                <a:solidFill>
                  <a:srgbClr val="8A99C0"/>
                </a:solidFill>
              </a:rPr>
              <a:t>Impact:</a:t>
            </a:r>
            <a:endParaRPr lang="en-US" sz="1000" dirty="0"/>
          </a:p>
        </p:txBody>
      </p:sp>
      <p:sp>
        <p:nvSpPr>
          <p:cNvPr id="18" name="Text 16"/>
          <p:cNvSpPr/>
          <p:nvPr/>
        </p:nvSpPr>
        <p:spPr>
          <a:xfrm>
            <a:off x="3401568" y="960120"/>
            <a:ext cx="4992951" cy="219456"/>
          </a:xfrm>
          <a:prstGeom prst="rect">
            <a:avLst/>
          </a:prstGeom>
          <a:noFill/>
          <a:ln/>
        </p:spPr>
        <p:txBody>
          <a:bodyPr wrap="square" lIns="0" tIns="0" rIns="0" bIns="0" rtlCol="0" anchor="ctr"/>
          <a:lstStyle/>
          <a:p>
            <a:pPr marL="0" indent="0">
              <a:buNone/>
            </a:pPr>
            <a:r>
              <a:rPr lang="en-US" sz="1000" dirty="0">
                <a:solidFill>
                  <a:srgbClr val="E8EDF5"/>
                </a:solidFill>
              </a:rPr>
              <a:t>Artificially depresses company score in Tiers 1 &amp; 2 — entity appears in every OCR output</a:t>
            </a:r>
            <a:endParaRPr lang="en-US" sz="1000" dirty="0"/>
          </a:p>
        </p:txBody>
      </p:sp>
      <p:sp>
        <p:nvSpPr>
          <p:cNvPr id="19" name="Text 17"/>
          <p:cNvSpPr/>
          <p:nvPr/>
        </p:nvSpPr>
        <p:spPr>
          <a:xfrm>
            <a:off x="2743200" y="1225296"/>
            <a:ext cx="640080" cy="219456"/>
          </a:xfrm>
          <a:prstGeom prst="rect">
            <a:avLst/>
          </a:prstGeom>
          <a:noFill/>
          <a:ln/>
        </p:spPr>
        <p:txBody>
          <a:bodyPr wrap="square" lIns="0" tIns="0" rIns="0" bIns="0" rtlCol="0" anchor="ctr"/>
          <a:lstStyle/>
          <a:p>
            <a:pPr marL="0" indent="0">
              <a:buNone/>
            </a:pPr>
            <a:r>
              <a:rPr lang="en-US" sz="1000" b="1" dirty="0">
                <a:solidFill>
                  <a:srgbClr val="8A99C0"/>
                </a:solidFill>
              </a:rPr>
              <a:t>Handling:</a:t>
            </a:r>
            <a:endParaRPr lang="en-US" sz="1000" dirty="0"/>
          </a:p>
        </p:txBody>
      </p:sp>
      <p:sp>
        <p:nvSpPr>
          <p:cNvPr id="20" name="Text 18"/>
          <p:cNvSpPr/>
          <p:nvPr/>
        </p:nvSpPr>
        <p:spPr>
          <a:xfrm>
            <a:off x="3401568" y="1225296"/>
            <a:ext cx="5303520" cy="512064"/>
          </a:xfrm>
          <a:prstGeom prst="rect">
            <a:avLst/>
          </a:prstGeom>
          <a:noFill/>
          <a:ln/>
        </p:spPr>
        <p:txBody>
          <a:bodyPr wrap="square" lIns="0" tIns="0" rIns="0" bIns="0" rtlCol="0" anchor="ctr"/>
          <a:lstStyle/>
          <a:p>
            <a:pPr marL="0" indent="0">
              <a:buNone/>
            </a:pPr>
            <a:r>
              <a:rPr lang="en-US" sz="1000" dirty="0">
                <a:solidFill>
                  <a:srgbClr val="E8EDF5"/>
                </a:solidFill>
              </a:rPr>
              <a:t>Noted in evaluation; Entity LLM ignores it — knows it's a watermark, not the company name</a:t>
            </a:r>
            <a:endParaRPr lang="en-US" sz="1000" dirty="0"/>
          </a:p>
        </p:txBody>
      </p:sp>
      <p:sp>
        <p:nvSpPr>
          <p:cNvPr id="21" name="Shape 19"/>
          <p:cNvSpPr/>
          <p:nvPr/>
        </p:nvSpPr>
        <p:spPr>
          <a:xfrm>
            <a:off x="274320" y="1920240"/>
            <a:ext cx="8595360" cy="896112"/>
          </a:xfrm>
          <a:prstGeom prst="rect">
            <a:avLst/>
          </a:prstGeom>
          <a:solidFill>
            <a:srgbClr val="111838"/>
          </a:solidFill>
          <a:ln w="12700">
            <a:solidFill>
              <a:srgbClr val="1E2A5A"/>
            </a:solidFill>
            <a:prstDash val="solid"/>
          </a:ln>
        </p:spPr>
        <p:txBody>
          <a:bodyPr/>
          <a:lstStyle/>
          <a:p>
            <a:endParaRPr lang="en-US"/>
          </a:p>
        </p:txBody>
      </p:sp>
      <p:sp>
        <p:nvSpPr>
          <p:cNvPr id="22" name="Shape 20"/>
          <p:cNvSpPr/>
          <p:nvPr/>
        </p:nvSpPr>
        <p:spPr>
          <a:xfrm>
            <a:off x="274320" y="1920240"/>
            <a:ext cx="54864" cy="896112"/>
          </a:xfrm>
          <a:prstGeom prst="rect">
            <a:avLst/>
          </a:prstGeom>
          <a:solidFill>
            <a:srgbClr val="9B59D6"/>
          </a:solidFill>
          <a:ln w="12700">
            <a:solidFill>
              <a:srgbClr val="9B59D6"/>
            </a:solidFill>
            <a:prstDash val="solid"/>
          </a:ln>
        </p:spPr>
        <p:txBody>
          <a:bodyPr/>
          <a:lstStyle/>
          <a:p>
            <a:endParaRPr lang="en-US"/>
          </a:p>
        </p:txBody>
      </p:sp>
      <p:sp>
        <p:nvSpPr>
          <p:cNvPr id="23" name="Text 21"/>
          <p:cNvSpPr/>
          <p:nvPr/>
        </p:nvSpPr>
        <p:spPr>
          <a:xfrm>
            <a:off x="475488" y="1956816"/>
            <a:ext cx="2194560" cy="256032"/>
          </a:xfrm>
          <a:prstGeom prst="rect">
            <a:avLst/>
          </a:prstGeom>
          <a:noFill/>
          <a:ln/>
        </p:spPr>
        <p:txBody>
          <a:bodyPr wrap="square" lIns="0" tIns="0" rIns="0" bIns="0" rtlCol="0" anchor="ctr"/>
          <a:lstStyle/>
          <a:p>
            <a:pPr marL="0" indent="0">
              <a:buNone/>
            </a:pPr>
            <a:r>
              <a:rPr lang="en-US" sz="1200" b="1" dirty="0">
                <a:solidFill>
                  <a:srgbClr val="9B59D6"/>
                </a:solidFill>
              </a:rPr>
              <a:t>Receipt #104 missing address</a:t>
            </a:r>
            <a:endParaRPr lang="en-US" sz="1200" dirty="0"/>
          </a:p>
        </p:txBody>
      </p:sp>
      <p:sp>
        <p:nvSpPr>
          <p:cNvPr id="24" name="Text 22"/>
          <p:cNvSpPr/>
          <p:nvPr/>
        </p:nvSpPr>
        <p:spPr>
          <a:xfrm>
            <a:off x="2743200" y="1956816"/>
            <a:ext cx="548640" cy="219456"/>
          </a:xfrm>
          <a:prstGeom prst="rect">
            <a:avLst/>
          </a:prstGeom>
          <a:noFill/>
          <a:ln/>
        </p:spPr>
        <p:txBody>
          <a:bodyPr wrap="square" lIns="0" tIns="0" rIns="0" bIns="0" rtlCol="0" anchor="ctr"/>
          <a:lstStyle/>
          <a:p>
            <a:pPr marL="0" indent="0">
              <a:buNone/>
            </a:pPr>
            <a:r>
              <a:rPr lang="en-US" sz="1000" b="1" dirty="0">
                <a:solidFill>
                  <a:srgbClr val="8A99C0"/>
                </a:solidFill>
              </a:rPr>
              <a:t>Impact:</a:t>
            </a:r>
            <a:endParaRPr lang="en-US" sz="1000" dirty="0"/>
          </a:p>
        </p:txBody>
      </p:sp>
      <p:sp>
        <p:nvSpPr>
          <p:cNvPr id="25" name="Text 23"/>
          <p:cNvSpPr/>
          <p:nvPr/>
        </p:nvSpPr>
        <p:spPr>
          <a:xfrm>
            <a:off x="3401568" y="1965960"/>
            <a:ext cx="4535751" cy="219456"/>
          </a:xfrm>
          <a:prstGeom prst="rect">
            <a:avLst/>
          </a:prstGeom>
          <a:noFill/>
          <a:ln/>
        </p:spPr>
        <p:txBody>
          <a:bodyPr wrap="square" lIns="0" tIns="0" rIns="0" bIns="0" rtlCol="0" anchor="ctr"/>
          <a:lstStyle/>
          <a:p>
            <a:pPr marL="0" indent="0">
              <a:buNone/>
            </a:pPr>
            <a:r>
              <a:rPr lang="en-US" sz="1000" dirty="0">
                <a:solidFill>
                  <a:srgbClr val="E8EDF5"/>
                </a:solidFill>
              </a:rPr>
              <a:t>One ground truth entry has no address field — skews address metric if included</a:t>
            </a:r>
            <a:endParaRPr lang="en-US" sz="1000" dirty="0"/>
          </a:p>
        </p:txBody>
      </p:sp>
      <p:sp>
        <p:nvSpPr>
          <p:cNvPr id="26" name="Text 24"/>
          <p:cNvSpPr/>
          <p:nvPr/>
        </p:nvSpPr>
        <p:spPr>
          <a:xfrm>
            <a:off x="2743200" y="2231136"/>
            <a:ext cx="640080" cy="219456"/>
          </a:xfrm>
          <a:prstGeom prst="rect">
            <a:avLst/>
          </a:prstGeom>
          <a:noFill/>
          <a:ln/>
        </p:spPr>
        <p:txBody>
          <a:bodyPr wrap="square" lIns="0" tIns="0" rIns="0" bIns="0" rtlCol="0" anchor="ctr"/>
          <a:lstStyle/>
          <a:p>
            <a:pPr marL="0" indent="0">
              <a:buNone/>
            </a:pPr>
            <a:r>
              <a:rPr lang="en-US" sz="1000" b="1" dirty="0">
                <a:solidFill>
                  <a:srgbClr val="8A99C0"/>
                </a:solidFill>
              </a:rPr>
              <a:t>Handling:</a:t>
            </a:r>
            <a:endParaRPr lang="en-US" sz="1000" dirty="0"/>
          </a:p>
        </p:txBody>
      </p:sp>
      <p:sp>
        <p:nvSpPr>
          <p:cNvPr id="27" name="Text 25"/>
          <p:cNvSpPr/>
          <p:nvPr/>
        </p:nvSpPr>
        <p:spPr>
          <a:xfrm>
            <a:off x="3401568" y="2231136"/>
            <a:ext cx="5303520" cy="512064"/>
          </a:xfrm>
          <a:prstGeom prst="rect">
            <a:avLst/>
          </a:prstGeom>
          <a:noFill/>
          <a:ln/>
        </p:spPr>
        <p:txBody>
          <a:bodyPr wrap="square" lIns="0" tIns="0" rIns="0" bIns="0" rtlCol="0" anchor="ctr"/>
          <a:lstStyle/>
          <a:p>
            <a:pPr marL="0" indent="0">
              <a:buNone/>
            </a:pPr>
            <a:r>
              <a:rPr lang="en-US" sz="1000" dirty="0">
                <a:solidFill>
                  <a:srgbClr val="E8EDF5"/>
                </a:solidFill>
              </a:rPr>
              <a:t>Excluded from all address metric calculations</a:t>
            </a:r>
            <a:endParaRPr lang="en-US" sz="1000" dirty="0"/>
          </a:p>
        </p:txBody>
      </p:sp>
      <p:sp>
        <p:nvSpPr>
          <p:cNvPr id="28" name="Shape 26"/>
          <p:cNvSpPr/>
          <p:nvPr/>
        </p:nvSpPr>
        <p:spPr>
          <a:xfrm>
            <a:off x="274320" y="2926080"/>
            <a:ext cx="8595360" cy="896112"/>
          </a:xfrm>
          <a:prstGeom prst="rect">
            <a:avLst/>
          </a:prstGeom>
          <a:solidFill>
            <a:srgbClr val="111838"/>
          </a:solidFill>
          <a:ln w="12700">
            <a:solidFill>
              <a:srgbClr val="1E2A5A"/>
            </a:solidFill>
            <a:prstDash val="solid"/>
          </a:ln>
        </p:spPr>
        <p:txBody>
          <a:bodyPr/>
          <a:lstStyle/>
          <a:p>
            <a:endParaRPr lang="en-US"/>
          </a:p>
        </p:txBody>
      </p:sp>
      <p:sp>
        <p:nvSpPr>
          <p:cNvPr id="29" name="Shape 27"/>
          <p:cNvSpPr/>
          <p:nvPr/>
        </p:nvSpPr>
        <p:spPr>
          <a:xfrm>
            <a:off x="274320" y="2926080"/>
            <a:ext cx="54864" cy="896112"/>
          </a:xfrm>
          <a:prstGeom prst="rect">
            <a:avLst/>
          </a:prstGeom>
          <a:solidFill>
            <a:srgbClr val="00C2E0"/>
          </a:solidFill>
          <a:ln w="12700">
            <a:solidFill>
              <a:srgbClr val="00C2E0"/>
            </a:solidFill>
            <a:prstDash val="solid"/>
          </a:ln>
        </p:spPr>
        <p:txBody>
          <a:bodyPr/>
          <a:lstStyle/>
          <a:p>
            <a:endParaRPr lang="en-US"/>
          </a:p>
        </p:txBody>
      </p:sp>
      <p:sp>
        <p:nvSpPr>
          <p:cNvPr id="30" name="Text 28"/>
          <p:cNvSpPr/>
          <p:nvPr/>
        </p:nvSpPr>
        <p:spPr>
          <a:xfrm>
            <a:off x="475488" y="2962656"/>
            <a:ext cx="2194560" cy="256032"/>
          </a:xfrm>
          <a:prstGeom prst="rect">
            <a:avLst/>
          </a:prstGeom>
          <a:noFill/>
          <a:ln/>
        </p:spPr>
        <p:txBody>
          <a:bodyPr wrap="square" lIns="0" tIns="0" rIns="0" bIns="0" rtlCol="0" anchor="ctr"/>
          <a:lstStyle/>
          <a:p>
            <a:pPr marL="0" indent="0">
              <a:buNone/>
            </a:pPr>
            <a:r>
              <a:rPr lang="en-US" sz="1200" b="1" dirty="0">
                <a:solidFill>
                  <a:srgbClr val="00C2E0"/>
                </a:solidFill>
              </a:rPr>
              <a:t>Inconsistent date formats</a:t>
            </a:r>
            <a:endParaRPr lang="en-US" sz="1200" dirty="0"/>
          </a:p>
        </p:txBody>
      </p:sp>
      <p:sp>
        <p:nvSpPr>
          <p:cNvPr id="31" name="Text 29"/>
          <p:cNvSpPr/>
          <p:nvPr/>
        </p:nvSpPr>
        <p:spPr>
          <a:xfrm>
            <a:off x="2743200" y="2962656"/>
            <a:ext cx="548640" cy="219456"/>
          </a:xfrm>
          <a:prstGeom prst="rect">
            <a:avLst/>
          </a:prstGeom>
          <a:noFill/>
          <a:ln/>
        </p:spPr>
        <p:txBody>
          <a:bodyPr wrap="square" lIns="0" tIns="0" rIns="0" bIns="0" rtlCol="0" anchor="ctr"/>
          <a:lstStyle/>
          <a:p>
            <a:pPr marL="0" indent="0">
              <a:buNone/>
            </a:pPr>
            <a:r>
              <a:rPr lang="en-US" sz="1000" b="1" dirty="0">
                <a:solidFill>
                  <a:srgbClr val="8A99C0"/>
                </a:solidFill>
              </a:rPr>
              <a:t>Impact:</a:t>
            </a:r>
            <a:endParaRPr lang="en-US" sz="1000" dirty="0"/>
          </a:p>
        </p:txBody>
      </p:sp>
      <p:sp>
        <p:nvSpPr>
          <p:cNvPr id="32" name="Text 30"/>
          <p:cNvSpPr/>
          <p:nvPr/>
        </p:nvSpPr>
        <p:spPr>
          <a:xfrm>
            <a:off x="3401568" y="2971800"/>
            <a:ext cx="5180729" cy="219456"/>
          </a:xfrm>
          <a:prstGeom prst="rect">
            <a:avLst/>
          </a:prstGeom>
          <a:noFill/>
          <a:ln/>
        </p:spPr>
        <p:txBody>
          <a:bodyPr wrap="square" lIns="0" tIns="0" rIns="0" bIns="0" rtlCol="0" anchor="ctr"/>
          <a:lstStyle/>
          <a:p>
            <a:pPr marL="0" indent="0">
              <a:buNone/>
            </a:pPr>
            <a:r>
              <a:rPr lang="en-US" sz="1000" dirty="0">
                <a:solidFill>
                  <a:srgbClr val="E8EDF5"/>
                </a:solidFill>
              </a:rPr>
              <a:t>DD/MM/YYYY, DD-MM-YY, DD MMM YYYY — exact match would fail most correct extractions</a:t>
            </a:r>
            <a:endParaRPr lang="en-US" sz="1000" dirty="0"/>
          </a:p>
        </p:txBody>
      </p:sp>
      <p:sp>
        <p:nvSpPr>
          <p:cNvPr id="33" name="Text 31"/>
          <p:cNvSpPr/>
          <p:nvPr/>
        </p:nvSpPr>
        <p:spPr>
          <a:xfrm>
            <a:off x="2743200" y="3236976"/>
            <a:ext cx="640080" cy="219456"/>
          </a:xfrm>
          <a:prstGeom prst="rect">
            <a:avLst/>
          </a:prstGeom>
          <a:noFill/>
          <a:ln/>
        </p:spPr>
        <p:txBody>
          <a:bodyPr wrap="square" lIns="0" tIns="0" rIns="0" bIns="0" rtlCol="0" anchor="ctr"/>
          <a:lstStyle/>
          <a:p>
            <a:pPr marL="0" indent="0">
              <a:buNone/>
            </a:pPr>
            <a:r>
              <a:rPr lang="en-US" sz="1000" b="1" dirty="0">
                <a:solidFill>
                  <a:srgbClr val="8A99C0"/>
                </a:solidFill>
              </a:rPr>
              <a:t>Handling:</a:t>
            </a:r>
            <a:endParaRPr lang="en-US" sz="1000" dirty="0"/>
          </a:p>
        </p:txBody>
      </p:sp>
      <p:sp>
        <p:nvSpPr>
          <p:cNvPr id="34" name="Text 32"/>
          <p:cNvSpPr/>
          <p:nvPr/>
        </p:nvSpPr>
        <p:spPr>
          <a:xfrm>
            <a:off x="3401568" y="3236976"/>
            <a:ext cx="5303520" cy="512064"/>
          </a:xfrm>
          <a:prstGeom prst="rect">
            <a:avLst/>
          </a:prstGeom>
          <a:noFill/>
          <a:ln/>
        </p:spPr>
        <p:txBody>
          <a:bodyPr wrap="square" lIns="0" tIns="0" rIns="0" bIns="0" rtlCol="0" anchor="ctr"/>
          <a:lstStyle/>
          <a:p>
            <a:pPr marL="0" indent="0">
              <a:buNone/>
            </a:pPr>
            <a:r>
              <a:rPr lang="en-US" sz="1000" dirty="0">
                <a:solidFill>
                  <a:srgbClr val="E8EDF5"/>
                </a:solidFill>
              </a:rPr>
              <a:t>Fuzzy matching (token_sort_ratio) chosen over exact match — evaluates semantic correctness</a:t>
            </a:r>
            <a:endParaRPr lang="en-US" sz="1000" dirty="0"/>
          </a:p>
        </p:txBody>
      </p:sp>
      <p:sp>
        <p:nvSpPr>
          <p:cNvPr id="35" name="Shape 33"/>
          <p:cNvSpPr/>
          <p:nvPr/>
        </p:nvSpPr>
        <p:spPr>
          <a:xfrm>
            <a:off x="274320" y="3931920"/>
            <a:ext cx="8595360" cy="896112"/>
          </a:xfrm>
          <a:prstGeom prst="rect">
            <a:avLst/>
          </a:prstGeom>
          <a:solidFill>
            <a:srgbClr val="111838"/>
          </a:solidFill>
          <a:ln w="12700">
            <a:solidFill>
              <a:srgbClr val="1E2A5A"/>
            </a:solidFill>
            <a:prstDash val="solid"/>
          </a:ln>
        </p:spPr>
        <p:txBody>
          <a:bodyPr/>
          <a:lstStyle/>
          <a:p>
            <a:endParaRPr lang="en-US"/>
          </a:p>
        </p:txBody>
      </p:sp>
      <p:sp>
        <p:nvSpPr>
          <p:cNvPr id="36" name="Shape 34"/>
          <p:cNvSpPr/>
          <p:nvPr/>
        </p:nvSpPr>
        <p:spPr>
          <a:xfrm>
            <a:off x="274320" y="3931920"/>
            <a:ext cx="54864" cy="896112"/>
          </a:xfrm>
          <a:prstGeom prst="rect">
            <a:avLst/>
          </a:prstGeom>
          <a:solidFill>
            <a:srgbClr val="10B981"/>
          </a:solidFill>
          <a:ln w="12700">
            <a:solidFill>
              <a:srgbClr val="10B981"/>
            </a:solidFill>
            <a:prstDash val="solid"/>
          </a:ln>
        </p:spPr>
        <p:txBody>
          <a:bodyPr/>
          <a:lstStyle/>
          <a:p>
            <a:endParaRPr lang="en-US"/>
          </a:p>
        </p:txBody>
      </p:sp>
      <p:sp>
        <p:nvSpPr>
          <p:cNvPr id="37" name="Text 35"/>
          <p:cNvSpPr/>
          <p:nvPr/>
        </p:nvSpPr>
        <p:spPr>
          <a:xfrm>
            <a:off x="475488" y="3968496"/>
            <a:ext cx="2194560" cy="256032"/>
          </a:xfrm>
          <a:prstGeom prst="rect">
            <a:avLst/>
          </a:prstGeom>
          <a:noFill/>
          <a:ln/>
        </p:spPr>
        <p:txBody>
          <a:bodyPr wrap="square" lIns="0" tIns="0" rIns="0" bIns="0" rtlCol="0" anchor="ctr"/>
          <a:lstStyle/>
          <a:p>
            <a:pPr marL="0" indent="0">
              <a:buNone/>
            </a:pPr>
            <a:r>
              <a:rPr lang="en-US" sz="1200" b="1" dirty="0">
                <a:solidFill>
                  <a:srgbClr val="10B981"/>
                </a:solidFill>
              </a:rPr>
              <a:t>Inconsistent total formats</a:t>
            </a:r>
            <a:endParaRPr lang="en-US" sz="1200" dirty="0"/>
          </a:p>
        </p:txBody>
      </p:sp>
      <p:sp>
        <p:nvSpPr>
          <p:cNvPr id="38" name="Text 36"/>
          <p:cNvSpPr/>
          <p:nvPr/>
        </p:nvSpPr>
        <p:spPr>
          <a:xfrm>
            <a:off x="2743200" y="3968496"/>
            <a:ext cx="548640" cy="219456"/>
          </a:xfrm>
          <a:prstGeom prst="rect">
            <a:avLst/>
          </a:prstGeom>
          <a:noFill/>
          <a:ln/>
        </p:spPr>
        <p:txBody>
          <a:bodyPr wrap="square" lIns="0" tIns="0" rIns="0" bIns="0" rtlCol="0" anchor="ctr"/>
          <a:lstStyle/>
          <a:p>
            <a:pPr marL="0" indent="0">
              <a:buNone/>
            </a:pPr>
            <a:r>
              <a:rPr lang="en-US" sz="1000" b="1" dirty="0">
                <a:solidFill>
                  <a:srgbClr val="8A99C0"/>
                </a:solidFill>
              </a:rPr>
              <a:t>Impact:</a:t>
            </a:r>
            <a:endParaRPr lang="en-US" sz="1000" dirty="0"/>
          </a:p>
        </p:txBody>
      </p:sp>
      <p:sp>
        <p:nvSpPr>
          <p:cNvPr id="39" name="Text 37"/>
          <p:cNvSpPr/>
          <p:nvPr/>
        </p:nvSpPr>
        <p:spPr>
          <a:xfrm>
            <a:off x="3401569" y="3977640"/>
            <a:ext cx="4645152" cy="219456"/>
          </a:xfrm>
          <a:prstGeom prst="rect">
            <a:avLst/>
          </a:prstGeom>
          <a:noFill/>
          <a:ln/>
        </p:spPr>
        <p:txBody>
          <a:bodyPr wrap="square" lIns="0" tIns="0" rIns="0" bIns="0" rtlCol="0" anchor="ctr"/>
          <a:lstStyle/>
          <a:p>
            <a:pPr marL="0" indent="0">
              <a:buNone/>
            </a:pPr>
            <a:r>
              <a:rPr lang="en-US" sz="1000" dirty="0">
                <a:solidFill>
                  <a:srgbClr val="E8EDF5"/>
                </a:solidFill>
              </a:rPr>
              <a:t>Values with and without '$' prefix — exact match unfair</a:t>
            </a:r>
            <a:endParaRPr lang="en-US" sz="1000" dirty="0"/>
          </a:p>
        </p:txBody>
      </p:sp>
      <p:sp>
        <p:nvSpPr>
          <p:cNvPr id="40" name="Text 38"/>
          <p:cNvSpPr/>
          <p:nvPr/>
        </p:nvSpPr>
        <p:spPr>
          <a:xfrm>
            <a:off x="2743200" y="4242816"/>
            <a:ext cx="640080" cy="219456"/>
          </a:xfrm>
          <a:prstGeom prst="rect">
            <a:avLst/>
          </a:prstGeom>
          <a:noFill/>
          <a:ln/>
        </p:spPr>
        <p:txBody>
          <a:bodyPr wrap="square" lIns="0" tIns="0" rIns="0" bIns="0" rtlCol="0" anchor="ctr"/>
          <a:lstStyle/>
          <a:p>
            <a:pPr marL="0" indent="0">
              <a:buNone/>
            </a:pPr>
            <a:r>
              <a:rPr lang="en-US" sz="1000" b="1" dirty="0">
                <a:solidFill>
                  <a:srgbClr val="8A99C0"/>
                </a:solidFill>
              </a:rPr>
              <a:t>Handling:</a:t>
            </a:r>
            <a:endParaRPr lang="en-US" sz="1000" dirty="0"/>
          </a:p>
        </p:txBody>
      </p:sp>
      <p:sp>
        <p:nvSpPr>
          <p:cNvPr id="41" name="Text 39"/>
          <p:cNvSpPr/>
          <p:nvPr/>
        </p:nvSpPr>
        <p:spPr>
          <a:xfrm>
            <a:off x="3401568" y="4242816"/>
            <a:ext cx="5303520" cy="512064"/>
          </a:xfrm>
          <a:prstGeom prst="rect">
            <a:avLst/>
          </a:prstGeom>
          <a:noFill/>
          <a:ln/>
        </p:spPr>
        <p:txBody>
          <a:bodyPr wrap="square" lIns="0" tIns="0" rIns="0" bIns="0" rtlCol="0" anchor="ctr"/>
          <a:lstStyle/>
          <a:p>
            <a:pPr marL="0" indent="0">
              <a:buNone/>
            </a:pPr>
            <a:r>
              <a:rPr lang="en-US" sz="1000" dirty="0">
                <a:solidFill>
                  <a:srgbClr val="E8EDF5"/>
                </a:solidFill>
              </a:rPr>
              <a:t>Fuzzy matching handles currency formatting differences</a:t>
            </a:r>
            <a:endParaRPr lang="en-US" sz="1000" dirty="0"/>
          </a:p>
        </p:txBody>
      </p:sp>
      <p:sp>
        <p:nvSpPr>
          <p:cNvPr id="7" name="Text 12">
            <a:extLst>
              <a:ext uri="{FF2B5EF4-FFF2-40B4-BE49-F238E27FC236}">
                <a16:creationId xmlns:a16="http://schemas.microsoft.com/office/drawing/2014/main" id="{3F112EED-C644-C248-342F-F1C48AA2BEAF}"/>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Technical Stack and Architecture</a:t>
            </a:r>
            <a:endParaRPr lang="en-US" sz="1700" dirty="0"/>
          </a:p>
        </p:txBody>
      </p:sp>
      <p:sp>
        <p:nvSpPr>
          <p:cNvPr id="5" name="Shape 3"/>
          <p:cNvSpPr/>
          <p:nvPr/>
        </p:nvSpPr>
        <p:spPr>
          <a:xfrm>
            <a:off x="6720840" y="109728"/>
            <a:ext cx="1234440" cy="274320"/>
          </a:xfrm>
          <a:prstGeom prst="rect">
            <a:avLst/>
          </a:prstGeom>
          <a:solidFill>
            <a:srgbClr val="7C3AED">
              <a:alpha val="22000"/>
            </a:srgbClr>
          </a:solidFill>
          <a:ln w="12700">
            <a:solidFill>
              <a:srgbClr val="7C3AED"/>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2</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402336" y="594360"/>
            <a:ext cx="3657600" cy="256032"/>
          </a:xfrm>
          <a:prstGeom prst="rect">
            <a:avLst/>
          </a:prstGeom>
          <a:noFill/>
          <a:ln/>
        </p:spPr>
        <p:txBody>
          <a:bodyPr wrap="square" lIns="0" tIns="0" rIns="0" bIns="0" rtlCol="0" anchor="ctr"/>
          <a:lstStyle/>
          <a:p>
            <a:pPr marL="0" indent="0">
              <a:buNone/>
            </a:pPr>
            <a:r>
              <a:rPr lang="en-US" sz="1400" b="1" dirty="0">
                <a:solidFill>
                  <a:srgbClr val="7C3AED"/>
                </a:solidFill>
                <a:latin typeface="Trebuchet MS" pitchFamily="34" charset="0"/>
                <a:ea typeface="Trebuchet MS" pitchFamily="34" charset="-122"/>
                <a:cs typeface="Trebuchet MS" pitchFamily="34" charset="-120"/>
              </a:rPr>
              <a:t>TECHNOLOGY STACK</a:t>
            </a:r>
            <a:endParaRPr lang="en-US" sz="1400" dirty="0"/>
          </a:p>
        </p:txBody>
      </p:sp>
      <p:sp>
        <p:nvSpPr>
          <p:cNvPr id="14" name="Shape 12"/>
          <p:cNvSpPr/>
          <p:nvPr/>
        </p:nvSpPr>
        <p:spPr>
          <a:xfrm>
            <a:off x="274320" y="914400"/>
            <a:ext cx="4160520" cy="658368"/>
          </a:xfrm>
          <a:prstGeom prst="rect">
            <a:avLst/>
          </a:prstGeom>
          <a:solidFill>
            <a:srgbClr val="111838"/>
          </a:solidFill>
          <a:ln w="12700">
            <a:solidFill>
              <a:srgbClr val="1E2A5A"/>
            </a:solidFill>
            <a:prstDash val="solid"/>
          </a:ln>
        </p:spPr>
        <p:txBody>
          <a:bodyPr/>
          <a:lstStyle/>
          <a:p>
            <a:endParaRPr lang="en-US"/>
          </a:p>
        </p:txBody>
      </p:sp>
      <p:sp>
        <p:nvSpPr>
          <p:cNvPr id="15" name="Shape 13"/>
          <p:cNvSpPr/>
          <p:nvPr/>
        </p:nvSpPr>
        <p:spPr>
          <a:xfrm>
            <a:off x="274320" y="914400"/>
            <a:ext cx="54864" cy="658368"/>
          </a:xfrm>
          <a:prstGeom prst="rect">
            <a:avLst/>
          </a:prstGeom>
          <a:solidFill>
            <a:srgbClr val="7C3AED"/>
          </a:solidFill>
          <a:ln w="12700">
            <a:solidFill>
              <a:srgbClr val="7C3AED"/>
            </a:solidFill>
            <a:prstDash val="solid"/>
          </a:ln>
        </p:spPr>
        <p:txBody>
          <a:bodyPr/>
          <a:lstStyle/>
          <a:p>
            <a:endParaRPr lang="en-US"/>
          </a:p>
        </p:txBody>
      </p:sp>
      <p:sp>
        <p:nvSpPr>
          <p:cNvPr id="16" name="Text 14"/>
          <p:cNvSpPr/>
          <p:nvPr/>
        </p:nvSpPr>
        <p:spPr>
          <a:xfrm>
            <a:off x="475488" y="950976"/>
            <a:ext cx="1188720" cy="256032"/>
          </a:xfrm>
          <a:prstGeom prst="rect">
            <a:avLst/>
          </a:prstGeom>
          <a:noFill/>
          <a:ln/>
        </p:spPr>
        <p:txBody>
          <a:bodyPr wrap="square" lIns="0" tIns="0" rIns="0" bIns="0" rtlCol="0" anchor="ctr"/>
          <a:lstStyle/>
          <a:p>
            <a:pPr marL="0" indent="0">
              <a:buNone/>
            </a:pPr>
            <a:r>
              <a:rPr lang="en-US" sz="1000" b="1" dirty="0">
                <a:solidFill>
                  <a:srgbClr val="8A99C0"/>
                </a:solidFill>
              </a:rPr>
              <a:t>OCR Engine</a:t>
            </a:r>
            <a:endParaRPr lang="en-US" sz="1000" dirty="0"/>
          </a:p>
        </p:txBody>
      </p:sp>
      <p:sp>
        <p:nvSpPr>
          <p:cNvPr id="17" name="Text 15"/>
          <p:cNvSpPr/>
          <p:nvPr/>
        </p:nvSpPr>
        <p:spPr>
          <a:xfrm>
            <a:off x="1737360" y="950976"/>
            <a:ext cx="2560320" cy="256032"/>
          </a:xfrm>
          <a:prstGeom prst="rect">
            <a:avLst/>
          </a:prstGeom>
          <a:noFill/>
          <a:ln/>
        </p:spPr>
        <p:txBody>
          <a:bodyPr wrap="square" lIns="0" tIns="0" rIns="0" bIns="0" rtlCol="0" anchor="ctr"/>
          <a:lstStyle/>
          <a:p>
            <a:pPr marL="0" indent="0">
              <a:buNone/>
            </a:pPr>
            <a:r>
              <a:rPr lang="en-US" sz="1200" b="1" dirty="0">
                <a:solidFill>
                  <a:srgbClr val="9B59D6"/>
                </a:solidFill>
              </a:rPr>
              <a:t>EasyOCR</a:t>
            </a:r>
            <a:endParaRPr lang="en-US" sz="1200" dirty="0"/>
          </a:p>
        </p:txBody>
      </p:sp>
      <p:sp>
        <p:nvSpPr>
          <p:cNvPr id="18" name="Text 16"/>
          <p:cNvSpPr/>
          <p:nvPr/>
        </p:nvSpPr>
        <p:spPr>
          <a:xfrm>
            <a:off x="475488" y="1243584"/>
            <a:ext cx="3840480" cy="274320"/>
          </a:xfrm>
          <a:prstGeom prst="rect">
            <a:avLst/>
          </a:prstGeom>
          <a:noFill/>
          <a:ln/>
        </p:spPr>
        <p:txBody>
          <a:bodyPr wrap="square" lIns="0" tIns="0" rIns="0" bIns="0" rtlCol="0" anchor="ctr"/>
          <a:lstStyle/>
          <a:p>
            <a:pPr marL="0" indent="0">
              <a:buNone/>
            </a:pPr>
            <a:r>
              <a:rPr lang="en-US" sz="1000" dirty="0">
                <a:solidFill>
                  <a:srgbClr val="E8EDF5"/>
                </a:solidFill>
              </a:rPr>
              <a:t>Stable on M2; good quality on thermal receipts; confidence threshold 0.2</a:t>
            </a:r>
            <a:endParaRPr lang="en-US" sz="1000" dirty="0"/>
          </a:p>
        </p:txBody>
      </p:sp>
      <p:sp>
        <p:nvSpPr>
          <p:cNvPr id="19" name="Shape 17"/>
          <p:cNvSpPr/>
          <p:nvPr/>
        </p:nvSpPr>
        <p:spPr>
          <a:xfrm>
            <a:off x="274320" y="1664208"/>
            <a:ext cx="4160520" cy="658368"/>
          </a:xfrm>
          <a:prstGeom prst="rect">
            <a:avLst/>
          </a:prstGeom>
          <a:solidFill>
            <a:srgbClr val="111838"/>
          </a:solidFill>
          <a:ln w="12700">
            <a:solidFill>
              <a:srgbClr val="1E2A5A"/>
            </a:solidFill>
            <a:prstDash val="solid"/>
          </a:ln>
        </p:spPr>
        <p:txBody>
          <a:bodyPr/>
          <a:lstStyle/>
          <a:p>
            <a:endParaRPr lang="en-US"/>
          </a:p>
        </p:txBody>
      </p:sp>
      <p:sp>
        <p:nvSpPr>
          <p:cNvPr id="20" name="Shape 18"/>
          <p:cNvSpPr/>
          <p:nvPr/>
        </p:nvSpPr>
        <p:spPr>
          <a:xfrm>
            <a:off x="274320" y="1664208"/>
            <a:ext cx="54864" cy="658368"/>
          </a:xfrm>
          <a:prstGeom prst="rect">
            <a:avLst/>
          </a:prstGeom>
          <a:solidFill>
            <a:srgbClr val="7C3AED"/>
          </a:solidFill>
          <a:ln w="12700">
            <a:solidFill>
              <a:srgbClr val="7C3AED"/>
            </a:solidFill>
            <a:prstDash val="solid"/>
          </a:ln>
        </p:spPr>
        <p:txBody>
          <a:bodyPr/>
          <a:lstStyle/>
          <a:p>
            <a:endParaRPr lang="en-US"/>
          </a:p>
        </p:txBody>
      </p:sp>
      <p:sp>
        <p:nvSpPr>
          <p:cNvPr id="21" name="Text 19"/>
          <p:cNvSpPr/>
          <p:nvPr/>
        </p:nvSpPr>
        <p:spPr>
          <a:xfrm>
            <a:off x="475488" y="1700784"/>
            <a:ext cx="1188720" cy="256032"/>
          </a:xfrm>
          <a:prstGeom prst="rect">
            <a:avLst/>
          </a:prstGeom>
          <a:noFill/>
          <a:ln/>
        </p:spPr>
        <p:txBody>
          <a:bodyPr wrap="square" lIns="0" tIns="0" rIns="0" bIns="0" rtlCol="0" anchor="ctr"/>
          <a:lstStyle/>
          <a:p>
            <a:pPr marL="0" indent="0">
              <a:buNone/>
            </a:pPr>
            <a:r>
              <a:rPr lang="en-US" sz="1000" b="1" dirty="0">
                <a:solidFill>
                  <a:srgbClr val="8A99C0"/>
                </a:solidFill>
              </a:rPr>
              <a:t>Multimodal LLM</a:t>
            </a:r>
            <a:endParaRPr lang="en-US" sz="1000" dirty="0"/>
          </a:p>
        </p:txBody>
      </p:sp>
      <p:sp>
        <p:nvSpPr>
          <p:cNvPr id="22" name="Text 20"/>
          <p:cNvSpPr/>
          <p:nvPr/>
        </p:nvSpPr>
        <p:spPr>
          <a:xfrm>
            <a:off x="1737360" y="1700784"/>
            <a:ext cx="2560320" cy="256032"/>
          </a:xfrm>
          <a:prstGeom prst="rect">
            <a:avLst/>
          </a:prstGeom>
          <a:noFill/>
          <a:ln/>
        </p:spPr>
        <p:txBody>
          <a:bodyPr wrap="square" lIns="0" tIns="0" rIns="0" bIns="0" rtlCol="0" anchor="ctr"/>
          <a:lstStyle/>
          <a:p>
            <a:pPr marL="0" indent="0">
              <a:buNone/>
            </a:pPr>
            <a:r>
              <a:rPr lang="en-US" sz="1200" b="1" dirty="0">
                <a:solidFill>
                  <a:srgbClr val="9B59D6"/>
                </a:solidFill>
              </a:rPr>
              <a:t>Gemini 2.5 Flash</a:t>
            </a:r>
            <a:endParaRPr lang="en-US" sz="1200" dirty="0"/>
          </a:p>
        </p:txBody>
      </p:sp>
      <p:sp>
        <p:nvSpPr>
          <p:cNvPr id="23" name="Text 21"/>
          <p:cNvSpPr/>
          <p:nvPr/>
        </p:nvSpPr>
        <p:spPr>
          <a:xfrm>
            <a:off x="475488" y="1993392"/>
            <a:ext cx="3840480" cy="274320"/>
          </a:xfrm>
          <a:prstGeom prst="rect">
            <a:avLst/>
          </a:prstGeom>
          <a:noFill/>
          <a:ln/>
        </p:spPr>
        <p:txBody>
          <a:bodyPr wrap="square" lIns="0" tIns="0" rIns="0" bIns="0" rtlCol="0" anchor="ctr"/>
          <a:lstStyle/>
          <a:p>
            <a:pPr marL="0" indent="0">
              <a:buNone/>
            </a:pPr>
            <a:r>
              <a:rPr lang="en-US" sz="1000" dirty="0">
                <a:solidFill>
                  <a:srgbClr val="E8EDF5"/>
                </a:solidFill>
              </a:rPr>
              <a:t>Via langchain-google-genai; Tiers 2, 3, 4, 5</a:t>
            </a:r>
            <a:endParaRPr lang="en-US" sz="1000" dirty="0"/>
          </a:p>
        </p:txBody>
      </p:sp>
      <p:sp>
        <p:nvSpPr>
          <p:cNvPr id="24" name="Shape 22"/>
          <p:cNvSpPr/>
          <p:nvPr/>
        </p:nvSpPr>
        <p:spPr>
          <a:xfrm>
            <a:off x="274320" y="2414016"/>
            <a:ext cx="4160520" cy="658368"/>
          </a:xfrm>
          <a:prstGeom prst="rect">
            <a:avLst/>
          </a:prstGeom>
          <a:solidFill>
            <a:srgbClr val="111838"/>
          </a:solidFill>
          <a:ln w="12700">
            <a:solidFill>
              <a:srgbClr val="1E2A5A"/>
            </a:solidFill>
            <a:prstDash val="solid"/>
          </a:ln>
        </p:spPr>
        <p:txBody>
          <a:bodyPr/>
          <a:lstStyle/>
          <a:p>
            <a:endParaRPr lang="en-US"/>
          </a:p>
        </p:txBody>
      </p:sp>
      <p:sp>
        <p:nvSpPr>
          <p:cNvPr id="25" name="Shape 23"/>
          <p:cNvSpPr/>
          <p:nvPr/>
        </p:nvSpPr>
        <p:spPr>
          <a:xfrm>
            <a:off x="274320" y="2414016"/>
            <a:ext cx="54864" cy="658368"/>
          </a:xfrm>
          <a:prstGeom prst="rect">
            <a:avLst/>
          </a:prstGeom>
          <a:solidFill>
            <a:srgbClr val="7C3AED"/>
          </a:solidFill>
          <a:ln w="12700">
            <a:solidFill>
              <a:srgbClr val="7C3AED"/>
            </a:solidFill>
            <a:prstDash val="solid"/>
          </a:ln>
        </p:spPr>
        <p:txBody>
          <a:bodyPr/>
          <a:lstStyle/>
          <a:p>
            <a:endParaRPr lang="en-US"/>
          </a:p>
        </p:txBody>
      </p:sp>
      <p:sp>
        <p:nvSpPr>
          <p:cNvPr id="26" name="Text 24"/>
          <p:cNvSpPr/>
          <p:nvPr/>
        </p:nvSpPr>
        <p:spPr>
          <a:xfrm>
            <a:off x="475488" y="2450592"/>
            <a:ext cx="1188720" cy="256032"/>
          </a:xfrm>
          <a:prstGeom prst="rect">
            <a:avLst/>
          </a:prstGeom>
          <a:noFill/>
          <a:ln/>
        </p:spPr>
        <p:txBody>
          <a:bodyPr wrap="square" lIns="0" tIns="0" rIns="0" bIns="0" rtlCol="0" anchor="ctr"/>
          <a:lstStyle/>
          <a:p>
            <a:pPr marL="0" indent="0">
              <a:buNone/>
            </a:pPr>
            <a:r>
              <a:rPr lang="en-US" sz="1000" b="1" dirty="0">
                <a:solidFill>
                  <a:srgbClr val="8A99C0"/>
                </a:solidFill>
              </a:rPr>
              <a:t>Pipeline Orchestration</a:t>
            </a:r>
            <a:endParaRPr lang="en-US" sz="1000" dirty="0"/>
          </a:p>
        </p:txBody>
      </p:sp>
      <p:sp>
        <p:nvSpPr>
          <p:cNvPr id="27" name="Text 25"/>
          <p:cNvSpPr/>
          <p:nvPr/>
        </p:nvSpPr>
        <p:spPr>
          <a:xfrm>
            <a:off x="1737360" y="2450592"/>
            <a:ext cx="2560320" cy="256032"/>
          </a:xfrm>
          <a:prstGeom prst="rect">
            <a:avLst/>
          </a:prstGeom>
          <a:noFill/>
          <a:ln/>
        </p:spPr>
        <p:txBody>
          <a:bodyPr wrap="square" lIns="0" tIns="0" rIns="0" bIns="0" rtlCol="0" anchor="ctr"/>
          <a:lstStyle/>
          <a:p>
            <a:pPr marL="0" indent="0">
              <a:buNone/>
            </a:pPr>
            <a:r>
              <a:rPr lang="en-US" sz="1200" b="1" dirty="0">
                <a:solidFill>
                  <a:srgbClr val="9B59D6"/>
                </a:solidFill>
              </a:rPr>
              <a:t>LangGraph</a:t>
            </a:r>
            <a:endParaRPr lang="en-US" sz="1200" dirty="0"/>
          </a:p>
        </p:txBody>
      </p:sp>
      <p:sp>
        <p:nvSpPr>
          <p:cNvPr id="28" name="Text 26"/>
          <p:cNvSpPr/>
          <p:nvPr/>
        </p:nvSpPr>
        <p:spPr>
          <a:xfrm>
            <a:off x="475488" y="2743200"/>
            <a:ext cx="3840480" cy="274320"/>
          </a:xfrm>
          <a:prstGeom prst="rect">
            <a:avLst/>
          </a:prstGeom>
          <a:noFill/>
          <a:ln/>
        </p:spPr>
        <p:txBody>
          <a:bodyPr wrap="square" lIns="0" tIns="0" rIns="0" bIns="0" rtlCol="0" anchor="ctr"/>
          <a:lstStyle/>
          <a:p>
            <a:pPr marL="0" indent="0">
              <a:buNone/>
            </a:pPr>
            <a:r>
              <a:rPr lang="en-US" sz="1000" dirty="0">
                <a:solidFill>
                  <a:srgbClr val="E8EDF5"/>
                </a:solidFill>
              </a:rPr>
              <a:t>State machine; extensible for tracing</a:t>
            </a:r>
            <a:endParaRPr lang="en-US" sz="1000" dirty="0"/>
          </a:p>
        </p:txBody>
      </p:sp>
      <p:sp>
        <p:nvSpPr>
          <p:cNvPr id="29" name="Shape 27"/>
          <p:cNvSpPr/>
          <p:nvPr/>
        </p:nvSpPr>
        <p:spPr>
          <a:xfrm>
            <a:off x="274320" y="3163824"/>
            <a:ext cx="4160520" cy="658368"/>
          </a:xfrm>
          <a:prstGeom prst="rect">
            <a:avLst/>
          </a:prstGeom>
          <a:solidFill>
            <a:srgbClr val="111838"/>
          </a:solidFill>
          <a:ln w="12700">
            <a:solidFill>
              <a:srgbClr val="1E2A5A"/>
            </a:solidFill>
            <a:prstDash val="solid"/>
          </a:ln>
        </p:spPr>
        <p:txBody>
          <a:bodyPr/>
          <a:lstStyle/>
          <a:p>
            <a:endParaRPr lang="en-US"/>
          </a:p>
        </p:txBody>
      </p:sp>
      <p:sp>
        <p:nvSpPr>
          <p:cNvPr id="30" name="Shape 28"/>
          <p:cNvSpPr/>
          <p:nvPr/>
        </p:nvSpPr>
        <p:spPr>
          <a:xfrm>
            <a:off x="274320" y="3163824"/>
            <a:ext cx="54864" cy="658368"/>
          </a:xfrm>
          <a:prstGeom prst="rect">
            <a:avLst/>
          </a:prstGeom>
          <a:solidFill>
            <a:srgbClr val="7C3AED"/>
          </a:solidFill>
          <a:ln w="12700">
            <a:solidFill>
              <a:srgbClr val="7C3AED"/>
            </a:solidFill>
            <a:prstDash val="solid"/>
          </a:ln>
        </p:spPr>
        <p:txBody>
          <a:bodyPr/>
          <a:lstStyle/>
          <a:p>
            <a:endParaRPr lang="en-US"/>
          </a:p>
        </p:txBody>
      </p:sp>
      <p:sp>
        <p:nvSpPr>
          <p:cNvPr id="31" name="Text 29"/>
          <p:cNvSpPr/>
          <p:nvPr/>
        </p:nvSpPr>
        <p:spPr>
          <a:xfrm>
            <a:off x="475488" y="3200400"/>
            <a:ext cx="1188720" cy="256032"/>
          </a:xfrm>
          <a:prstGeom prst="rect">
            <a:avLst/>
          </a:prstGeom>
          <a:noFill/>
          <a:ln/>
        </p:spPr>
        <p:txBody>
          <a:bodyPr wrap="square" lIns="0" tIns="0" rIns="0" bIns="0" rtlCol="0" anchor="ctr"/>
          <a:lstStyle/>
          <a:p>
            <a:pPr marL="0" indent="0">
              <a:buNone/>
            </a:pPr>
            <a:r>
              <a:rPr lang="en-US" sz="1000" b="1" dirty="0">
                <a:solidFill>
                  <a:srgbClr val="8A99C0"/>
                </a:solidFill>
              </a:rPr>
              <a:t>Structured Output</a:t>
            </a:r>
            <a:endParaRPr lang="en-US" sz="1000" dirty="0"/>
          </a:p>
        </p:txBody>
      </p:sp>
      <p:sp>
        <p:nvSpPr>
          <p:cNvPr id="32" name="Text 30"/>
          <p:cNvSpPr/>
          <p:nvPr/>
        </p:nvSpPr>
        <p:spPr>
          <a:xfrm>
            <a:off x="1737360" y="3200400"/>
            <a:ext cx="2560320" cy="256032"/>
          </a:xfrm>
          <a:prstGeom prst="rect">
            <a:avLst/>
          </a:prstGeom>
          <a:noFill/>
          <a:ln/>
        </p:spPr>
        <p:txBody>
          <a:bodyPr wrap="square" lIns="0" tIns="0" rIns="0" bIns="0" rtlCol="0" anchor="ctr"/>
          <a:lstStyle/>
          <a:p>
            <a:pPr marL="0" indent="0">
              <a:buNone/>
            </a:pPr>
            <a:r>
              <a:rPr lang="en-US" sz="1200" b="1" dirty="0">
                <a:solidFill>
                  <a:srgbClr val="9B59D6"/>
                </a:solidFill>
              </a:rPr>
              <a:t>Pydantic</a:t>
            </a:r>
            <a:endParaRPr lang="en-US" sz="1200" dirty="0"/>
          </a:p>
        </p:txBody>
      </p:sp>
      <p:sp>
        <p:nvSpPr>
          <p:cNvPr id="33" name="Text 31"/>
          <p:cNvSpPr/>
          <p:nvPr/>
        </p:nvSpPr>
        <p:spPr>
          <a:xfrm>
            <a:off x="475488" y="3493008"/>
            <a:ext cx="3840480" cy="274320"/>
          </a:xfrm>
          <a:prstGeom prst="rect">
            <a:avLst/>
          </a:prstGeom>
          <a:noFill/>
          <a:ln/>
        </p:spPr>
        <p:txBody>
          <a:bodyPr wrap="square" lIns="0" tIns="0" rIns="0" bIns="0" rtlCol="0" anchor="ctr"/>
          <a:lstStyle/>
          <a:p>
            <a:pPr marL="0" indent="0">
              <a:buNone/>
            </a:pPr>
            <a:r>
              <a:rPr lang="en-US" sz="1000" dirty="0">
                <a:solidFill>
                  <a:srgbClr val="E8EDF5"/>
                </a:solidFill>
              </a:rPr>
              <a:t>ReceiptEntities schema — company, date, address, total</a:t>
            </a:r>
            <a:endParaRPr lang="en-US" sz="1000" dirty="0"/>
          </a:p>
        </p:txBody>
      </p:sp>
      <p:sp>
        <p:nvSpPr>
          <p:cNvPr id="34" name="Shape 32"/>
          <p:cNvSpPr/>
          <p:nvPr/>
        </p:nvSpPr>
        <p:spPr>
          <a:xfrm>
            <a:off x="4709160" y="914400"/>
            <a:ext cx="4160520" cy="658368"/>
          </a:xfrm>
          <a:prstGeom prst="rect">
            <a:avLst/>
          </a:prstGeom>
          <a:solidFill>
            <a:srgbClr val="111838"/>
          </a:solidFill>
          <a:ln w="12700">
            <a:solidFill>
              <a:srgbClr val="1E2A5A"/>
            </a:solidFill>
            <a:prstDash val="solid"/>
          </a:ln>
        </p:spPr>
        <p:txBody>
          <a:bodyPr/>
          <a:lstStyle/>
          <a:p>
            <a:endParaRPr lang="en-US"/>
          </a:p>
        </p:txBody>
      </p:sp>
      <p:sp>
        <p:nvSpPr>
          <p:cNvPr id="35" name="Shape 33"/>
          <p:cNvSpPr/>
          <p:nvPr/>
        </p:nvSpPr>
        <p:spPr>
          <a:xfrm>
            <a:off x="4709160" y="914400"/>
            <a:ext cx="54864" cy="658368"/>
          </a:xfrm>
          <a:prstGeom prst="rect">
            <a:avLst/>
          </a:prstGeom>
          <a:solidFill>
            <a:srgbClr val="7C3AED"/>
          </a:solidFill>
          <a:ln w="12700">
            <a:solidFill>
              <a:srgbClr val="7C3AED"/>
            </a:solidFill>
            <a:prstDash val="solid"/>
          </a:ln>
        </p:spPr>
        <p:txBody>
          <a:bodyPr/>
          <a:lstStyle/>
          <a:p>
            <a:endParaRPr lang="en-US"/>
          </a:p>
        </p:txBody>
      </p:sp>
      <p:sp>
        <p:nvSpPr>
          <p:cNvPr id="36" name="Text 34"/>
          <p:cNvSpPr/>
          <p:nvPr/>
        </p:nvSpPr>
        <p:spPr>
          <a:xfrm>
            <a:off x="4910328" y="950976"/>
            <a:ext cx="1188720" cy="256032"/>
          </a:xfrm>
          <a:prstGeom prst="rect">
            <a:avLst/>
          </a:prstGeom>
          <a:noFill/>
          <a:ln/>
        </p:spPr>
        <p:txBody>
          <a:bodyPr wrap="square" lIns="0" tIns="0" rIns="0" bIns="0" rtlCol="0" anchor="ctr"/>
          <a:lstStyle/>
          <a:p>
            <a:pPr marL="0" indent="0">
              <a:buNone/>
            </a:pPr>
            <a:r>
              <a:rPr lang="en-US" sz="1000" b="1" dirty="0">
                <a:solidFill>
                  <a:srgbClr val="8A99C0"/>
                </a:solidFill>
              </a:rPr>
              <a:t>Fuzzy Matching</a:t>
            </a:r>
            <a:endParaRPr lang="en-US" sz="1000" dirty="0"/>
          </a:p>
        </p:txBody>
      </p:sp>
      <p:sp>
        <p:nvSpPr>
          <p:cNvPr id="37" name="Text 35"/>
          <p:cNvSpPr/>
          <p:nvPr/>
        </p:nvSpPr>
        <p:spPr>
          <a:xfrm>
            <a:off x="6172200" y="950976"/>
            <a:ext cx="2560320" cy="256032"/>
          </a:xfrm>
          <a:prstGeom prst="rect">
            <a:avLst/>
          </a:prstGeom>
          <a:noFill/>
          <a:ln/>
        </p:spPr>
        <p:txBody>
          <a:bodyPr wrap="square" lIns="0" tIns="0" rIns="0" bIns="0" rtlCol="0" anchor="ctr"/>
          <a:lstStyle/>
          <a:p>
            <a:pPr marL="0" indent="0">
              <a:buNone/>
            </a:pPr>
            <a:r>
              <a:rPr lang="en-US" sz="1200" b="1" dirty="0">
                <a:solidFill>
                  <a:srgbClr val="9B59D6"/>
                </a:solidFill>
              </a:rPr>
              <a:t>rapidfuzz</a:t>
            </a:r>
            <a:endParaRPr lang="en-US" sz="1200" dirty="0"/>
          </a:p>
        </p:txBody>
      </p:sp>
      <p:sp>
        <p:nvSpPr>
          <p:cNvPr id="38" name="Text 36"/>
          <p:cNvSpPr/>
          <p:nvPr/>
        </p:nvSpPr>
        <p:spPr>
          <a:xfrm>
            <a:off x="4910328" y="1243584"/>
            <a:ext cx="3840480" cy="274320"/>
          </a:xfrm>
          <a:prstGeom prst="rect">
            <a:avLst/>
          </a:prstGeom>
          <a:noFill/>
          <a:ln/>
        </p:spPr>
        <p:txBody>
          <a:bodyPr wrap="square" lIns="0" tIns="0" rIns="0" bIns="0" rtlCol="0" anchor="ctr"/>
          <a:lstStyle/>
          <a:p>
            <a:pPr marL="0" indent="0">
              <a:buNone/>
            </a:pPr>
            <a:r>
              <a:rPr lang="en-US" sz="1000" dirty="0">
                <a:solidFill>
                  <a:srgbClr val="E8EDF5"/>
                </a:solidFill>
              </a:rPr>
              <a:t>Evaluation metric — token_sort_ratio and partial_ratio</a:t>
            </a:r>
            <a:endParaRPr lang="en-US" sz="1000" dirty="0"/>
          </a:p>
        </p:txBody>
      </p:sp>
      <p:sp>
        <p:nvSpPr>
          <p:cNvPr id="39" name="Shape 37"/>
          <p:cNvSpPr/>
          <p:nvPr/>
        </p:nvSpPr>
        <p:spPr>
          <a:xfrm>
            <a:off x="4709160" y="1664208"/>
            <a:ext cx="4160520" cy="658368"/>
          </a:xfrm>
          <a:prstGeom prst="rect">
            <a:avLst/>
          </a:prstGeom>
          <a:solidFill>
            <a:srgbClr val="111838"/>
          </a:solidFill>
          <a:ln w="12700">
            <a:solidFill>
              <a:srgbClr val="1E2A5A"/>
            </a:solidFill>
            <a:prstDash val="solid"/>
          </a:ln>
        </p:spPr>
        <p:txBody>
          <a:bodyPr/>
          <a:lstStyle/>
          <a:p>
            <a:endParaRPr lang="en-US"/>
          </a:p>
        </p:txBody>
      </p:sp>
      <p:sp>
        <p:nvSpPr>
          <p:cNvPr id="40" name="Shape 38"/>
          <p:cNvSpPr/>
          <p:nvPr/>
        </p:nvSpPr>
        <p:spPr>
          <a:xfrm>
            <a:off x="4709160" y="1664208"/>
            <a:ext cx="54864" cy="658368"/>
          </a:xfrm>
          <a:prstGeom prst="rect">
            <a:avLst/>
          </a:prstGeom>
          <a:solidFill>
            <a:srgbClr val="7C3AED"/>
          </a:solidFill>
          <a:ln w="12700">
            <a:solidFill>
              <a:srgbClr val="7C3AED"/>
            </a:solidFill>
            <a:prstDash val="solid"/>
          </a:ln>
        </p:spPr>
        <p:txBody>
          <a:bodyPr/>
          <a:lstStyle/>
          <a:p>
            <a:endParaRPr lang="en-US"/>
          </a:p>
        </p:txBody>
      </p:sp>
      <p:sp>
        <p:nvSpPr>
          <p:cNvPr id="41" name="Text 39"/>
          <p:cNvSpPr/>
          <p:nvPr/>
        </p:nvSpPr>
        <p:spPr>
          <a:xfrm>
            <a:off x="4910328" y="1700784"/>
            <a:ext cx="1188720" cy="256032"/>
          </a:xfrm>
          <a:prstGeom prst="rect">
            <a:avLst/>
          </a:prstGeom>
          <a:noFill/>
          <a:ln/>
        </p:spPr>
        <p:txBody>
          <a:bodyPr wrap="square" lIns="0" tIns="0" rIns="0" bIns="0" rtlCol="0" anchor="ctr"/>
          <a:lstStyle/>
          <a:p>
            <a:pPr marL="0" indent="0">
              <a:buNone/>
            </a:pPr>
            <a:r>
              <a:rPr lang="en-US" sz="1000" b="1" dirty="0">
                <a:solidFill>
                  <a:srgbClr val="8A99C0"/>
                </a:solidFill>
              </a:rPr>
              <a:t>Web Application</a:t>
            </a:r>
            <a:endParaRPr lang="en-US" sz="1000" dirty="0"/>
          </a:p>
        </p:txBody>
      </p:sp>
      <p:sp>
        <p:nvSpPr>
          <p:cNvPr id="42" name="Text 40"/>
          <p:cNvSpPr/>
          <p:nvPr/>
        </p:nvSpPr>
        <p:spPr>
          <a:xfrm>
            <a:off x="6172200" y="1700784"/>
            <a:ext cx="2560320" cy="256032"/>
          </a:xfrm>
          <a:prstGeom prst="rect">
            <a:avLst/>
          </a:prstGeom>
          <a:noFill/>
          <a:ln/>
        </p:spPr>
        <p:txBody>
          <a:bodyPr wrap="square" lIns="0" tIns="0" rIns="0" bIns="0" rtlCol="0" anchor="ctr"/>
          <a:lstStyle/>
          <a:p>
            <a:pPr marL="0" indent="0">
              <a:buNone/>
            </a:pPr>
            <a:r>
              <a:rPr lang="en-US" sz="1200" b="1" dirty="0">
                <a:solidFill>
                  <a:srgbClr val="9B59D6"/>
                </a:solidFill>
              </a:rPr>
              <a:t>Gradio</a:t>
            </a:r>
            <a:endParaRPr lang="en-US" sz="1200" dirty="0"/>
          </a:p>
        </p:txBody>
      </p:sp>
      <p:sp>
        <p:nvSpPr>
          <p:cNvPr id="43" name="Text 41"/>
          <p:cNvSpPr/>
          <p:nvPr/>
        </p:nvSpPr>
        <p:spPr>
          <a:xfrm>
            <a:off x="4910328" y="1993392"/>
            <a:ext cx="3840480" cy="274320"/>
          </a:xfrm>
          <a:prstGeom prst="rect">
            <a:avLst/>
          </a:prstGeom>
          <a:noFill/>
          <a:ln/>
        </p:spPr>
        <p:txBody>
          <a:bodyPr wrap="square" lIns="0" tIns="0" rIns="0" bIns="0" rtlCol="0" anchor="ctr"/>
          <a:lstStyle/>
          <a:p>
            <a:pPr marL="0" indent="0">
              <a:buNone/>
            </a:pPr>
            <a:r>
              <a:rPr lang="en-US" sz="1000" dirty="0">
                <a:solidFill>
                  <a:srgbClr val="E8EDF5"/>
                </a:solidFill>
              </a:rPr>
              <a:t>Image upload, tier selection, Q&amp;A chat, cached pipeline results</a:t>
            </a:r>
            <a:endParaRPr lang="en-US" sz="1000" dirty="0"/>
          </a:p>
        </p:txBody>
      </p:sp>
      <p:sp>
        <p:nvSpPr>
          <p:cNvPr id="44" name="Shape 42"/>
          <p:cNvSpPr/>
          <p:nvPr/>
        </p:nvSpPr>
        <p:spPr>
          <a:xfrm>
            <a:off x="4709160" y="2414016"/>
            <a:ext cx="4160520" cy="658368"/>
          </a:xfrm>
          <a:prstGeom prst="rect">
            <a:avLst/>
          </a:prstGeom>
          <a:solidFill>
            <a:srgbClr val="111838"/>
          </a:solidFill>
          <a:ln w="12700">
            <a:solidFill>
              <a:srgbClr val="1E2A5A"/>
            </a:solidFill>
            <a:prstDash val="solid"/>
          </a:ln>
        </p:spPr>
        <p:txBody>
          <a:bodyPr/>
          <a:lstStyle/>
          <a:p>
            <a:endParaRPr lang="en-US"/>
          </a:p>
        </p:txBody>
      </p:sp>
      <p:sp>
        <p:nvSpPr>
          <p:cNvPr id="45" name="Shape 43"/>
          <p:cNvSpPr/>
          <p:nvPr/>
        </p:nvSpPr>
        <p:spPr>
          <a:xfrm>
            <a:off x="4709160" y="2414016"/>
            <a:ext cx="54864" cy="658368"/>
          </a:xfrm>
          <a:prstGeom prst="rect">
            <a:avLst/>
          </a:prstGeom>
          <a:solidFill>
            <a:srgbClr val="7C3AED"/>
          </a:solidFill>
          <a:ln w="12700">
            <a:solidFill>
              <a:srgbClr val="7C3AED"/>
            </a:solidFill>
            <a:prstDash val="solid"/>
          </a:ln>
        </p:spPr>
        <p:txBody>
          <a:bodyPr/>
          <a:lstStyle/>
          <a:p>
            <a:endParaRPr lang="en-US"/>
          </a:p>
        </p:txBody>
      </p:sp>
      <p:sp>
        <p:nvSpPr>
          <p:cNvPr id="46" name="Text 44"/>
          <p:cNvSpPr/>
          <p:nvPr/>
        </p:nvSpPr>
        <p:spPr>
          <a:xfrm>
            <a:off x="4910328" y="2450592"/>
            <a:ext cx="1188720" cy="256032"/>
          </a:xfrm>
          <a:prstGeom prst="rect">
            <a:avLst/>
          </a:prstGeom>
          <a:noFill/>
          <a:ln/>
        </p:spPr>
        <p:txBody>
          <a:bodyPr wrap="square" lIns="0" tIns="0" rIns="0" bIns="0" rtlCol="0" anchor="ctr"/>
          <a:lstStyle/>
          <a:p>
            <a:pPr marL="0" indent="0">
              <a:buNone/>
            </a:pPr>
            <a:r>
              <a:rPr lang="en-US" sz="1000" b="1" dirty="0">
                <a:solidFill>
                  <a:srgbClr val="8A99C0"/>
                </a:solidFill>
              </a:rPr>
              <a:t>Containerization</a:t>
            </a:r>
            <a:endParaRPr lang="en-US" sz="1000" dirty="0"/>
          </a:p>
        </p:txBody>
      </p:sp>
      <p:sp>
        <p:nvSpPr>
          <p:cNvPr id="47" name="Text 45"/>
          <p:cNvSpPr/>
          <p:nvPr/>
        </p:nvSpPr>
        <p:spPr>
          <a:xfrm>
            <a:off x="6172200" y="2450592"/>
            <a:ext cx="2560320" cy="256032"/>
          </a:xfrm>
          <a:prstGeom prst="rect">
            <a:avLst/>
          </a:prstGeom>
          <a:noFill/>
          <a:ln/>
        </p:spPr>
        <p:txBody>
          <a:bodyPr wrap="square" lIns="0" tIns="0" rIns="0" bIns="0" rtlCol="0" anchor="ctr"/>
          <a:lstStyle/>
          <a:p>
            <a:pPr marL="0" indent="0">
              <a:buNone/>
            </a:pPr>
            <a:r>
              <a:rPr lang="en-US" sz="1200" b="1" dirty="0">
                <a:solidFill>
                  <a:srgbClr val="9B59D6"/>
                </a:solidFill>
              </a:rPr>
              <a:t>Docker + Compose</a:t>
            </a:r>
            <a:endParaRPr lang="en-US" sz="1200" dirty="0"/>
          </a:p>
        </p:txBody>
      </p:sp>
      <p:sp>
        <p:nvSpPr>
          <p:cNvPr id="48" name="Text 46"/>
          <p:cNvSpPr/>
          <p:nvPr/>
        </p:nvSpPr>
        <p:spPr>
          <a:xfrm>
            <a:off x="4910328" y="2743200"/>
            <a:ext cx="3840480" cy="274320"/>
          </a:xfrm>
          <a:prstGeom prst="rect">
            <a:avLst/>
          </a:prstGeom>
          <a:noFill/>
          <a:ln/>
        </p:spPr>
        <p:txBody>
          <a:bodyPr wrap="square" lIns="0" tIns="0" rIns="0" bIns="0" rtlCol="0" anchor="ctr"/>
          <a:lstStyle/>
          <a:p>
            <a:pPr marL="0" indent="0">
              <a:buNone/>
            </a:pPr>
            <a:r>
              <a:rPr lang="en-US" sz="1000" dirty="0">
                <a:solidFill>
                  <a:srgbClr val="E8EDF5"/>
                </a:solidFill>
              </a:rPr>
              <a:t>Production-ready deployment; CPU fallback for EasyOCR</a:t>
            </a:r>
            <a:endParaRPr lang="en-US" sz="1000" dirty="0"/>
          </a:p>
        </p:txBody>
      </p:sp>
      <p:sp>
        <p:nvSpPr>
          <p:cNvPr id="49" name="Shape 47"/>
          <p:cNvSpPr/>
          <p:nvPr/>
        </p:nvSpPr>
        <p:spPr>
          <a:xfrm>
            <a:off x="4709160" y="3282696"/>
            <a:ext cx="54864" cy="256032"/>
          </a:xfrm>
          <a:prstGeom prst="rect">
            <a:avLst/>
          </a:prstGeom>
          <a:solidFill>
            <a:srgbClr val="00C2E0"/>
          </a:solidFill>
          <a:ln w="12700">
            <a:solidFill>
              <a:srgbClr val="00C2E0"/>
            </a:solidFill>
            <a:prstDash val="solid"/>
          </a:ln>
        </p:spPr>
        <p:txBody>
          <a:bodyPr/>
          <a:lstStyle/>
          <a:p>
            <a:endParaRPr lang="en-US"/>
          </a:p>
        </p:txBody>
      </p:sp>
      <p:sp>
        <p:nvSpPr>
          <p:cNvPr id="50" name="Text 48"/>
          <p:cNvSpPr/>
          <p:nvPr/>
        </p:nvSpPr>
        <p:spPr>
          <a:xfrm>
            <a:off x="4837176" y="3282696"/>
            <a:ext cx="3657600" cy="256032"/>
          </a:xfrm>
          <a:prstGeom prst="rect">
            <a:avLst/>
          </a:prstGeom>
          <a:noFill/>
          <a:ln/>
        </p:spPr>
        <p:txBody>
          <a:bodyPr wrap="square" lIns="0" tIns="0" rIns="0" bIns="0" rtlCol="0" anchor="ctr"/>
          <a:lstStyle/>
          <a:p>
            <a:pPr marL="0" indent="0">
              <a:buNone/>
            </a:pPr>
            <a:r>
              <a:rPr lang="en-US" sz="1400" b="1" dirty="0">
                <a:solidFill>
                  <a:srgbClr val="00C2E0"/>
                </a:solidFill>
                <a:latin typeface="Trebuchet MS" pitchFamily="34" charset="0"/>
                <a:ea typeface="Trebuchet MS" pitchFamily="34" charset="-122"/>
                <a:cs typeface="Trebuchet MS" pitchFamily="34" charset="-120"/>
              </a:rPr>
              <a:t>LANGGRAPH PIPELINE FLOW</a:t>
            </a:r>
            <a:endParaRPr lang="en-US" sz="1400" dirty="0"/>
          </a:p>
        </p:txBody>
      </p:sp>
      <p:sp>
        <p:nvSpPr>
          <p:cNvPr id="51" name="Shape 49"/>
          <p:cNvSpPr/>
          <p:nvPr/>
        </p:nvSpPr>
        <p:spPr>
          <a:xfrm>
            <a:off x="4709160" y="3575304"/>
            <a:ext cx="4160520" cy="1335024"/>
          </a:xfrm>
          <a:prstGeom prst="rect">
            <a:avLst/>
          </a:prstGeom>
          <a:solidFill>
            <a:srgbClr val="161E45"/>
          </a:solidFill>
          <a:ln w="12700">
            <a:solidFill>
              <a:srgbClr val="1E2A5A"/>
            </a:solidFill>
            <a:prstDash val="solid"/>
          </a:ln>
        </p:spPr>
        <p:txBody>
          <a:bodyPr/>
          <a:lstStyle/>
          <a:p>
            <a:endParaRPr lang="en-US"/>
          </a:p>
        </p:txBody>
      </p:sp>
      <p:sp>
        <p:nvSpPr>
          <p:cNvPr id="52" name="Shape 50"/>
          <p:cNvSpPr/>
          <p:nvPr/>
        </p:nvSpPr>
        <p:spPr>
          <a:xfrm>
            <a:off x="4709160" y="3575304"/>
            <a:ext cx="54864" cy="1335024"/>
          </a:xfrm>
          <a:prstGeom prst="rect">
            <a:avLst/>
          </a:prstGeom>
          <a:solidFill>
            <a:srgbClr val="00C2E0"/>
          </a:solidFill>
          <a:ln w="12700">
            <a:solidFill>
              <a:srgbClr val="00C2E0"/>
            </a:solidFill>
            <a:prstDash val="solid"/>
          </a:ln>
        </p:spPr>
        <p:txBody>
          <a:bodyPr/>
          <a:lstStyle/>
          <a:p>
            <a:endParaRPr lang="en-US"/>
          </a:p>
        </p:txBody>
      </p:sp>
      <p:sp>
        <p:nvSpPr>
          <p:cNvPr id="53" name="Text 51"/>
          <p:cNvSpPr/>
          <p:nvPr/>
        </p:nvSpPr>
        <p:spPr>
          <a:xfrm>
            <a:off x="4910328" y="3630168"/>
            <a:ext cx="3840480" cy="1129636"/>
          </a:xfrm>
          <a:prstGeom prst="rect">
            <a:avLst/>
          </a:prstGeom>
          <a:noFill/>
          <a:ln/>
        </p:spPr>
        <p:txBody>
          <a:bodyPr wrap="square" lIns="0" tIns="0" rIns="0" bIns="0" rtlCol="0" anchor="ctr"/>
          <a:lstStyle/>
          <a:p>
            <a:pPr marL="0" indent="0">
              <a:buNone/>
            </a:pPr>
            <a:r>
              <a:rPr lang="en-US" sz="1000" dirty="0">
                <a:solidFill>
                  <a:srgbClr val="E8EDF5"/>
                </a:solidFill>
                <a:latin typeface="Courier New" pitchFamily="34" charset="0"/>
                <a:ea typeface="Courier New" pitchFamily="34" charset="-122"/>
                <a:cs typeface="Courier New" pitchFamily="34" charset="-120"/>
              </a:rPr>
              <a:t>Entry  →  [ocr | improved_ocr | unified]</a:t>
            </a:r>
            <a:endParaRPr lang="en-US" sz="1000" dirty="0"/>
          </a:p>
          <a:p>
            <a:pPr marL="0" indent="0">
              <a:buNone/>
            </a:pPr>
            <a:r>
              <a:rPr lang="en-US" sz="1000" dirty="0">
                <a:solidFill>
                  <a:srgbClr val="E8EDF5"/>
                </a:solidFill>
                <a:latin typeface="Courier New" pitchFamily="34" charset="0"/>
                <a:ea typeface="Courier New" pitchFamily="34" charset="-122"/>
                <a:cs typeface="Courier New" pitchFamily="34" charset="-120"/>
              </a:rPr>
              <a:t>                ↓                    ↓</a:t>
            </a:r>
            <a:endParaRPr lang="en-US" sz="1000" dirty="0"/>
          </a:p>
          <a:p>
            <a:pPr marL="0" indent="0">
              <a:buNone/>
            </a:pPr>
            <a:r>
              <a:rPr lang="en-US" sz="1000" dirty="0">
                <a:solidFill>
                  <a:srgbClr val="E8EDF5"/>
                </a:solidFill>
                <a:latin typeface="Courier New" pitchFamily="34" charset="0"/>
                <a:ea typeface="Courier New" pitchFamily="34" charset="-122"/>
                <a:cs typeface="Courier New" pitchFamily="34" charset="-120"/>
              </a:rPr>
              <a:t>       [entity_extraction?]  →  </a:t>
            </a:r>
            <a:r>
              <a:rPr lang="en-US" sz="1000" dirty="0" err="1">
                <a:solidFill>
                  <a:srgbClr val="E8EDF5"/>
                </a:solidFill>
                <a:latin typeface="Courier New" pitchFamily="34" charset="0"/>
                <a:ea typeface="Courier New" pitchFamily="34" charset="-122"/>
                <a:cs typeface="Courier New" pitchFamily="34" charset="-120"/>
              </a:rPr>
              <a:t>context_node</a:t>
            </a:r>
            <a:endParaRPr lang="en-US" sz="1000" dirty="0">
              <a:solidFill>
                <a:srgbClr val="E8EDF5"/>
              </a:solidFill>
              <a:latin typeface="Courier New" pitchFamily="34" charset="0"/>
              <a:ea typeface="Courier New" pitchFamily="34" charset="-122"/>
              <a:cs typeface="Courier New" pitchFamily="34" charset="-120"/>
            </a:endParaRPr>
          </a:p>
          <a:p>
            <a:r>
              <a:rPr lang="en-US" sz="1000" dirty="0">
                <a:solidFill>
                  <a:srgbClr val="E8EDF5"/>
                </a:solidFill>
                <a:latin typeface="Courier New" pitchFamily="34" charset="0"/>
                <a:ea typeface="Courier New" pitchFamily="34" charset="-122"/>
                <a:cs typeface="Courier New" pitchFamily="34" charset="-120"/>
              </a:rPr>
              <a:t>		             ↓</a:t>
            </a:r>
            <a:endParaRPr lang="en-US" sz="1000" dirty="0"/>
          </a:p>
          <a:p>
            <a:pPr marL="0" indent="0">
              <a:buNone/>
            </a:pPr>
            <a:r>
              <a:rPr lang="en-US" sz="1000" dirty="0">
                <a:solidFill>
                  <a:srgbClr val="E8EDF5"/>
                </a:solidFill>
                <a:latin typeface="Courier New" pitchFamily="34" charset="0"/>
                <a:ea typeface="Courier New" pitchFamily="34" charset="-122"/>
                <a:cs typeface="Courier New" pitchFamily="34" charset="-120"/>
              </a:rPr>
              <a:t> 		            END</a:t>
            </a:r>
            <a:endParaRPr lang="en-US" sz="1000" dirty="0"/>
          </a:p>
        </p:txBody>
      </p:sp>
      <p:sp>
        <p:nvSpPr>
          <p:cNvPr id="54" name="Shape 52"/>
          <p:cNvSpPr/>
          <p:nvPr/>
        </p:nvSpPr>
        <p:spPr>
          <a:xfrm>
            <a:off x="274320" y="4023360"/>
            <a:ext cx="54864" cy="256032"/>
          </a:xfrm>
          <a:prstGeom prst="rect">
            <a:avLst/>
          </a:prstGeom>
          <a:solidFill>
            <a:srgbClr val="F59E0B"/>
          </a:solidFill>
          <a:ln w="12700">
            <a:solidFill>
              <a:srgbClr val="F59E0B"/>
            </a:solidFill>
            <a:prstDash val="solid"/>
          </a:ln>
        </p:spPr>
        <p:txBody>
          <a:bodyPr/>
          <a:lstStyle/>
          <a:p>
            <a:endParaRPr lang="en-US"/>
          </a:p>
        </p:txBody>
      </p:sp>
      <p:sp>
        <p:nvSpPr>
          <p:cNvPr id="55" name="Text 53"/>
          <p:cNvSpPr/>
          <p:nvPr/>
        </p:nvSpPr>
        <p:spPr>
          <a:xfrm>
            <a:off x="402336" y="4023360"/>
            <a:ext cx="3657600" cy="256032"/>
          </a:xfrm>
          <a:prstGeom prst="rect">
            <a:avLst/>
          </a:prstGeom>
          <a:noFill/>
          <a:ln/>
        </p:spPr>
        <p:txBody>
          <a:bodyPr wrap="square" lIns="0" tIns="0" rIns="0" bIns="0" rtlCol="0" anchor="ctr"/>
          <a:lstStyle/>
          <a:p>
            <a:pPr marL="0" indent="0">
              <a:buNone/>
            </a:pPr>
            <a:r>
              <a:rPr lang="en-US" sz="1400" b="1" dirty="0">
                <a:solidFill>
                  <a:srgbClr val="F59E0B"/>
                </a:solidFill>
                <a:latin typeface="Trebuchet MS" pitchFamily="34" charset="0"/>
                <a:ea typeface="Trebuchet MS" pitchFamily="34" charset="-122"/>
                <a:cs typeface="Trebuchet MS" pitchFamily="34" charset="-120"/>
              </a:rPr>
              <a:t>PYDANTIC SCHEMA</a:t>
            </a:r>
            <a:endParaRPr lang="en-US" sz="1400" dirty="0"/>
          </a:p>
        </p:txBody>
      </p:sp>
      <p:sp>
        <p:nvSpPr>
          <p:cNvPr id="56" name="Shape 54"/>
          <p:cNvSpPr/>
          <p:nvPr/>
        </p:nvSpPr>
        <p:spPr>
          <a:xfrm>
            <a:off x="274320" y="4315968"/>
            <a:ext cx="4160520" cy="594360"/>
          </a:xfrm>
          <a:prstGeom prst="rect">
            <a:avLst/>
          </a:prstGeom>
          <a:solidFill>
            <a:srgbClr val="161E45"/>
          </a:solidFill>
          <a:ln w="12700">
            <a:solidFill>
              <a:srgbClr val="1E2A5A"/>
            </a:solidFill>
            <a:prstDash val="solid"/>
          </a:ln>
        </p:spPr>
        <p:txBody>
          <a:bodyPr/>
          <a:lstStyle/>
          <a:p>
            <a:endParaRPr lang="en-US"/>
          </a:p>
        </p:txBody>
      </p:sp>
      <p:sp>
        <p:nvSpPr>
          <p:cNvPr id="57" name="Shape 55"/>
          <p:cNvSpPr/>
          <p:nvPr/>
        </p:nvSpPr>
        <p:spPr>
          <a:xfrm>
            <a:off x="274320" y="4315968"/>
            <a:ext cx="54864" cy="594360"/>
          </a:xfrm>
          <a:prstGeom prst="rect">
            <a:avLst/>
          </a:prstGeom>
          <a:solidFill>
            <a:srgbClr val="F59E0B"/>
          </a:solidFill>
          <a:ln w="12700">
            <a:solidFill>
              <a:srgbClr val="F59E0B"/>
            </a:solidFill>
            <a:prstDash val="solid"/>
          </a:ln>
        </p:spPr>
        <p:txBody>
          <a:bodyPr/>
          <a:lstStyle/>
          <a:p>
            <a:endParaRPr lang="en-US"/>
          </a:p>
        </p:txBody>
      </p:sp>
      <p:sp>
        <p:nvSpPr>
          <p:cNvPr id="58" name="Text 56"/>
          <p:cNvSpPr/>
          <p:nvPr/>
        </p:nvSpPr>
        <p:spPr>
          <a:xfrm>
            <a:off x="475488" y="4370832"/>
            <a:ext cx="3840480" cy="502920"/>
          </a:xfrm>
          <a:prstGeom prst="rect">
            <a:avLst/>
          </a:prstGeom>
          <a:noFill/>
          <a:ln/>
        </p:spPr>
        <p:txBody>
          <a:bodyPr wrap="square" lIns="0" tIns="0" rIns="0" bIns="0" rtlCol="0" anchor="ctr"/>
          <a:lstStyle/>
          <a:p>
            <a:pPr marL="0" indent="0">
              <a:buNone/>
            </a:pPr>
            <a:r>
              <a:rPr lang="en-US" sz="800" dirty="0">
                <a:solidFill>
                  <a:srgbClr val="E8EDF5"/>
                </a:solidFill>
                <a:latin typeface="Courier New" pitchFamily="34" charset="0"/>
                <a:ea typeface="Courier New" pitchFamily="34" charset="-122"/>
                <a:cs typeface="Courier New" pitchFamily="34" charset="-120"/>
              </a:rPr>
              <a:t>class ReceiptEntities(BaseModel):</a:t>
            </a:r>
            <a:endParaRPr lang="en-US" sz="800" dirty="0"/>
          </a:p>
          <a:p>
            <a:pPr marL="0" indent="0">
              <a:buNone/>
            </a:pPr>
            <a:r>
              <a:rPr lang="en-US" sz="800" dirty="0">
                <a:solidFill>
                  <a:srgbClr val="E8EDF5"/>
                </a:solidFill>
                <a:latin typeface="Courier New" pitchFamily="34" charset="0"/>
                <a:ea typeface="Courier New" pitchFamily="34" charset="-122"/>
                <a:cs typeface="Courier New" pitchFamily="34" charset="-120"/>
              </a:rPr>
              <a:t>    company: Optional[str]   # full legal business name</a:t>
            </a:r>
            <a:endParaRPr lang="en-US" sz="800" dirty="0"/>
          </a:p>
          <a:p>
            <a:pPr marL="0" indent="0">
              <a:buNone/>
            </a:pPr>
            <a:r>
              <a:rPr lang="en-US" sz="800" dirty="0">
                <a:solidFill>
                  <a:srgbClr val="E8EDF5"/>
                </a:solidFill>
                <a:latin typeface="Courier New" pitchFamily="34" charset="0"/>
                <a:ea typeface="Courier New" pitchFamily="34" charset="-122"/>
                <a:cs typeface="Courier New" pitchFamily="34" charset="-120"/>
              </a:rPr>
              <a:t>    date:    Optional[str]   # transaction date only</a:t>
            </a:r>
            <a:endParaRPr lang="en-US" sz="800" dirty="0"/>
          </a:p>
          <a:p>
            <a:pPr marL="0" indent="0">
              <a:buNone/>
            </a:pPr>
            <a:r>
              <a:rPr lang="en-US" sz="800" dirty="0">
                <a:solidFill>
                  <a:srgbClr val="E8EDF5"/>
                </a:solidFill>
                <a:latin typeface="Courier New" pitchFamily="34" charset="0"/>
                <a:ea typeface="Courier New" pitchFamily="34" charset="-122"/>
                <a:cs typeface="Courier New" pitchFamily="34" charset="-120"/>
              </a:rPr>
              <a:t>    address: Optional[str]   # full address, single string</a:t>
            </a:r>
            <a:endParaRPr lang="en-US" sz="800" dirty="0"/>
          </a:p>
          <a:p>
            <a:pPr marL="0" indent="0">
              <a:buNone/>
            </a:pPr>
            <a:r>
              <a:rPr lang="en-US" sz="800" dirty="0">
                <a:solidFill>
                  <a:srgbClr val="E8EDF5"/>
                </a:solidFill>
                <a:latin typeface="Courier New" pitchFamily="34" charset="0"/>
                <a:ea typeface="Courier New" pitchFamily="34" charset="-122"/>
                <a:cs typeface="Courier New" pitchFamily="34" charset="-120"/>
              </a:rPr>
              <a:t>    total:   Optional[str]   # final total amount payable</a:t>
            </a:r>
            <a:endParaRPr lang="en-US" sz="800" dirty="0"/>
          </a:p>
        </p:txBody>
      </p:sp>
      <p:sp>
        <p:nvSpPr>
          <p:cNvPr id="7" name="Text 12">
            <a:extLst>
              <a:ext uri="{FF2B5EF4-FFF2-40B4-BE49-F238E27FC236}">
                <a16:creationId xmlns:a16="http://schemas.microsoft.com/office/drawing/2014/main" id="{8A38E295-84D1-A497-111F-67945C11A808}"/>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Key Design Decisions</a:t>
            </a:r>
            <a:endParaRPr lang="en-US" sz="1700" dirty="0"/>
          </a:p>
        </p:txBody>
      </p:sp>
      <p:sp>
        <p:nvSpPr>
          <p:cNvPr id="5" name="Shape 3"/>
          <p:cNvSpPr/>
          <p:nvPr/>
        </p:nvSpPr>
        <p:spPr>
          <a:xfrm>
            <a:off x="6720840" y="109728"/>
            <a:ext cx="1234440" cy="274320"/>
          </a:xfrm>
          <a:prstGeom prst="rect">
            <a:avLst/>
          </a:prstGeom>
          <a:solidFill>
            <a:srgbClr val="7C3AED">
              <a:alpha val="22000"/>
            </a:srgbClr>
          </a:solidFill>
          <a:ln w="12700">
            <a:solidFill>
              <a:srgbClr val="7C3AED"/>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2</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00C2E0"/>
          </a:solidFill>
          <a:ln w="12700">
            <a:solidFill>
              <a:srgbClr val="00C2E0"/>
            </a:solidFill>
            <a:prstDash val="solid"/>
          </a:ln>
        </p:spPr>
        <p:txBody>
          <a:bodyPr/>
          <a:lstStyle/>
          <a:p>
            <a:endParaRPr lang="en-US"/>
          </a:p>
        </p:txBody>
      </p:sp>
      <p:sp>
        <p:nvSpPr>
          <p:cNvPr id="13" name="Text 11"/>
          <p:cNvSpPr/>
          <p:nvPr/>
        </p:nvSpPr>
        <p:spPr>
          <a:xfrm>
            <a:off x="402336" y="594360"/>
            <a:ext cx="4169664" cy="256032"/>
          </a:xfrm>
          <a:prstGeom prst="rect">
            <a:avLst/>
          </a:prstGeom>
          <a:noFill/>
          <a:ln/>
        </p:spPr>
        <p:txBody>
          <a:bodyPr wrap="square" lIns="0" tIns="0" rIns="0" bIns="0" rtlCol="0" anchor="ctr"/>
          <a:lstStyle/>
          <a:p>
            <a:pPr marL="0" indent="0">
              <a:buNone/>
            </a:pPr>
            <a:r>
              <a:rPr lang="en-US" sz="1000" b="1" dirty="0">
                <a:solidFill>
                  <a:srgbClr val="00C2E0"/>
                </a:solidFill>
                <a:latin typeface="Trebuchet MS" pitchFamily="34" charset="0"/>
                <a:ea typeface="Trebuchet MS" pitchFamily="34" charset="-122"/>
                <a:cs typeface="Trebuchet MS" pitchFamily="34" charset="-120"/>
              </a:rPr>
              <a:t>DECISION 1  —  OCR Engine Selection</a:t>
            </a:r>
            <a:endParaRPr lang="en-US" sz="1000" dirty="0"/>
          </a:p>
        </p:txBody>
      </p:sp>
      <p:sp>
        <p:nvSpPr>
          <p:cNvPr id="14" name="Shape 12"/>
          <p:cNvSpPr/>
          <p:nvPr/>
        </p:nvSpPr>
        <p:spPr>
          <a:xfrm>
            <a:off x="274320" y="914400"/>
            <a:ext cx="2715768" cy="1005840"/>
          </a:xfrm>
          <a:prstGeom prst="rect">
            <a:avLst/>
          </a:prstGeom>
          <a:solidFill>
            <a:srgbClr val="161E45"/>
          </a:solidFill>
          <a:ln w="12700">
            <a:solidFill>
              <a:srgbClr val="1E2A5A"/>
            </a:solidFill>
            <a:prstDash val="solid"/>
          </a:ln>
        </p:spPr>
        <p:txBody>
          <a:bodyPr/>
          <a:lstStyle/>
          <a:p>
            <a:endParaRPr lang="en-US"/>
          </a:p>
        </p:txBody>
      </p:sp>
      <p:sp>
        <p:nvSpPr>
          <p:cNvPr id="15" name="Shape 13"/>
          <p:cNvSpPr/>
          <p:nvPr/>
        </p:nvSpPr>
        <p:spPr>
          <a:xfrm>
            <a:off x="274320" y="914400"/>
            <a:ext cx="54864" cy="1005840"/>
          </a:xfrm>
          <a:prstGeom prst="rect">
            <a:avLst/>
          </a:prstGeom>
          <a:solidFill>
            <a:srgbClr val="D32F2F"/>
          </a:solidFill>
          <a:ln w="12700">
            <a:solidFill>
              <a:srgbClr val="D32F2F"/>
            </a:solidFill>
            <a:prstDash val="solid"/>
          </a:ln>
        </p:spPr>
        <p:txBody>
          <a:bodyPr/>
          <a:lstStyle/>
          <a:p>
            <a:endParaRPr lang="en-US"/>
          </a:p>
        </p:txBody>
      </p:sp>
      <p:sp>
        <p:nvSpPr>
          <p:cNvPr id="16" name="Shape 14"/>
          <p:cNvSpPr/>
          <p:nvPr/>
        </p:nvSpPr>
        <p:spPr>
          <a:xfrm>
            <a:off x="475488" y="969264"/>
            <a:ext cx="731520" cy="219456"/>
          </a:xfrm>
          <a:prstGeom prst="rect">
            <a:avLst/>
          </a:prstGeom>
          <a:solidFill>
            <a:srgbClr val="D32F2F">
              <a:alpha val="20000"/>
            </a:srgbClr>
          </a:solidFill>
          <a:ln w="12700">
            <a:solidFill>
              <a:srgbClr val="D32F2F"/>
            </a:solidFill>
            <a:prstDash val="solid"/>
          </a:ln>
        </p:spPr>
        <p:txBody>
          <a:bodyPr/>
          <a:lstStyle/>
          <a:p>
            <a:endParaRPr lang="en-US"/>
          </a:p>
        </p:txBody>
      </p:sp>
      <p:sp>
        <p:nvSpPr>
          <p:cNvPr id="17" name="Text 15"/>
          <p:cNvSpPr/>
          <p:nvPr/>
        </p:nvSpPr>
        <p:spPr>
          <a:xfrm>
            <a:off x="475488" y="969264"/>
            <a:ext cx="731520" cy="219456"/>
          </a:xfrm>
          <a:prstGeom prst="rect">
            <a:avLst/>
          </a:prstGeom>
          <a:noFill/>
          <a:ln/>
        </p:spPr>
        <p:txBody>
          <a:bodyPr wrap="square" lIns="0" tIns="0" rIns="0" bIns="0" rtlCol="0" anchor="ctr"/>
          <a:lstStyle/>
          <a:p>
            <a:pPr marL="0" indent="0" algn="ctr">
              <a:buNone/>
            </a:pPr>
            <a:r>
              <a:rPr lang="en-US" sz="700" b="1" dirty="0">
                <a:solidFill>
                  <a:srgbClr val="FFFFFF"/>
                </a:solidFill>
              </a:rPr>
              <a:t>REJECTED</a:t>
            </a:r>
            <a:endParaRPr lang="en-US" sz="700" dirty="0"/>
          </a:p>
        </p:txBody>
      </p:sp>
      <p:sp>
        <p:nvSpPr>
          <p:cNvPr id="18" name="Text 16"/>
          <p:cNvSpPr/>
          <p:nvPr/>
        </p:nvSpPr>
        <p:spPr>
          <a:xfrm>
            <a:off x="1298448" y="969264"/>
            <a:ext cx="1600200" cy="219456"/>
          </a:xfrm>
          <a:prstGeom prst="rect">
            <a:avLst/>
          </a:prstGeom>
          <a:noFill/>
          <a:ln/>
        </p:spPr>
        <p:txBody>
          <a:bodyPr wrap="square" lIns="0" tIns="0" rIns="0" bIns="0" rtlCol="0" anchor="ctr"/>
          <a:lstStyle/>
          <a:p>
            <a:pPr marL="0" indent="0">
              <a:buNone/>
            </a:pPr>
            <a:r>
              <a:rPr lang="en-US" sz="1000" b="1" dirty="0">
                <a:solidFill>
                  <a:srgbClr val="E8EDF5"/>
                </a:solidFill>
              </a:rPr>
              <a:t>PaddleOCR</a:t>
            </a:r>
            <a:endParaRPr lang="en-US" sz="1000" dirty="0"/>
          </a:p>
        </p:txBody>
      </p:sp>
      <p:sp>
        <p:nvSpPr>
          <p:cNvPr id="19" name="Text 17"/>
          <p:cNvSpPr/>
          <p:nvPr/>
        </p:nvSpPr>
        <p:spPr>
          <a:xfrm>
            <a:off x="475488" y="1261872"/>
            <a:ext cx="2377440" cy="603504"/>
          </a:xfrm>
          <a:prstGeom prst="rect">
            <a:avLst/>
          </a:prstGeom>
          <a:noFill/>
          <a:ln/>
        </p:spPr>
        <p:txBody>
          <a:bodyPr wrap="square" lIns="0" tIns="0" rIns="0" bIns="0" rtlCol="0" anchor="ctr"/>
          <a:lstStyle/>
          <a:p>
            <a:pPr marL="0" indent="0">
              <a:buNone/>
            </a:pPr>
            <a:r>
              <a:rPr lang="en-US" sz="1000" dirty="0">
                <a:solidFill>
                  <a:srgbClr val="E8EDF5"/>
                </a:solidFill>
              </a:rPr>
              <a:t>Known Apple Silicon stability issues — occasional hangs, dependency conflicts on M2</a:t>
            </a:r>
            <a:endParaRPr lang="en-US" sz="1000" dirty="0"/>
          </a:p>
        </p:txBody>
      </p:sp>
      <p:sp>
        <p:nvSpPr>
          <p:cNvPr id="20" name="Shape 18"/>
          <p:cNvSpPr/>
          <p:nvPr/>
        </p:nvSpPr>
        <p:spPr>
          <a:xfrm>
            <a:off x="3172968" y="914400"/>
            <a:ext cx="2715768" cy="1005840"/>
          </a:xfrm>
          <a:prstGeom prst="rect">
            <a:avLst/>
          </a:prstGeom>
          <a:solidFill>
            <a:srgbClr val="161E45"/>
          </a:solidFill>
          <a:ln w="12700">
            <a:solidFill>
              <a:srgbClr val="1E2A5A"/>
            </a:solidFill>
            <a:prstDash val="solid"/>
          </a:ln>
        </p:spPr>
        <p:txBody>
          <a:bodyPr/>
          <a:lstStyle/>
          <a:p>
            <a:endParaRPr lang="en-US"/>
          </a:p>
        </p:txBody>
      </p:sp>
      <p:sp>
        <p:nvSpPr>
          <p:cNvPr id="21" name="Shape 19"/>
          <p:cNvSpPr/>
          <p:nvPr/>
        </p:nvSpPr>
        <p:spPr>
          <a:xfrm>
            <a:off x="3172968" y="914400"/>
            <a:ext cx="54864" cy="1005840"/>
          </a:xfrm>
          <a:prstGeom prst="rect">
            <a:avLst/>
          </a:prstGeom>
          <a:solidFill>
            <a:srgbClr val="D32F2F"/>
          </a:solidFill>
          <a:ln w="12700">
            <a:solidFill>
              <a:srgbClr val="D32F2F"/>
            </a:solidFill>
            <a:prstDash val="solid"/>
          </a:ln>
        </p:spPr>
        <p:txBody>
          <a:bodyPr/>
          <a:lstStyle/>
          <a:p>
            <a:endParaRPr lang="en-US"/>
          </a:p>
        </p:txBody>
      </p:sp>
      <p:sp>
        <p:nvSpPr>
          <p:cNvPr id="22" name="Shape 20"/>
          <p:cNvSpPr/>
          <p:nvPr/>
        </p:nvSpPr>
        <p:spPr>
          <a:xfrm>
            <a:off x="3374136" y="969264"/>
            <a:ext cx="731520" cy="219456"/>
          </a:xfrm>
          <a:prstGeom prst="rect">
            <a:avLst/>
          </a:prstGeom>
          <a:solidFill>
            <a:srgbClr val="D32F2F">
              <a:alpha val="20000"/>
            </a:srgbClr>
          </a:solidFill>
          <a:ln w="12700">
            <a:solidFill>
              <a:srgbClr val="D32F2F"/>
            </a:solidFill>
            <a:prstDash val="solid"/>
          </a:ln>
        </p:spPr>
        <p:txBody>
          <a:bodyPr/>
          <a:lstStyle/>
          <a:p>
            <a:endParaRPr lang="en-US"/>
          </a:p>
        </p:txBody>
      </p:sp>
      <p:sp>
        <p:nvSpPr>
          <p:cNvPr id="23" name="Text 21"/>
          <p:cNvSpPr/>
          <p:nvPr/>
        </p:nvSpPr>
        <p:spPr>
          <a:xfrm>
            <a:off x="3374136" y="969264"/>
            <a:ext cx="731520" cy="219456"/>
          </a:xfrm>
          <a:prstGeom prst="rect">
            <a:avLst/>
          </a:prstGeom>
          <a:noFill/>
          <a:ln/>
        </p:spPr>
        <p:txBody>
          <a:bodyPr wrap="square" lIns="0" tIns="0" rIns="0" bIns="0" rtlCol="0" anchor="ctr"/>
          <a:lstStyle/>
          <a:p>
            <a:pPr marL="0" indent="0" algn="ctr">
              <a:buNone/>
            </a:pPr>
            <a:r>
              <a:rPr lang="en-US" sz="700" b="1" dirty="0">
                <a:solidFill>
                  <a:srgbClr val="FFFFFF"/>
                </a:solidFill>
              </a:rPr>
              <a:t>REJECTED</a:t>
            </a:r>
            <a:endParaRPr lang="en-US" sz="700" dirty="0"/>
          </a:p>
        </p:txBody>
      </p:sp>
      <p:sp>
        <p:nvSpPr>
          <p:cNvPr id="24" name="Text 22"/>
          <p:cNvSpPr/>
          <p:nvPr/>
        </p:nvSpPr>
        <p:spPr>
          <a:xfrm>
            <a:off x="4197096" y="969264"/>
            <a:ext cx="1600200" cy="219456"/>
          </a:xfrm>
          <a:prstGeom prst="rect">
            <a:avLst/>
          </a:prstGeom>
          <a:noFill/>
          <a:ln/>
        </p:spPr>
        <p:txBody>
          <a:bodyPr wrap="square" lIns="0" tIns="0" rIns="0" bIns="0" rtlCol="0" anchor="ctr"/>
          <a:lstStyle/>
          <a:p>
            <a:pPr marL="0" indent="0">
              <a:buNone/>
            </a:pPr>
            <a:r>
              <a:rPr lang="en-US" sz="1000" b="1" dirty="0">
                <a:solidFill>
                  <a:srgbClr val="E8EDF5"/>
                </a:solidFill>
              </a:rPr>
              <a:t>Tesseract</a:t>
            </a:r>
            <a:endParaRPr lang="en-US" sz="1000" dirty="0"/>
          </a:p>
        </p:txBody>
      </p:sp>
      <p:sp>
        <p:nvSpPr>
          <p:cNvPr id="25" name="Text 23"/>
          <p:cNvSpPr/>
          <p:nvPr/>
        </p:nvSpPr>
        <p:spPr>
          <a:xfrm>
            <a:off x="3374136" y="1261872"/>
            <a:ext cx="2377440" cy="603504"/>
          </a:xfrm>
          <a:prstGeom prst="rect">
            <a:avLst/>
          </a:prstGeom>
          <a:noFill/>
          <a:ln/>
        </p:spPr>
        <p:txBody>
          <a:bodyPr wrap="square" lIns="0" tIns="0" rIns="0" bIns="0" rtlCol="0" anchor="ctr"/>
          <a:lstStyle/>
          <a:p>
            <a:pPr marL="0" indent="0">
              <a:buNone/>
            </a:pPr>
            <a:r>
              <a:rPr lang="en-US" sz="1000" dirty="0">
                <a:solidFill>
                  <a:srgbClr val="E8EDF5"/>
                </a:solidFill>
              </a:rPr>
              <a:t>Inferior quality on low-contrast thermal receipt scans</a:t>
            </a:r>
            <a:endParaRPr lang="en-US" sz="1000" dirty="0"/>
          </a:p>
        </p:txBody>
      </p:sp>
      <p:sp>
        <p:nvSpPr>
          <p:cNvPr id="26" name="Shape 24"/>
          <p:cNvSpPr/>
          <p:nvPr/>
        </p:nvSpPr>
        <p:spPr>
          <a:xfrm>
            <a:off x="6071616" y="914400"/>
            <a:ext cx="2715768" cy="1005840"/>
          </a:xfrm>
          <a:prstGeom prst="rect">
            <a:avLst/>
          </a:prstGeom>
          <a:solidFill>
            <a:srgbClr val="161E45"/>
          </a:solidFill>
          <a:ln w="12700">
            <a:solidFill>
              <a:srgbClr val="1E2A5A"/>
            </a:solidFill>
            <a:prstDash val="solid"/>
          </a:ln>
        </p:spPr>
        <p:txBody>
          <a:bodyPr/>
          <a:lstStyle/>
          <a:p>
            <a:endParaRPr lang="en-US"/>
          </a:p>
        </p:txBody>
      </p:sp>
      <p:sp>
        <p:nvSpPr>
          <p:cNvPr id="27" name="Shape 25"/>
          <p:cNvSpPr/>
          <p:nvPr/>
        </p:nvSpPr>
        <p:spPr>
          <a:xfrm>
            <a:off x="6071616" y="914400"/>
            <a:ext cx="54864" cy="1005840"/>
          </a:xfrm>
          <a:prstGeom prst="rect">
            <a:avLst/>
          </a:prstGeom>
          <a:solidFill>
            <a:srgbClr val="10B981"/>
          </a:solidFill>
          <a:ln w="12700">
            <a:solidFill>
              <a:srgbClr val="10B981"/>
            </a:solidFill>
            <a:prstDash val="solid"/>
          </a:ln>
        </p:spPr>
        <p:txBody>
          <a:bodyPr/>
          <a:lstStyle/>
          <a:p>
            <a:endParaRPr lang="en-US"/>
          </a:p>
        </p:txBody>
      </p:sp>
      <p:sp>
        <p:nvSpPr>
          <p:cNvPr id="28" name="Shape 26"/>
          <p:cNvSpPr/>
          <p:nvPr/>
        </p:nvSpPr>
        <p:spPr>
          <a:xfrm>
            <a:off x="6272784" y="969264"/>
            <a:ext cx="731520" cy="219456"/>
          </a:xfrm>
          <a:prstGeom prst="rect">
            <a:avLst/>
          </a:prstGeom>
          <a:solidFill>
            <a:srgbClr val="10B981">
              <a:alpha val="80000"/>
            </a:srgbClr>
          </a:solidFill>
          <a:ln w="12700">
            <a:solidFill>
              <a:srgbClr val="10B981"/>
            </a:solidFill>
            <a:prstDash val="solid"/>
          </a:ln>
        </p:spPr>
        <p:txBody>
          <a:bodyPr/>
          <a:lstStyle/>
          <a:p>
            <a:endParaRPr lang="en-US"/>
          </a:p>
        </p:txBody>
      </p:sp>
      <p:sp>
        <p:nvSpPr>
          <p:cNvPr id="29" name="Text 27"/>
          <p:cNvSpPr/>
          <p:nvPr/>
        </p:nvSpPr>
        <p:spPr>
          <a:xfrm>
            <a:off x="6272784" y="969264"/>
            <a:ext cx="731520" cy="219456"/>
          </a:xfrm>
          <a:prstGeom prst="rect">
            <a:avLst/>
          </a:prstGeom>
          <a:noFill/>
          <a:ln/>
        </p:spPr>
        <p:txBody>
          <a:bodyPr wrap="square" lIns="0" tIns="0" rIns="0" bIns="0" rtlCol="0" anchor="ctr"/>
          <a:lstStyle/>
          <a:p>
            <a:pPr marL="0" indent="0" algn="ctr">
              <a:buNone/>
            </a:pPr>
            <a:r>
              <a:rPr lang="en-US" sz="700" b="1" dirty="0">
                <a:solidFill>
                  <a:srgbClr val="FFFFFF"/>
                </a:solidFill>
              </a:rPr>
              <a:t>CHOSEN</a:t>
            </a:r>
            <a:endParaRPr lang="en-US" sz="700" dirty="0"/>
          </a:p>
        </p:txBody>
      </p:sp>
      <p:sp>
        <p:nvSpPr>
          <p:cNvPr id="30" name="Text 28"/>
          <p:cNvSpPr/>
          <p:nvPr/>
        </p:nvSpPr>
        <p:spPr>
          <a:xfrm>
            <a:off x="7095744" y="969264"/>
            <a:ext cx="1600200" cy="219456"/>
          </a:xfrm>
          <a:prstGeom prst="rect">
            <a:avLst/>
          </a:prstGeom>
          <a:noFill/>
          <a:ln/>
        </p:spPr>
        <p:txBody>
          <a:bodyPr wrap="square" lIns="0" tIns="0" rIns="0" bIns="0" rtlCol="0" anchor="ctr"/>
          <a:lstStyle/>
          <a:p>
            <a:pPr marL="0" indent="0">
              <a:buNone/>
            </a:pPr>
            <a:r>
              <a:rPr lang="en-US" sz="1000" b="1" dirty="0">
                <a:solidFill>
                  <a:srgbClr val="10B981"/>
                </a:solidFill>
              </a:rPr>
              <a:t>EasyOCR</a:t>
            </a:r>
            <a:endParaRPr lang="en-US" sz="1000" dirty="0"/>
          </a:p>
        </p:txBody>
      </p:sp>
      <p:sp>
        <p:nvSpPr>
          <p:cNvPr id="31" name="Text 29"/>
          <p:cNvSpPr/>
          <p:nvPr/>
        </p:nvSpPr>
        <p:spPr>
          <a:xfrm>
            <a:off x="6272784" y="1261872"/>
            <a:ext cx="2377440" cy="603504"/>
          </a:xfrm>
          <a:prstGeom prst="rect">
            <a:avLst/>
          </a:prstGeom>
          <a:noFill/>
          <a:ln/>
        </p:spPr>
        <p:txBody>
          <a:bodyPr wrap="square" lIns="0" tIns="0" rIns="0" bIns="0" rtlCol="0" anchor="ctr"/>
          <a:lstStyle/>
          <a:p>
            <a:pPr marL="0" indent="0">
              <a:buNone/>
            </a:pPr>
            <a:r>
              <a:rPr lang="en-US" sz="1000" dirty="0">
                <a:solidFill>
                  <a:srgbClr val="E8EDF5"/>
                </a:solidFill>
              </a:rPr>
              <a:t>Stable on M2 · good receipt quality · Python-native · MPS accelerated</a:t>
            </a:r>
            <a:endParaRPr lang="en-US" sz="1000" dirty="0"/>
          </a:p>
        </p:txBody>
      </p:sp>
      <p:sp>
        <p:nvSpPr>
          <p:cNvPr id="32" name="Shape 30"/>
          <p:cNvSpPr/>
          <p:nvPr/>
        </p:nvSpPr>
        <p:spPr>
          <a:xfrm>
            <a:off x="274320" y="2011680"/>
            <a:ext cx="8595360" cy="502920"/>
          </a:xfrm>
          <a:prstGeom prst="rect">
            <a:avLst/>
          </a:prstGeom>
          <a:solidFill>
            <a:srgbClr val="111838"/>
          </a:solidFill>
          <a:ln w="12700">
            <a:solidFill>
              <a:srgbClr val="1E2A5A"/>
            </a:solidFill>
            <a:prstDash val="solid"/>
          </a:ln>
        </p:spPr>
        <p:txBody>
          <a:bodyPr/>
          <a:lstStyle/>
          <a:p>
            <a:endParaRPr lang="en-US"/>
          </a:p>
        </p:txBody>
      </p:sp>
      <p:sp>
        <p:nvSpPr>
          <p:cNvPr id="33" name="Shape 31"/>
          <p:cNvSpPr/>
          <p:nvPr/>
        </p:nvSpPr>
        <p:spPr>
          <a:xfrm>
            <a:off x="274320" y="2011680"/>
            <a:ext cx="54864" cy="502920"/>
          </a:xfrm>
          <a:prstGeom prst="rect">
            <a:avLst/>
          </a:prstGeom>
          <a:solidFill>
            <a:srgbClr val="00C2E0"/>
          </a:solidFill>
          <a:ln w="12700">
            <a:solidFill>
              <a:srgbClr val="00C2E0"/>
            </a:solidFill>
            <a:prstDash val="solid"/>
          </a:ln>
        </p:spPr>
        <p:txBody>
          <a:bodyPr/>
          <a:lstStyle/>
          <a:p>
            <a:endParaRPr lang="en-US"/>
          </a:p>
        </p:txBody>
      </p:sp>
      <p:sp>
        <p:nvSpPr>
          <p:cNvPr id="34" name="Text 32"/>
          <p:cNvSpPr/>
          <p:nvPr/>
        </p:nvSpPr>
        <p:spPr>
          <a:xfrm>
            <a:off x="475488" y="2011680"/>
            <a:ext cx="8321040" cy="502920"/>
          </a:xfrm>
          <a:prstGeom prst="rect">
            <a:avLst/>
          </a:prstGeom>
          <a:noFill/>
          <a:ln/>
        </p:spPr>
        <p:txBody>
          <a:bodyPr wrap="square" lIns="0" tIns="0" rIns="0" bIns="0" rtlCol="0" anchor="ctr"/>
          <a:lstStyle/>
          <a:p>
            <a:pPr marL="0" indent="0">
              <a:buNone/>
            </a:pPr>
            <a:r>
              <a:rPr lang="en-US" sz="1000" dirty="0">
                <a:solidFill>
                  <a:srgbClr val="8A99C0"/>
                </a:solidFill>
              </a:rPr>
              <a:t>Confidence threshold: </a:t>
            </a:r>
            <a:r>
              <a:rPr lang="en-US" sz="1400" b="1" dirty="0">
                <a:solidFill>
                  <a:srgbClr val="00C2E0"/>
                </a:solidFill>
              </a:rPr>
              <a:t>0.2 </a:t>
            </a:r>
            <a:r>
              <a:rPr lang="en-US" sz="1000" dirty="0">
                <a:solidFill>
                  <a:srgbClr val="8A99C0"/>
                </a:solidFill>
              </a:rPr>
              <a:t>(not default 0.5)  — </a:t>
            </a:r>
            <a:r>
              <a:rPr lang="en-US" sz="1000" dirty="0">
                <a:solidFill>
                  <a:srgbClr val="E8EDF5"/>
                </a:solidFill>
              </a:rPr>
              <a:t>At 0.5, critical entity text from low-quality thermal scans was discarded. At 0.2, we retain more text — the Entity LLM downstream filters and corrects the noise. Validated empirically.</a:t>
            </a:r>
            <a:endParaRPr lang="en-US" sz="1000" dirty="0"/>
          </a:p>
        </p:txBody>
      </p:sp>
      <p:sp>
        <p:nvSpPr>
          <p:cNvPr id="35" name="Shape 33"/>
          <p:cNvSpPr/>
          <p:nvPr/>
        </p:nvSpPr>
        <p:spPr>
          <a:xfrm>
            <a:off x="274320" y="2633472"/>
            <a:ext cx="54864" cy="256032"/>
          </a:xfrm>
          <a:prstGeom prst="rect">
            <a:avLst/>
          </a:prstGeom>
          <a:solidFill>
            <a:srgbClr val="F59E0B"/>
          </a:solidFill>
          <a:ln w="12700">
            <a:solidFill>
              <a:srgbClr val="F59E0B"/>
            </a:solidFill>
            <a:prstDash val="solid"/>
          </a:ln>
        </p:spPr>
        <p:txBody>
          <a:bodyPr/>
          <a:lstStyle/>
          <a:p>
            <a:endParaRPr lang="en-US"/>
          </a:p>
        </p:txBody>
      </p:sp>
      <p:sp>
        <p:nvSpPr>
          <p:cNvPr id="36" name="Text 34"/>
          <p:cNvSpPr/>
          <p:nvPr/>
        </p:nvSpPr>
        <p:spPr>
          <a:xfrm>
            <a:off x="402336" y="2633472"/>
            <a:ext cx="4169664" cy="256032"/>
          </a:xfrm>
          <a:prstGeom prst="rect">
            <a:avLst/>
          </a:prstGeom>
          <a:noFill/>
          <a:ln/>
        </p:spPr>
        <p:txBody>
          <a:bodyPr wrap="square" lIns="0" tIns="0" rIns="0" bIns="0" rtlCol="0" anchor="ctr"/>
          <a:lstStyle/>
          <a:p>
            <a:pPr marL="0" indent="0">
              <a:buNone/>
            </a:pPr>
            <a:r>
              <a:rPr lang="en-US" sz="1000" b="1" dirty="0">
                <a:solidFill>
                  <a:srgbClr val="F59E0B"/>
                </a:solidFill>
                <a:latin typeface="Trebuchet MS" pitchFamily="34" charset="0"/>
                <a:ea typeface="Trebuchet MS" pitchFamily="34" charset="-122"/>
                <a:cs typeface="Trebuchet MS" pitchFamily="34" charset="-120"/>
              </a:rPr>
              <a:t>DECISION 2  —  Correction Inside Entity LLM (not a separate step)</a:t>
            </a:r>
            <a:endParaRPr lang="en-US" sz="1000" dirty="0"/>
          </a:p>
        </p:txBody>
      </p:sp>
      <p:sp>
        <p:nvSpPr>
          <p:cNvPr id="37" name="Shape 35"/>
          <p:cNvSpPr/>
          <p:nvPr/>
        </p:nvSpPr>
        <p:spPr>
          <a:xfrm>
            <a:off x="274320" y="2926080"/>
            <a:ext cx="4160520" cy="1906524"/>
          </a:xfrm>
          <a:prstGeom prst="rect">
            <a:avLst/>
          </a:prstGeom>
          <a:solidFill>
            <a:srgbClr val="111838"/>
          </a:solidFill>
          <a:ln w="12700">
            <a:solidFill>
              <a:srgbClr val="1E2A5A"/>
            </a:solidFill>
            <a:prstDash val="solid"/>
          </a:ln>
        </p:spPr>
        <p:txBody>
          <a:bodyPr/>
          <a:lstStyle/>
          <a:p>
            <a:endParaRPr lang="en-US"/>
          </a:p>
        </p:txBody>
      </p:sp>
      <p:sp>
        <p:nvSpPr>
          <p:cNvPr id="38" name="Shape 36"/>
          <p:cNvSpPr/>
          <p:nvPr/>
        </p:nvSpPr>
        <p:spPr>
          <a:xfrm>
            <a:off x="274320" y="2926080"/>
            <a:ext cx="54864" cy="1906524"/>
          </a:xfrm>
          <a:prstGeom prst="rect">
            <a:avLst/>
          </a:prstGeom>
          <a:solidFill>
            <a:srgbClr val="F59E0B"/>
          </a:solidFill>
          <a:ln w="12700">
            <a:solidFill>
              <a:srgbClr val="F59E0B"/>
            </a:solidFill>
            <a:prstDash val="solid"/>
          </a:ln>
        </p:spPr>
        <p:txBody>
          <a:bodyPr/>
          <a:lstStyle/>
          <a:p>
            <a:endParaRPr lang="en-US"/>
          </a:p>
        </p:txBody>
      </p:sp>
      <p:sp>
        <p:nvSpPr>
          <p:cNvPr id="39" name="Text 37"/>
          <p:cNvSpPr/>
          <p:nvPr/>
        </p:nvSpPr>
        <p:spPr>
          <a:xfrm>
            <a:off x="475488" y="2980944"/>
            <a:ext cx="3840480" cy="256032"/>
          </a:xfrm>
          <a:prstGeom prst="rect">
            <a:avLst/>
          </a:prstGeom>
          <a:noFill/>
          <a:ln/>
        </p:spPr>
        <p:txBody>
          <a:bodyPr wrap="square" lIns="0" tIns="0" rIns="0" bIns="0" rtlCol="0" anchor="ctr"/>
          <a:lstStyle/>
          <a:p>
            <a:pPr marL="0" indent="0">
              <a:buNone/>
            </a:pPr>
            <a:r>
              <a:rPr lang="en-US" sz="1000" b="1" dirty="0">
                <a:solidFill>
                  <a:srgbClr val="F59E0B"/>
                </a:solidFill>
              </a:rPr>
              <a:t>Why combined?</a:t>
            </a:r>
            <a:endParaRPr lang="en-US" sz="1000" dirty="0"/>
          </a:p>
        </p:txBody>
      </p:sp>
      <p:sp>
        <p:nvSpPr>
          <p:cNvPr id="40" name="Text 38"/>
          <p:cNvSpPr/>
          <p:nvPr/>
        </p:nvSpPr>
        <p:spPr>
          <a:xfrm>
            <a:off x="475488" y="3273552"/>
            <a:ext cx="3840480" cy="548640"/>
          </a:xfrm>
          <a:prstGeom prst="rect">
            <a:avLst/>
          </a:prstGeom>
          <a:noFill/>
          <a:ln/>
        </p:spPr>
        <p:txBody>
          <a:bodyPr wrap="square" lIns="0" tIns="0" rIns="0" bIns="0" rtlCol="0" anchor="ctr"/>
          <a:lstStyle/>
          <a:p>
            <a:pPr marL="0" indent="0">
              <a:buNone/>
            </a:pPr>
            <a:r>
              <a:rPr lang="en-US" sz="950" dirty="0">
                <a:solidFill>
                  <a:srgbClr val="E8EDF5"/>
                </a:solidFill>
              </a:rPr>
              <a:t>One LLM call handles both extraction and correction simultaneously. Fewer calls = lower latency &amp; cost. Same quality. Aligned with assessment framing of 'entity analysis LLM'.</a:t>
            </a:r>
            <a:endParaRPr lang="en-US" sz="950" dirty="0"/>
          </a:p>
        </p:txBody>
      </p:sp>
      <p:sp>
        <p:nvSpPr>
          <p:cNvPr id="41" name="Text 39"/>
          <p:cNvSpPr/>
          <p:nvPr/>
        </p:nvSpPr>
        <p:spPr>
          <a:xfrm>
            <a:off x="475488" y="3858768"/>
            <a:ext cx="3840480" cy="219456"/>
          </a:xfrm>
          <a:prstGeom prst="rect">
            <a:avLst/>
          </a:prstGeom>
          <a:noFill/>
          <a:ln/>
        </p:spPr>
        <p:txBody>
          <a:bodyPr wrap="square" lIns="0" tIns="0" rIns="0" bIns="0" rtlCol="0" anchor="ctr"/>
          <a:lstStyle/>
          <a:p>
            <a:pPr marL="0" indent="0">
              <a:buNone/>
            </a:pPr>
            <a:r>
              <a:rPr lang="en-US" sz="950" b="1" dirty="0">
                <a:solidFill>
                  <a:srgbClr val="F59E0B"/>
                </a:solidFill>
              </a:rPr>
              <a:t>Three correction types:</a:t>
            </a:r>
            <a:endParaRPr lang="en-US" sz="950" dirty="0"/>
          </a:p>
        </p:txBody>
      </p:sp>
      <p:sp>
        <p:nvSpPr>
          <p:cNvPr id="42" name="Text 40"/>
          <p:cNvSpPr/>
          <p:nvPr/>
        </p:nvSpPr>
        <p:spPr>
          <a:xfrm>
            <a:off x="475488" y="4096512"/>
            <a:ext cx="3840480" cy="182880"/>
          </a:xfrm>
          <a:prstGeom prst="rect">
            <a:avLst/>
          </a:prstGeom>
          <a:noFill/>
          <a:ln/>
        </p:spPr>
        <p:txBody>
          <a:bodyPr wrap="square" lIns="0" tIns="0" rIns="0" bIns="0" rtlCol="0" anchor="ctr"/>
          <a:lstStyle/>
          <a:p>
            <a:pPr marL="0" indent="0">
              <a:buNone/>
            </a:pPr>
            <a:r>
              <a:rPr lang="en-US" sz="850" b="1" dirty="0">
                <a:solidFill>
                  <a:srgbClr val="F59E0B"/>
                </a:solidFill>
              </a:rPr>
              <a:t>1  </a:t>
            </a:r>
            <a:r>
              <a:rPr lang="en-US" sz="850" dirty="0">
                <a:solidFill>
                  <a:srgbClr val="E8EDF5"/>
                </a:solidFill>
              </a:rPr>
              <a:t>OCR misreads (0↔O, 1↔l, rn↔m, broken words like 'To tal')</a:t>
            </a:r>
            <a:endParaRPr lang="en-US" sz="850" dirty="0"/>
          </a:p>
        </p:txBody>
      </p:sp>
      <p:sp>
        <p:nvSpPr>
          <p:cNvPr id="43" name="Text 41"/>
          <p:cNvSpPr/>
          <p:nvPr/>
        </p:nvSpPr>
        <p:spPr>
          <a:xfrm>
            <a:off x="475488" y="4288536"/>
            <a:ext cx="4050792" cy="192024"/>
          </a:xfrm>
          <a:prstGeom prst="rect">
            <a:avLst/>
          </a:prstGeom>
          <a:noFill/>
          <a:ln/>
        </p:spPr>
        <p:txBody>
          <a:bodyPr wrap="square" lIns="0" tIns="0" rIns="0" bIns="0" rtlCol="0" anchor="ctr"/>
          <a:lstStyle/>
          <a:p>
            <a:pPr marL="0" indent="0">
              <a:buNone/>
            </a:pPr>
            <a:r>
              <a:rPr lang="en-US" sz="850" b="1" dirty="0">
                <a:solidFill>
                  <a:srgbClr val="F59E0B"/>
                </a:solidFill>
              </a:rPr>
              <a:t>2  </a:t>
            </a:r>
            <a:r>
              <a:rPr lang="en-US" sz="850" dirty="0">
                <a:solidFill>
                  <a:srgbClr val="E8EDF5"/>
                </a:solidFill>
              </a:rPr>
              <a:t>Compound entity completion (MYDIN MO → MYDIN MOHAMED HOLDINGS SDN BHD)</a:t>
            </a:r>
            <a:endParaRPr lang="en-US" sz="850" dirty="0"/>
          </a:p>
        </p:txBody>
      </p:sp>
      <p:sp>
        <p:nvSpPr>
          <p:cNvPr id="44" name="Text 42"/>
          <p:cNvSpPr/>
          <p:nvPr/>
        </p:nvSpPr>
        <p:spPr>
          <a:xfrm>
            <a:off x="475488" y="4480560"/>
            <a:ext cx="3840480" cy="182880"/>
          </a:xfrm>
          <a:prstGeom prst="rect">
            <a:avLst/>
          </a:prstGeom>
          <a:noFill/>
          <a:ln/>
        </p:spPr>
        <p:txBody>
          <a:bodyPr wrap="square" lIns="0" tIns="0" rIns="0" bIns="0" rtlCol="0" anchor="ctr"/>
          <a:lstStyle/>
          <a:p>
            <a:pPr marL="0" indent="0">
              <a:buNone/>
            </a:pPr>
            <a:r>
              <a:rPr lang="en-US" sz="850" b="1" dirty="0">
                <a:solidFill>
                  <a:srgbClr val="F59E0B"/>
                </a:solidFill>
              </a:rPr>
              <a:t>3  </a:t>
            </a:r>
            <a:r>
              <a:rPr lang="en-US" sz="850" dirty="0">
                <a:solidFill>
                  <a:srgbClr val="E8EDF5"/>
                </a:solidFill>
              </a:rPr>
              <a:t>General normalisation — spacing, split lines, currency formatting</a:t>
            </a:r>
            <a:endParaRPr lang="en-US" sz="850" dirty="0"/>
          </a:p>
        </p:txBody>
      </p:sp>
      <p:sp>
        <p:nvSpPr>
          <p:cNvPr id="45" name="Shape 43"/>
          <p:cNvSpPr/>
          <p:nvPr/>
        </p:nvSpPr>
        <p:spPr>
          <a:xfrm>
            <a:off x="4709160" y="2633472"/>
            <a:ext cx="54864" cy="256032"/>
          </a:xfrm>
          <a:prstGeom prst="rect">
            <a:avLst/>
          </a:prstGeom>
          <a:solidFill>
            <a:srgbClr val="7C3AED"/>
          </a:solidFill>
          <a:ln w="12700">
            <a:solidFill>
              <a:srgbClr val="7C3AED"/>
            </a:solidFill>
            <a:prstDash val="solid"/>
          </a:ln>
        </p:spPr>
        <p:txBody>
          <a:bodyPr/>
          <a:lstStyle/>
          <a:p>
            <a:endParaRPr lang="en-US"/>
          </a:p>
        </p:txBody>
      </p:sp>
      <p:sp>
        <p:nvSpPr>
          <p:cNvPr id="46" name="Text 44"/>
          <p:cNvSpPr/>
          <p:nvPr/>
        </p:nvSpPr>
        <p:spPr>
          <a:xfrm>
            <a:off x="4837176" y="2633472"/>
            <a:ext cx="4032504" cy="256032"/>
          </a:xfrm>
          <a:prstGeom prst="rect">
            <a:avLst/>
          </a:prstGeom>
          <a:noFill/>
          <a:ln/>
        </p:spPr>
        <p:txBody>
          <a:bodyPr wrap="square" lIns="0" tIns="0" rIns="0" bIns="0" rtlCol="0" anchor="ctr"/>
          <a:lstStyle/>
          <a:p>
            <a:pPr marL="0" indent="0">
              <a:buNone/>
            </a:pPr>
            <a:r>
              <a:rPr lang="en-US" sz="1000" b="1" dirty="0">
                <a:solidFill>
                  <a:srgbClr val="7C3AED"/>
                </a:solidFill>
                <a:latin typeface="Trebuchet MS" pitchFamily="34" charset="0"/>
                <a:ea typeface="Trebuchet MS" pitchFamily="34" charset="-122"/>
                <a:cs typeface="Trebuchet MS" pitchFamily="34" charset="-120"/>
              </a:rPr>
              <a:t>DECISION 3  —  Why LangGraph for a Simple Pipeline</a:t>
            </a:r>
            <a:endParaRPr lang="en-US" sz="1000" dirty="0"/>
          </a:p>
        </p:txBody>
      </p:sp>
      <p:sp>
        <p:nvSpPr>
          <p:cNvPr id="47" name="Shape 45"/>
          <p:cNvSpPr/>
          <p:nvPr/>
        </p:nvSpPr>
        <p:spPr>
          <a:xfrm>
            <a:off x="4709160" y="2926080"/>
            <a:ext cx="4160520" cy="1906524"/>
          </a:xfrm>
          <a:prstGeom prst="rect">
            <a:avLst/>
          </a:prstGeom>
          <a:solidFill>
            <a:srgbClr val="111838"/>
          </a:solidFill>
          <a:ln w="12700">
            <a:solidFill>
              <a:srgbClr val="1E2A5A"/>
            </a:solidFill>
            <a:prstDash val="solid"/>
          </a:ln>
        </p:spPr>
        <p:txBody>
          <a:bodyPr/>
          <a:lstStyle/>
          <a:p>
            <a:endParaRPr lang="en-US"/>
          </a:p>
        </p:txBody>
      </p:sp>
      <p:sp>
        <p:nvSpPr>
          <p:cNvPr id="48" name="Shape 46"/>
          <p:cNvSpPr/>
          <p:nvPr/>
        </p:nvSpPr>
        <p:spPr>
          <a:xfrm>
            <a:off x="4709160" y="2926080"/>
            <a:ext cx="54864" cy="1906524"/>
          </a:xfrm>
          <a:prstGeom prst="rect">
            <a:avLst/>
          </a:prstGeom>
          <a:solidFill>
            <a:srgbClr val="7C3AED"/>
          </a:solidFill>
          <a:ln w="12700">
            <a:solidFill>
              <a:srgbClr val="7C3AED"/>
            </a:solidFill>
            <a:prstDash val="solid"/>
          </a:ln>
        </p:spPr>
        <p:txBody>
          <a:bodyPr/>
          <a:lstStyle/>
          <a:p>
            <a:endParaRPr lang="en-US"/>
          </a:p>
        </p:txBody>
      </p:sp>
      <p:sp>
        <p:nvSpPr>
          <p:cNvPr id="49" name="Text 47"/>
          <p:cNvSpPr/>
          <p:nvPr/>
        </p:nvSpPr>
        <p:spPr>
          <a:xfrm>
            <a:off x="4910328" y="2980944"/>
            <a:ext cx="3840480" cy="256032"/>
          </a:xfrm>
          <a:prstGeom prst="rect">
            <a:avLst/>
          </a:prstGeom>
          <a:noFill/>
          <a:ln/>
        </p:spPr>
        <p:txBody>
          <a:bodyPr wrap="square" lIns="0" tIns="0" rIns="0" bIns="0" rtlCol="0" anchor="ctr"/>
          <a:lstStyle/>
          <a:p>
            <a:pPr marL="0" indent="0">
              <a:buNone/>
            </a:pPr>
            <a:r>
              <a:rPr lang="en-US" sz="1000" b="1" dirty="0">
                <a:solidFill>
                  <a:srgbClr val="9B59D6"/>
                </a:solidFill>
              </a:rPr>
              <a:t>Production-readiness thinking:</a:t>
            </a:r>
            <a:endParaRPr lang="en-US" sz="1000" dirty="0"/>
          </a:p>
        </p:txBody>
      </p:sp>
      <p:sp>
        <p:nvSpPr>
          <p:cNvPr id="50" name="Shape 48"/>
          <p:cNvSpPr/>
          <p:nvPr/>
        </p:nvSpPr>
        <p:spPr>
          <a:xfrm>
            <a:off x="4910328" y="3310128"/>
            <a:ext cx="164592" cy="164592"/>
          </a:xfrm>
          <a:prstGeom prst="line">
            <a:avLst/>
          </a:prstGeom>
          <a:solidFill>
            <a:srgbClr val="7C3AED"/>
          </a:solidFill>
          <a:ln w="12700">
            <a:solidFill>
              <a:srgbClr val="7C3AED"/>
            </a:solidFill>
            <a:prstDash val="solid"/>
          </a:ln>
        </p:spPr>
        <p:txBody>
          <a:bodyPr/>
          <a:lstStyle/>
          <a:p>
            <a:endParaRPr lang="en-US"/>
          </a:p>
        </p:txBody>
      </p:sp>
      <p:sp>
        <p:nvSpPr>
          <p:cNvPr id="51" name="Text 49"/>
          <p:cNvSpPr/>
          <p:nvPr/>
        </p:nvSpPr>
        <p:spPr>
          <a:xfrm>
            <a:off x="5166360" y="3310128"/>
            <a:ext cx="3566160" cy="201168"/>
          </a:xfrm>
          <a:prstGeom prst="rect">
            <a:avLst/>
          </a:prstGeom>
          <a:noFill/>
          <a:ln/>
        </p:spPr>
        <p:txBody>
          <a:bodyPr wrap="square" lIns="0" tIns="0" rIns="0" bIns="0" rtlCol="0" anchor="ctr"/>
          <a:lstStyle/>
          <a:p>
            <a:pPr marL="0" indent="0">
              <a:buNone/>
            </a:pPr>
            <a:r>
              <a:rPr lang="en-US" sz="1000" dirty="0">
                <a:solidFill>
                  <a:srgbClr val="E8EDF5"/>
                </a:solidFill>
              </a:rPr>
              <a:t>Easy to add Phoenix tracing without restructuring</a:t>
            </a:r>
            <a:endParaRPr lang="en-US" sz="1000" dirty="0"/>
          </a:p>
        </p:txBody>
      </p:sp>
      <p:sp>
        <p:nvSpPr>
          <p:cNvPr id="52" name="Shape 50"/>
          <p:cNvSpPr/>
          <p:nvPr/>
        </p:nvSpPr>
        <p:spPr>
          <a:xfrm>
            <a:off x="4910328" y="3630168"/>
            <a:ext cx="164592" cy="164592"/>
          </a:xfrm>
          <a:prstGeom prst="line">
            <a:avLst/>
          </a:prstGeom>
          <a:solidFill>
            <a:srgbClr val="7C3AED"/>
          </a:solidFill>
          <a:ln w="12700">
            <a:solidFill>
              <a:srgbClr val="7C3AED"/>
            </a:solidFill>
            <a:prstDash val="solid"/>
          </a:ln>
        </p:spPr>
        <p:txBody>
          <a:bodyPr/>
          <a:lstStyle/>
          <a:p>
            <a:endParaRPr lang="en-US"/>
          </a:p>
        </p:txBody>
      </p:sp>
      <p:sp>
        <p:nvSpPr>
          <p:cNvPr id="53" name="Text 51"/>
          <p:cNvSpPr/>
          <p:nvPr/>
        </p:nvSpPr>
        <p:spPr>
          <a:xfrm>
            <a:off x="5166360" y="3630168"/>
            <a:ext cx="3566160" cy="201168"/>
          </a:xfrm>
          <a:prstGeom prst="rect">
            <a:avLst/>
          </a:prstGeom>
          <a:noFill/>
          <a:ln/>
        </p:spPr>
        <p:txBody>
          <a:bodyPr wrap="square" lIns="0" tIns="0" rIns="0" bIns="0" rtlCol="0" anchor="ctr"/>
          <a:lstStyle/>
          <a:p>
            <a:pPr marL="0" indent="0">
              <a:buNone/>
            </a:pPr>
            <a:r>
              <a:rPr lang="en-US" sz="1000" dirty="0">
                <a:solidFill>
                  <a:srgbClr val="E8EDF5"/>
                </a:solidFill>
              </a:rPr>
              <a:t>Retry logic and error handling as graph nodes</a:t>
            </a:r>
            <a:endParaRPr lang="en-US" sz="1000" dirty="0"/>
          </a:p>
        </p:txBody>
      </p:sp>
      <p:sp>
        <p:nvSpPr>
          <p:cNvPr id="54" name="Shape 52"/>
          <p:cNvSpPr/>
          <p:nvPr/>
        </p:nvSpPr>
        <p:spPr>
          <a:xfrm>
            <a:off x="4910328" y="3950208"/>
            <a:ext cx="164592" cy="164592"/>
          </a:xfrm>
          <a:prstGeom prst="line">
            <a:avLst/>
          </a:prstGeom>
          <a:solidFill>
            <a:srgbClr val="7C3AED"/>
          </a:solidFill>
          <a:ln w="12700">
            <a:solidFill>
              <a:srgbClr val="7C3AED"/>
            </a:solidFill>
            <a:prstDash val="solid"/>
          </a:ln>
        </p:spPr>
        <p:txBody>
          <a:bodyPr/>
          <a:lstStyle/>
          <a:p>
            <a:endParaRPr lang="en-US"/>
          </a:p>
        </p:txBody>
      </p:sp>
      <p:sp>
        <p:nvSpPr>
          <p:cNvPr id="55" name="Text 53"/>
          <p:cNvSpPr/>
          <p:nvPr/>
        </p:nvSpPr>
        <p:spPr>
          <a:xfrm>
            <a:off x="5166360" y="3950208"/>
            <a:ext cx="3566160" cy="201168"/>
          </a:xfrm>
          <a:prstGeom prst="rect">
            <a:avLst/>
          </a:prstGeom>
          <a:noFill/>
          <a:ln/>
        </p:spPr>
        <p:txBody>
          <a:bodyPr wrap="square" lIns="0" tIns="0" rIns="0" bIns="0" rtlCol="0" anchor="ctr"/>
          <a:lstStyle/>
          <a:p>
            <a:pPr marL="0" indent="0">
              <a:buNone/>
            </a:pPr>
            <a:r>
              <a:rPr lang="en-US" sz="1000" dirty="0">
                <a:solidFill>
                  <a:srgbClr val="E8EDF5"/>
                </a:solidFill>
              </a:rPr>
              <a:t>Parallel processing nodes for batch scaling</a:t>
            </a:r>
            <a:endParaRPr lang="en-US" sz="1000" dirty="0"/>
          </a:p>
        </p:txBody>
      </p:sp>
      <p:sp>
        <p:nvSpPr>
          <p:cNvPr id="7" name="Text 12">
            <a:extLst>
              <a:ext uri="{FF2B5EF4-FFF2-40B4-BE49-F238E27FC236}">
                <a16:creationId xmlns:a16="http://schemas.microsoft.com/office/drawing/2014/main" id="{0E156D7D-9E4E-82E7-39E2-8FBD6010CB88}"/>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Evaluation Design — Why Two Tables</a:t>
            </a:r>
            <a:endParaRPr lang="en-US" sz="1700" dirty="0"/>
          </a:p>
        </p:txBody>
      </p:sp>
      <p:sp>
        <p:nvSpPr>
          <p:cNvPr id="5" name="Shape 3"/>
          <p:cNvSpPr/>
          <p:nvPr/>
        </p:nvSpPr>
        <p:spPr>
          <a:xfrm>
            <a:off x="6720840" y="109728"/>
            <a:ext cx="1234440" cy="274320"/>
          </a:xfrm>
          <a:prstGeom prst="rect">
            <a:avLst/>
          </a:prstGeom>
          <a:solidFill>
            <a:srgbClr val="7C3AED">
              <a:alpha val="22000"/>
            </a:srgbClr>
          </a:solidFill>
          <a:ln w="12700">
            <a:solidFill>
              <a:srgbClr val="7C3AED"/>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2</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F59E0B"/>
          </a:solidFill>
          <a:ln w="12700">
            <a:solidFill>
              <a:srgbClr val="F59E0B"/>
            </a:solidFill>
            <a:prstDash val="solid"/>
          </a:ln>
        </p:spPr>
        <p:txBody>
          <a:bodyPr/>
          <a:lstStyle/>
          <a:p>
            <a:endParaRPr lang="en-US"/>
          </a:p>
        </p:txBody>
      </p:sp>
      <p:sp>
        <p:nvSpPr>
          <p:cNvPr id="13" name="Text 11"/>
          <p:cNvSpPr/>
          <p:nvPr/>
        </p:nvSpPr>
        <p:spPr>
          <a:xfrm>
            <a:off x="402335" y="594360"/>
            <a:ext cx="6921029" cy="256032"/>
          </a:xfrm>
          <a:prstGeom prst="rect">
            <a:avLst/>
          </a:prstGeom>
          <a:noFill/>
          <a:ln/>
        </p:spPr>
        <p:txBody>
          <a:bodyPr wrap="square" lIns="0" tIns="0" rIns="0" bIns="0" rtlCol="0" anchor="ctr"/>
          <a:lstStyle/>
          <a:p>
            <a:pPr marL="0" indent="0">
              <a:buNone/>
            </a:pPr>
            <a:r>
              <a:rPr lang="en-US" sz="1400" b="1" dirty="0">
                <a:solidFill>
                  <a:srgbClr val="F59E0B"/>
                </a:solidFill>
                <a:latin typeface="Trebuchet MS" pitchFamily="34" charset="0"/>
                <a:ea typeface="Trebuchet MS" pitchFamily="34" charset="-122"/>
                <a:cs typeface="Trebuchet MS" pitchFamily="34" charset="-120"/>
              </a:rPr>
              <a:t>KEY POINT — Tiers 1–2 and Tiers 3–5 measure fundamentally different things</a:t>
            </a:r>
            <a:endParaRPr lang="en-US" sz="1400" dirty="0"/>
          </a:p>
        </p:txBody>
      </p:sp>
      <p:sp>
        <p:nvSpPr>
          <p:cNvPr id="14" name="Shape 12"/>
          <p:cNvSpPr/>
          <p:nvPr/>
        </p:nvSpPr>
        <p:spPr>
          <a:xfrm>
            <a:off x="274320" y="914400"/>
            <a:ext cx="4160520" cy="3200400"/>
          </a:xfrm>
          <a:prstGeom prst="rect">
            <a:avLst/>
          </a:prstGeom>
          <a:solidFill>
            <a:srgbClr val="111838"/>
          </a:solidFill>
          <a:ln w="12700">
            <a:solidFill>
              <a:srgbClr val="1E2A5A"/>
            </a:solidFill>
            <a:prstDash val="solid"/>
          </a:ln>
        </p:spPr>
        <p:txBody>
          <a:bodyPr/>
          <a:lstStyle/>
          <a:p>
            <a:endParaRPr lang="en-US"/>
          </a:p>
        </p:txBody>
      </p:sp>
      <p:sp>
        <p:nvSpPr>
          <p:cNvPr id="15" name="Shape 13"/>
          <p:cNvSpPr/>
          <p:nvPr/>
        </p:nvSpPr>
        <p:spPr>
          <a:xfrm>
            <a:off x="274320" y="914400"/>
            <a:ext cx="54864" cy="3200400"/>
          </a:xfrm>
          <a:prstGeom prst="rect">
            <a:avLst/>
          </a:prstGeom>
          <a:solidFill>
            <a:srgbClr val="00C2E0"/>
          </a:solidFill>
          <a:ln w="12700">
            <a:solidFill>
              <a:srgbClr val="00C2E0"/>
            </a:solidFill>
            <a:prstDash val="solid"/>
          </a:ln>
        </p:spPr>
        <p:txBody>
          <a:bodyPr/>
          <a:lstStyle/>
          <a:p>
            <a:endParaRPr lang="en-US"/>
          </a:p>
        </p:txBody>
      </p:sp>
      <p:sp>
        <p:nvSpPr>
          <p:cNvPr id="16" name="Shape 14"/>
          <p:cNvSpPr/>
          <p:nvPr/>
        </p:nvSpPr>
        <p:spPr>
          <a:xfrm>
            <a:off x="274320" y="914400"/>
            <a:ext cx="4160520" cy="384048"/>
          </a:xfrm>
          <a:prstGeom prst="rect">
            <a:avLst/>
          </a:prstGeom>
          <a:solidFill>
            <a:srgbClr val="00C2E0">
              <a:alpha val="25000"/>
            </a:srgbClr>
          </a:solidFill>
          <a:ln w="12700">
            <a:solidFill>
              <a:srgbClr val="00C2E0"/>
            </a:solidFill>
            <a:prstDash val="solid"/>
          </a:ln>
        </p:spPr>
        <p:txBody>
          <a:bodyPr/>
          <a:lstStyle/>
          <a:p>
            <a:endParaRPr lang="en-US"/>
          </a:p>
        </p:txBody>
      </p:sp>
      <p:sp>
        <p:nvSpPr>
          <p:cNvPr id="17" name="Text 15"/>
          <p:cNvSpPr/>
          <p:nvPr/>
        </p:nvSpPr>
        <p:spPr>
          <a:xfrm>
            <a:off x="475488" y="914400"/>
            <a:ext cx="3840480" cy="384048"/>
          </a:xfrm>
          <a:prstGeom prst="rect">
            <a:avLst/>
          </a:prstGeom>
          <a:noFill/>
          <a:ln/>
        </p:spPr>
        <p:txBody>
          <a:bodyPr wrap="square" lIns="0" tIns="0" rIns="0" bIns="0" rtlCol="0" anchor="ctr"/>
          <a:lstStyle/>
          <a:p>
            <a:pPr marL="0" indent="0">
              <a:buNone/>
            </a:pPr>
            <a:r>
              <a:rPr lang="en-US" sz="1200" b="1" dirty="0">
                <a:solidFill>
                  <a:srgbClr val="FFFFFF"/>
                </a:solidFill>
              </a:rPr>
              <a:t>TABLE 1 — OCR Quality  (Tiers 1 &amp; 2)</a:t>
            </a:r>
            <a:endParaRPr lang="en-US" sz="1200" dirty="0"/>
          </a:p>
        </p:txBody>
      </p:sp>
      <p:sp>
        <p:nvSpPr>
          <p:cNvPr id="18" name="Text 16"/>
          <p:cNvSpPr/>
          <p:nvPr/>
        </p:nvSpPr>
        <p:spPr>
          <a:xfrm>
            <a:off x="475488" y="1371600"/>
            <a:ext cx="1005840" cy="256032"/>
          </a:xfrm>
          <a:prstGeom prst="rect">
            <a:avLst/>
          </a:prstGeom>
          <a:noFill/>
          <a:ln/>
        </p:spPr>
        <p:txBody>
          <a:bodyPr wrap="square" lIns="0" tIns="0" rIns="0" bIns="0" rtlCol="0" anchor="ctr"/>
          <a:lstStyle/>
          <a:p>
            <a:pPr marL="0" indent="0">
              <a:buNone/>
            </a:pPr>
            <a:r>
              <a:rPr lang="en-US" sz="1000" b="1" dirty="0">
                <a:solidFill>
                  <a:srgbClr val="00C2E0"/>
                </a:solidFill>
              </a:rPr>
              <a:t>What:</a:t>
            </a:r>
            <a:endParaRPr lang="en-US" sz="1000" dirty="0"/>
          </a:p>
        </p:txBody>
      </p:sp>
      <p:sp>
        <p:nvSpPr>
          <p:cNvPr id="19" name="Text 17"/>
          <p:cNvSpPr/>
          <p:nvPr/>
        </p:nvSpPr>
        <p:spPr>
          <a:xfrm>
            <a:off x="1508760" y="1371600"/>
            <a:ext cx="2743200" cy="402336"/>
          </a:xfrm>
          <a:prstGeom prst="rect">
            <a:avLst/>
          </a:prstGeom>
          <a:noFill/>
          <a:ln/>
        </p:spPr>
        <p:txBody>
          <a:bodyPr wrap="square" lIns="0" tIns="0" rIns="0" bIns="0" rtlCol="0" anchor="ctr"/>
          <a:lstStyle/>
          <a:p>
            <a:pPr marL="0" indent="0">
              <a:buNone/>
            </a:pPr>
            <a:r>
              <a:rPr lang="en-US" sz="1000" dirty="0">
                <a:solidFill>
                  <a:srgbClr val="E8EDF5"/>
                </a:solidFill>
              </a:rPr>
              <a:t>Raw text blob quality — does the ground truth value appear anywhere in the OCR output?</a:t>
            </a:r>
            <a:endParaRPr lang="en-US" sz="1000" dirty="0"/>
          </a:p>
        </p:txBody>
      </p:sp>
      <p:sp>
        <p:nvSpPr>
          <p:cNvPr id="20" name="Text 18"/>
          <p:cNvSpPr/>
          <p:nvPr/>
        </p:nvSpPr>
        <p:spPr>
          <a:xfrm>
            <a:off x="475488" y="1874520"/>
            <a:ext cx="1005840" cy="256032"/>
          </a:xfrm>
          <a:prstGeom prst="rect">
            <a:avLst/>
          </a:prstGeom>
          <a:noFill/>
          <a:ln/>
        </p:spPr>
        <p:txBody>
          <a:bodyPr wrap="square" lIns="0" tIns="0" rIns="0" bIns="0" rtlCol="0" anchor="ctr"/>
          <a:lstStyle/>
          <a:p>
            <a:pPr marL="0" indent="0">
              <a:buNone/>
            </a:pPr>
            <a:r>
              <a:rPr lang="en-US" sz="1000" b="1" dirty="0">
                <a:solidFill>
                  <a:srgbClr val="00C2E0"/>
                </a:solidFill>
              </a:rPr>
              <a:t>Metric:</a:t>
            </a:r>
            <a:endParaRPr lang="en-US" sz="1000" dirty="0"/>
          </a:p>
        </p:txBody>
      </p:sp>
      <p:sp>
        <p:nvSpPr>
          <p:cNvPr id="21" name="Text 19"/>
          <p:cNvSpPr/>
          <p:nvPr/>
        </p:nvSpPr>
        <p:spPr>
          <a:xfrm>
            <a:off x="1508760" y="1874520"/>
            <a:ext cx="2743200" cy="402336"/>
          </a:xfrm>
          <a:prstGeom prst="rect">
            <a:avLst/>
          </a:prstGeom>
          <a:noFill/>
          <a:ln/>
        </p:spPr>
        <p:txBody>
          <a:bodyPr wrap="square" lIns="0" tIns="0" rIns="0" bIns="0" rtlCol="0" anchor="ctr"/>
          <a:lstStyle/>
          <a:p>
            <a:pPr marL="0" indent="0">
              <a:buNone/>
            </a:pPr>
            <a:r>
              <a:rPr lang="en-US" sz="1000" dirty="0">
                <a:solidFill>
                  <a:srgbClr val="E8EDF5"/>
                </a:solidFill>
              </a:rPr>
              <a:t>fuzz.partial_ratio — needle-in-haystack search</a:t>
            </a:r>
            <a:endParaRPr lang="en-US" sz="1000" dirty="0"/>
          </a:p>
        </p:txBody>
      </p:sp>
      <p:sp>
        <p:nvSpPr>
          <p:cNvPr id="22" name="Text 20"/>
          <p:cNvSpPr/>
          <p:nvPr/>
        </p:nvSpPr>
        <p:spPr>
          <a:xfrm>
            <a:off x="475488" y="2377440"/>
            <a:ext cx="1005840" cy="256032"/>
          </a:xfrm>
          <a:prstGeom prst="rect">
            <a:avLst/>
          </a:prstGeom>
          <a:noFill/>
          <a:ln/>
        </p:spPr>
        <p:txBody>
          <a:bodyPr wrap="square" lIns="0" tIns="0" rIns="0" bIns="0" rtlCol="0" anchor="ctr"/>
          <a:lstStyle/>
          <a:p>
            <a:pPr marL="0" indent="0">
              <a:buNone/>
            </a:pPr>
            <a:r>
              <a:rPr lang="en-US" sz="1000" b="1" dirty="0">
                <a:solidFill>
                  <a:srgbClr val="00C2E0"/>
                </a:solidFill>
              </a:rPr>
              <a:t>Threshold:</a:t>
            </a:r>
            <a:endParaRPr lang="en-US" sz="1000" dirty="0"/>
          </a:p>
        </p:txBody>
      </p:sp>
      <p:sp>
        <p:nvSpPr>
          <p:cNvPr id="23" name="Text 21"/>
          <p:cNvSpPr/>
          <p:nvPr/>
        </p:nvSpPr>
        <p:spPr>
          <a:xfrm>
            <a:off x="1508760" y="2377440"/>
            <a:ext cx="2743200" cy="402336"/>
          </a:xfrm>
          <a:prstGeom prst="rect">
            <a:avLst/>
          </a:prstGeom>
          <a:noFill/>
          <a:ln/>
        </p:spPr>
        <p:txBody>
          <a:bodyPr wrap="square" lIns="0" tIns="0" rIns="0" bIns="0" rtlCol="0" anchor="ctr"/>
          <a:lstStyle/>
          <a:p>
            <a:pPr marL="0" indent="0">
              <a:buNone/>
            </a:pPr>
            <a:r>
              <a:rPr lang="en-US" sz="1000" dirty="0">
                <a:solidFill>
                  <a:srgbClr val="E8EDF5"/>
                </a:solidFill>
              </a:rPr>
              <a:t>score ≥ 30 (presence-based — was the entity in the text at all?)</a:t>
            </a:r>
            <a:endParaRPr lang="en-US" sz="1000" dirty="0"/>
          </a:p>
        </p:txBody>
      </p:sp>
      <p:sp>
        <p:nvSpPr>
          <p:cNvPr id="24" name="Text 22"/>
          <p:cNvSpPr/>
          <p:nvPr/>
        </p:nvSpPr>
        <p:spPr>
          <a:xfrm>
            <a:off x="475488" y="2880360"/>
            <a:ext cx="1005840" cy="256032"/>
          </a:xfrm>
          <a:prstGeom prst="rect">
            <a:avLst/>
          </a:prstGeom>
          <a:noFill/>
          <a:ln/>
        </p:spPr>
        <p:txBody>
          <a:bodyPr wrap="square" lIns="0" tIns="0" rIns="0" bIns="0" rtlCol="0" anchor="ctr"/>
          <a:lstStyle/>
          <a:p>
            <a:pPr marL="0" indent="0">
              <a:buNone/>
            </a:pPr>
            <a:r>
              <a:rPr lang="en-US" sz="1000" b="1" dirty="0">
                <a:solidFill>
                  <a:srgbClr val="00C2E0"/>
                </a:solidFill>
              </a:rPr>
              <a:t>Why partial_ratio:</a:t>
            </a:r>
            <a:endParaRPr lang="en-US" sz="1000" dirty="0"/>
          </a:p>
        </p:txBody>
      </p:sp>
      <p:sp>
        <p:nvSpPr>
          <p:cNvPr id="25" name="Text 23"/>
          <p:cNvSpPr/>
          <p:nvPr/>
        </p:nvSpPr>
        <p:spPr>
          <a:xfrm>
            <a:off x="1508760" y="2880360"/>
            <a:ext cx="2743200" cy="402336"/>
          </a:xfrm>
          <a:prstGeom prst="rect">
            <a:avLst/>
          </a:prstGeom>
          <a:noFill/>
          <a:ln/>
        </p:spPr>
        <p:txBody>
          <a:bodyPr wrap="square" lIns="0" tIns="0" rIns="0" bIns="0" rtlCol="0" anchor="ctr"/>
          <a:lstStyle/>
          <a:p>
            <a:pPr marL="0" indent="0">
              <a:buNone/>
            </a:pPr>
            <a:r>
              <a:rPr lang="en-US" sz="1000" dirty="0">
                <a:solidFill>
                  <a:srgbClr val="E8EDF5"/>
                </a:solidFill>
              </a:rPr>
              <a:t>Appropriate for finding a short entity within a long, noisy text blob</a:t>
            </a:r>
            <a:endParaRPr lang="en-US" sz="1000" dirty="0"/>
          </a:p>
        </p:txBody>
      </p:sp>
      <p:sp>
        <p:nvSpPr>
          <p:cNvPr id="26" name="Shape 24"/>
          <p:cNvSpPr/>
          <p:nvPr/>
        </p:nvSpPr>
        <p:spPr>
          <a:xfrm>
            <a:off x="4709160" y="914400"/>
            <a:ext cx="4160520" cy="3200400"/>
          </a:xfrm>
          <a:prstGeom prst="rect">
            <a:avLst/>
          </a:prstGeom>
          <a:solidFill>
            <a:srgbClr val="111838"/>
          </a:solidFill>
          <a:ln w="12700">
            <a:solidFill>
              <a:srgbClr val="1E2A5A"/>
            </a:solidFill>
            <a:prstDash val="solid"/>
          </a:ln>
        </p:spPr>
        <p:txBody>
          <a:bodyPr/>
          <a:lstStyle/>
          <a:p>
            <a:endParaRPr lang="en-US"/>
          </a:p>
        </p:txBody>
      </p:sp>
      <p:sp>
        <p:nvSpPr>
          <p:cNvPr id="27" name="Shape 25"/>
          <p:cNvSpPr/>
          <p:nvPr/>
        </p:nvSpPr>
        <p:spPr>
          <a:xfrm>
            <a:off x="4709160" y="914400"/>
            <a:ext cx="54864" cy="3200400"/>
          </a:xfrm>
          <a:prstGeom prst="rect">
            <a:avLst/>
          </a:prstGeom>
          <a:solidFill>
            <a:srgbClr val="7C3AED"/>
          </a:solidFill>
          <a:ln w="12700">
            <a:solidFill>
              <a:srgbClr val="7C3AED"/>
            </a:solidFill>
            <a:prstDash val="solid"/>
          </a:ln>
        </p:spPr>
        <p:txBody>
          <a:bodyPr/>
          <a:lstStyle/>
          <a:p>
            <a:endParaRPr lang="en-US"/>
          </a:p>
        </p:txBody>
      </p:sp>
      <p:sp>
        <p:nvSpPr>
          <p:cNvPr id="28" name="Shape 26"/>
          <p:cNvSpPr/>
          <p:nvPr/>
        </p:nvSpPr>
        <p:spPr>
          <a:xfrm>
            <a:off x="4709160" y="914400"/>
            <a:ext cx="4160520" cy="384048"/>
          </a:xfrm>
          <a:prstGeom prst="rect">
            <a:avLst/>
          </a:prstGeom>
          <a:solidFill>
            <a:srgbClr val="7C3AED">
              <a:alpha val="25000"/>
            </a:srgbClr>
          </a:solidFill>
          <a:ln w="12700">
            <a:solidFill>
              <a:srgbClr val="7C3AED"/>
            </a:solidFill>
            <a:prstDash val="solid"/>
          </a:ln>
        </p:spPr>
        <p:txBody>
          <a:bodyPr/>
          <a:lstStyle/>
          <a:p>
            <a:endParaRPr lang="en-US"/>
          </a:p>
        </p:txBody>
      </p:sp>
      <p:sp>
        <p:nvSpPr>
          <p:cNvPr id="29" name="Text 27"/>
          <p:cNvSpPr/>
          <p:nvPr/>
        </p:nvSpPr>
        <p:spPr>
          <a:xfrm>
            <a:off x="4910328" y="914400"/>
            <a:ext cx="3840480" cy="384048"/>
          </a:xfrm>
          <a:prstGeom prst="rect">
            <a:avLst/>
          </a:prstGeom>
          <a:noFill/>
          <a:ln/>
        </p:spPr>
        <p:txBody>
          <a:bodyPr wrap="square" lIns="0" tIns="0" rIns="0" bIns="0" rtlCol="0" anchor="ctr"/>
          <a:lstStyle/>
          <a:p>
            <a:pPr marL="0" indent="0">
              <a:buNone/>
            </a:pPr>
            <a:r>
              <a:rPr lang="en-US" sz="1200" b="1" dirty="0">
                <a:solidFill>
                  <a:srgbClr val="FFFFFF"/>
                </a:solidFill>
              </a:rPr>
              <a:t>TABLE 2 — Extraction Quality  (Tiers 3, 4 &amp; 5)</a:t>
            </a:r>
            <a:endParaRPr lang="en-US" sz="1200" dirty="0"/>
          </a:p>
        </p:txBody>
      </p:sp>
      <p:sp>
        <p:nvSpPr>
          <p:cNvPr id="30" name="Text 28"/>
          <p:cNvSpPr/>
          <p:nvPr/>
        </p:nvSpPr>
        <p:spPr>
          <a:xfrm>
            <a:off x="4910328" y="1371600"/>
            <a:ext cx="1005840" cy="256032"/>
          </a:xfrm>
          <a:prstGeom prst="rect">
            <a:avLst/>
          </a:prstGeom>
          <a:noFill/>
          <a:ln/>
        </p:spPr>
        <p:txBody>
          <a:bodyPr wrap="square" lIns="0" tIns="0" rIns="0" bIns="0" rtlCol="0" anchor="ctr"/>
          <a:lstStyle/>
          <a:p>
            <a:pPr marL="0" indent="0">
              <a:buNone/>
            </a:pPr>
            <a:r>
              <a:rPr lang="en-US" sz="1000" b="1" dirty="0">
                <a:solidFill>
                  <a:srgbClr val="9B59D6"/>
                </a:solidFill>
              </a:rPr>
              <a:t>What:</a:t>
            </a:r>
            <a:endParaRPr lang="en-US" sz="1000" dirty="0"/>
          </a:p>
        </p:txBody>
      </p:sp>
      <p:sp>
        <p:nvSpPr>
          <p:cNvPr id="31" name="Text 29"/>
          <p:cNvSpPr/>
          <p:nvPr/>
        </p:nvSpPr>
        <p:spPr>
          <a:xfrm>
            <a:off x="5943600" y="1371600"/>
            <a:ext cx="2743200" cy="402336"/>
          </a:xfrm>
          <a:prstGeom prst="rect">
            <a:avLst/>
          </a:prstGeom>
          <a:noFill/>
          <a:ln/>
        </p:spPr>
        <p:txBody>
          <a:bodyPr wrap="square" lIns="0" tIns="0" rIns="0" bIns="0" rtlCol="0" anchor="ctr"/>
          <a:lstStyle/>
          <a:p>
            <a:pPr marL="0" indent="0">
              <a:buNone/>
            </a:pPr>
            <a:r>
              <a:rPr lang="en-US" sz="1000" dirty="0">
                <a:solidFill>
                  <a:srgbClr val="E8EDF5"/>
                </a:solidFill>
              </a:rPr>
              <a:t>Structured field accuracy — how close is the extracted field to ground truth?</a:t>
            </a:r>
            <a:endParaRPr lang="en-US" sz="1000" dirty="0"/>
          </a:p>
        </p:txBody>
      </p:sp>
      <p:sp>
        <p:nvSpPr>
          <p:cNvPr id="32" name="Text 30"/>
          <p:cNvSpPr/>
          <p:nvPr/>
        </p:nvSpPr>
        <p:spPr>
          <a:xfrm>
            <a:off x="4910328" y="1874520"/>
            <a:ext cx="1005840" cy="256032"/>
          </a:xfrm>
          <a:prstGeom prst="rect">
            <a:avLst/>
          </a:prstGeom>
          <a:noFill/>
          <a:ln/>
        </p:spPr>
        <p:txBody>
          <a:bodyPr wrap="square" lIns="0" tIns="0" rIns="0" bIns="0" rtlCol="0" anchor="ctr"/>
          <a:lstStyle/>
          <a:p>
            <a:pPr marL="0" indent="0">
              <a:buNone/>
            </a:pPr>
            <a:r>
              <a:rPr lang="en-US" sz="1000" b="1" dirty="0">
                <a:solidFill>
                  <a:srgbClr val="9B59D6"/>
                </a:solidFill>
              </a:rPr>
              <a:t>Metric:</a:t>
            </a:r>
            <a:endParaRPr lang="en-US" sz="1000" dirty="0"/>
          </a:p>
        </p:txBody>
      </p:sp>
      <p:sp>
        <p:nvSpPr>
          <p:cNvPr id="33" name="Text 31"/>
          <p:cNvSpPr/>
          <p:nvPr/>
        </p:nvSpPr>
        <p:spPr>
          <a:xfrm>
            <a:off x="5943600" y="1874520"/>
            <a:ext cx="2743200" cy="402336"/>
          </a:xfrm>
          <a:prstGeom prst="rect">
            <a:avLst/>
          </a:prstGeom>
          <a:noFill/>
          <a:ln/>
        </p:spPr>
        <p:txBody>
          <a:bodyPr wrap="square" lIns="0" tIns="0" rIns="0" bIns="0" rtlCol="0" anchor="ctr"/>
          <a:lstStyle/>
          <a:p>
            <a:pPr marL="0" indent="0">
              <a:buNone/>
            </a:pPr>
            <a:r>
              <a:rPr lang="en-US" sz="1000" dirty="0">
                <a:solidFill>
                  <a:srgbClr val="E8EDF5"/>
                </a:solidFill>
              </a:rPr>
              <a:t>fuzz.token_sort_ratio — order-insensitive comparison</a:t>
            </a:r>
            <a:endParaRPr lang="en-US" sz="1000" dirty="0"/>
          </a:p>
        </p:txBody>
      </p:sp>
      <p:sp>
        <p:nvSpPr>
          <p:cNvPr id="34" name="Text 32"/>
          <p:cNvSpPr/>
          <p:nvPr/>
        </p:nvSpPr>
        <p:spPr>
          <a:xfrm>
            <a:off x="4910328" y="2377440"/>
            <a:ext cx="1005840" cy="256032"/>
          </a:xfrm>
          <a:prstGeom prst="rect">
            <a:avLst/>
          </a:prstGeom>
          <a:noFill/>
          <a:ln/>
        </p:spPr>
        <p:txBody>
          <a:bodyPr wrap="square" lIns="0" tIns="0" rIns="0" bIns="0" rtlCol="0" anchor="ctr"/>
          <a:lstStyle/>
          <a:p>
            <a:pPr marL="0" indent="0">
              <a:buNone/>
            </a:pPr>
            <a:r>
              <a:rPr lang="en-US" sz="1000" b="1" dirty="0">
                <a:solidFill>
                  <a:srgbClr val="9B59D6"/>
                </a:solidFill>
              </a:rPr>
              <a:t>Threshold:</a:t>
            </a:r>
            <a:endParaRPr lang="en-US" sz="1000" dirty="0"/>
          </a:p>
        </p:txBody>
      </p:sp>
      <p:sp>
        <p:nvSpPr>
          <p:cNvPr id="35" name="Text 33"/>
          <p:cNvSpPr/>
          <p:nvPr/>
        </p:nvSpPr>
        <p:spPr>
          <a:xfrm>
            <a:off x="5943600" y="2377440"/>
            <a:ext cx="2743200" cy="402336"/>
          </a:xfrm>
          <a:prstGeom prst="rect">
            <a:avLst/>
          </a:prstGeom>
          <a:noFill/>
          <a:ln/>
        </p:spPr>
        <p:txBody>
          <a:bodyPr wrap="square" lIns="0" tIns="0" rIns="0" bIns="0" rtlCol="0" anchor="ctr"/>
          <a:lstStyle/>
          <a:p>
            <a:pPr marL="0" indent="0">
              <a:buNone/>
            </a:pPr>
            <a:r>
              <a:rPr lang="en-US" sz="1000" dirty="0">
                <a:solidFill>
                  <a:srgbClr val="E8EDF5"/>
                </a:solidFill>
              </a:rPr>
              <a:t>pred is not None (structural — did the LLM return a value at all?)</a:t>
            </a:r>
            <a:endParaRPr lang="en-US" sz="1000" dirty="0"/>
          </a:p>
        </p:txBody>
      </p:sp>
      <p:sp>
        <p:nvSpPr>
          <p:cNvPr id="36" name="Text 34"/>
          <p:cNvSpPr/>
          <p:nvPr/>
        </p:nvSpPr>
        <p:spPr>
          <a:xfrm>
            <a:off x="4910328" y="2880360"/>
            <a:ext cx="1005840" cy="256032"/>
          </a:xfrm>
          <a:prstGeom prst="rect">
            <a:avLst/>
          </a:prstGeom>
          <a:noFill/>
          <a:ln/>
        </p:spPr>
        <p:txBody>
          <a:bodyPr wrap="square" lIns="0" tIns="0" rIns="0" bIns="0" rtlCol="0" anchor="ctr"/>
          <a:lstStyle/>
          <a:p>
            <a:pPr marL="0" indent="0">
              <a:buNone/>
            </a:pPr>
            <a:r>
              <a:rPr lang="en-US" sz="1000" b="1" dirty="0">
                <a:solidFill>
                  <a:srgbClr val="9B59D6"/>
                </a:solidFill>
              </a:rPr>
              <a:t>Why token_sort_ratio:</a:t>
            </a:r>
            <a:endParaRPr lang="en-US" sz="1000" dirty="0"/>
          </a:p>
        </p:txBody>
      </p:sp>
      <p:sp>
        <p:nvSpPr>
          <p:cNvPr id="37" name="Text 35"/>
          <p:cNvSpPr/>
          <p:nvPr/>
        </p:nvSpPr>
        <p:spPr>
          <a:xfrm>
            <a:off x="5943600" y="2880360"/>
            <a:ext cx="2743200" cy="402336"/>
          </a:xfrm>
          <a:prstGeom prst="rect">
            <a:avLst/>
          </a:prstGeom>
          <a:noFill/>
          <a:ln/>
        </p:spPr>
        <p:txBody>
          <a:bodyPr wrap="square" lIns="0" tIns="0" rIns="0" bIns="0" rtlCol="0" anchor="ctr"/>
          <a:lstStyle/>
          <a:p>
            <a:pPr marL="0" indent="0">
              <a:buNone/>
            </a:pPr>
            <a:r>
              <a:rPr lang="en-US" sz="1000" dirty="0">
                <a:solidFill>
                  <a:srgbClr val="E8EDF5"/>
                </a:solidFill>
              </a:rPr>
              <a:t>Handles word order variation in addresses and multi-word company names</a:t>
            </a:r>
            <a:endParaRPr lang="en-US" sz="1000" dirty="0"/>
          </a:p>
        </p:txBody>
      </p:sp>
      <p:sp>
        <p:nvSpPr>
          <p:cNvPr id="38" name="Shape 36"/>
          <p:cNvSpPr/>
          <p:nvPr/>
        </p:nvSpPr>
        <p:spPr>
          <a:xfrm>
            <a:off x="274320" y="4224528"/>
            <a:ext cx="8595360" cy="594360"/>
          </a:xfrm>
          <a:prstGeom prst="rect">
            <a:avLst/>
          </a:prstGeom>
          <a:solidFill>
            <a:srgbClr val="161E45"/>
          </a:solidFill>
          <a:ln w="12700">
            <a:solidFill>
              <a:srgbClr val="1E2A5A"/>
            </a:solidFill>
            <a:prstDash val="solid"/>
          </a:ln>
        </p:spPr>
        <p:txBody>
          <a:bodyPr/>
          <a:lstStyle/>
          <a:p>
            <a:endParaRPr lang="en-US"/>
          </a:p>
        </p:txBody>
      </p:sp>
      <p:sp>
        <p:nvSpPr>
          <p:cNvPr id="39" name="Shape 37"/>
          <p:cNvSpPr/>
          <p:nvPr/>
        </p:nvSpPr>
        <p:spPr>
          <a:xfrm>
            <a:off x="274320" y="4224528"/>
            <a:ext cx="54864" cy="594360"/>
          </a:xfrm>
          <a:prstGeom prst="rect">
            <a:avLst/>
          </a:prstGeom>
          <a:solidFill>
            <a:srgbClr val="F59E0B"/>
          </a:solidFill>
          <a:ln w="12700">
            <a:solidFill>
              <a:srgbClr val="F59E0B"/>
            </a:solidFill>
            <a:prstDash val="solid"/>
          </a:ln>
        </p:spPr>
        <p:txBody>
          <a:bodyPr/>
          <a:lstStyle/>
          <a:p>
            <a:endParaRPr lang="en-US"/>
          </a:p>
        </p:txBody>
      </p:sp>
      <p:sp>
        <p:nvSpPr>
          <p:cNvPr id="40" name="Text 38"/>
          <p:cNvSpPr/>
          <p:nvPr/>
        </p:nvSpPr>
        <p:spPr>
          <a:xfrm>
            <a:off x="475488" y="4279392"/>
            <a:ext cx="1371600" cy="219456"/>
          </a:xfrm>
          <a:prstGeom prst="rect">
            <a:avLst/>
          </a:prstGeom>
          <a:noFill/>
          <a:ln/>
        </p:spPr>
        <p:txBody>
          <a:bodyPr wrap="square" lIns="0" tIns="0" rIns="0" bIns="0" rtlCol="0" anchor="ctr"/>
          <a:lstStyle/>
          <a:p>
            <a:pPr marL="0" indent="0">
              <a:buNone/>
            </a:pPr>
            <a:r>
              <a:rPr lang="en-US" sz="1000" b="1" dirty="0">
                <a:solidFill>
                  <a:srgbClr val="F59E0B"/>
                </a:solidFill>
              </a:rPr>
              <a:t>Critical Distinction:</a:t>
            </a:r>
            <a:endParaRPr lang="en-US" sz="1000" dirty="0"/>
          </a:p>
        </p:txBody>
      </p:sp>
      <p:sp>
        <p:nvSpPr>
          <p:cNvPr id="41" name="Text 39"/>
          <p:cNvSpPr/>
          <p:nvPr/>
        </p:nvSpPr>
        <p:spPr>
          <a:xfrm>
            <a:off x="1920240" y="4279392"/>
            <a:ext cx="6858000" cy="475488"/>
          </a:xfrm>
          <a:prstGeom prst="rect">
            <a:avLst/>
          </a:prstGeom>
          <a:noFill/>
          <a:ln/>
        </p:spPr>
        <p:txBody>
          <a:bodyPr wrap="square" lIns="0" tIns="0" rIns="0" bIns="0" rtlCol="0" anchor="ctr"/>
          <a:lstStyle/>
          <a:p>
            <a:pPr marL="0" indent="0">
              <a:buNone/>
            </a:pPr>
            <a:r>
              <a:rPr lang="en-US" sz="1000" dirty="0">
                <a:solidFill>
                  <a:srgbClr val="E8EDF5"/>
                </a:solidFill>
              </a:rPr>
              <a:t>T1/T2 'extracted' = presence-based (score ≥ 30)  ·  T3/T4/T5 'extracted' = structural (pred is not None)  — These are intentional differences measuring different pipeline stages, not the same thing on different tiers.</a:t>
            </a:r>
            <a:endParaRPr lang="en-US" sz="1000" dirty="0"/>
          </a:p>
        </p:txBody>
      </p:sp>
      <p:sp>
        <p:nvSpPr>
          <p:cNvPr id="7" name="Text 12">
            <a:extLst>
              <a:ext uri="{FF2B5EF4-FFF2-40B4-BE49-F238E27FC236}">
                <a16:creationId xmlns:a16="http://schemas.microsoft.com/office/drawing/2014/main" id="{7ED69534-5F19-5A3D-8DA6-555DC2ECE031}"/>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Evaluation Results — SROIE V2 Combined (973 Receipts)</a:t>
            </a:r>
            <a:endParaRPr lang="en-US" sz="1700" dirty="0"/>
          </a:p>
        </p:txBody>
      </p:sp>
      <p:sp>
        <p:nvSpPr>
          <p:cNvPr id="5" name="Shape 3"/>
          <p:cNvSpPr/>
          <p:nvPr/>
        </p:nvSpPr>
        <p:spPr>
          <a:xfrm>
            <a:off x="6720840" y="109728"/>
            <a:ext cx="1234440" cy="274320"/>
          </a:xfrm>
          <a:prstGeom prst="rect">
            <a:avLst/>
          </a:prstGeom>
          <a:solidFill>
            <a:srgbClr val="7C3AED">
              <a:alpha val="22000"/>
            </a:srgbClr>
          </a:solidFill>
          <a:ln w="12700">
            <a:solidFill>
              <a:srgbClr val="7C3AED"/>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2</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00C2E0"/>
          </a:solidFill>
          <a:ln w="12700">
            <a:solidFill>
              <a:srgbClr val="00C2E0"/>
            </a:solidFill>
            <a:prstDash val="solid"/>
          </a:ln>
        </p:spPr>
        <p:txBody>
          <a:bodyPr/>
          <a:lstStyle/>
          <a:p>
            <a:endParaRPr lang="en-US"/>
          </a:p>
        </p:txBody>
      </p:sp>
      <p:sp>
        <p:nvSpPr>
          <p:cNvPr id="13" name="Text 11"/>
          <p:cNvSpPr/>
          <p:nvPr/>
        </p:nvSpPr>
        <p:spPr>
          <a:xfrm>
            <a:off x="402336" y="594360"/>
            <a:ext cx="3657600" cy="256032"/>
          </a:xfrm>
          <a:prstGeom prst="rect">
            <a:avLst/>
          </a:prstGeom>
          <a:noFill/>
          <a:ln/>
        </p:spPr>
        <p:txBody>
          <a:bodyPr wrap="square" lIns="0" tIns="0" rIns="0" bIns="0" rtlCol="0" anchor="ctr"/>
          <a:lstStyle/>
          <a:p>
            <a:pPr marL="0" indent="0">
              <a:buNone/>
            </a:pPr>
            <a:r>
              <a:rPr lang="en-US" sz="1400" b="1" dirty="0">
                <a:solidFill>
                  <a:srgbClr val="00C2E0"/>
                </a:solidFill>
                <a:latin typeface="Trebuchet MS" pitchFamily="34" charset="0"/>
                <a:ea typeface="Trebuchet MS" pitchFamily="34" charset="-122"/>
                <a:cs typeface="Trebuchet MS" pitchFamily="34" charset="-120"/>
              </a:rPr>
              <a:t>OCR QUALITY  —  Tiers 1 &amp; 2</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2729012400"/>
              </p:ext>
            </p:extLst>
          </p:nvPr>
        </p:nvGraphicFramePr>
        <p:xfrm>
          <a:off x="274320" y="868680"/>
          <a:ext cx="8595360" cy="1371600"/>
        </p:xfrm>
        <a:graphic>
          <a:graphicData uri="http://schemas.openxmlformats.org/drawingml/2006/table">
            <a:tbl>
              <a:tblPr/>
              <a:tblGrid>
                <a:gridCol w="12801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FFFFFF"/>
                          </a:solidFill>
                        </a:rPr>
                        <a:t>Field</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8A99C0"/>
                          </a:solidFill>
                        </a:rPr>
                        <a:t>T1 Extracted</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8A99C0"/>
                          </a:solidFill>
                        </a:rPr>
                        <a:t>T1 Score</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00C2E0"/>
                          </a:solidFill>
                        </a:rPr>
                        <a:t>T2 Extracted</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00C2E0"/>
                          </a:solidFill>
                        </a:rPr>
                        <a:t>T2 Score</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extLst>
                  <a:ext uri="{0D108BD9-81ED-4DB2-BD59-A6C34878D82A}">
                    <a16:rowId xmlns:a16="http://schemas.microsoft.com/office/drawing/2014/main" val="10000"/>
                  </a:ext>
                </a:extLst>
              </a:tr>
              <a:tr h="0">
                <a:tc>
                  <a:txBody>
                    <a:bodyPr/>
                    <a:lstStyle/>
                    <a:p>
                      <a:pPr marL="0" indent="0" algn="l">
                        <a:buNone/>
                      </a:pPr>
                      <a:r>
                        <a:rPr lang="en-US" sz="1000" dirty="0">
                          <a:solidFill>
                            <a:srgbClr val="E8EDF5"/>
                          </a:solidFill>
                        </a:rPr>
                        <a:t>company</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100.0%</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88.7</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00C2E0"/>
                          </a:solidFill>
                        </a:rPr>
                        <a:t>99.3%</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00C2E0"/>
                          </a:solidFill>
                        </a:rPr>
                        <a:t>98.7</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1"/>
                  </a:ext>
                </a:extLst>
              </a:tr>
              <a:tr h="0">
                <a:tc>
                  <a:txBody>
                    <a:bodyPr/>
                    <a:lstStyle/>
                    <a:p>
                      <a:pPr marL="0" indent="0" algn="l">
                        <a:buNone/>
                      </a:pPr>
                      <a:r>
                        <a:rPr lang="en-US" sz="1000" dirty="0">
                          <a:solidFill>
                            <a:srgbClr val="E8EDF5"/>
                          </a:solidFill>
                        </a:rPr>
                        <a:t>date</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100.0%</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95.1</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00C2E0"/>
                          </a:solidFill>
                        </a:rPr>
                        <a:t>99.4%</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00C2E0"/>
                          </a:solidFill>
                        </a:rPr>
                        <a:t>98.6</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2"/>
                  </a:ext>
                </a:extLst>
              </a:tr>
              <a:tr h="0">
                <a:tc>
                  <a:txBody>
                    <a:bodyPr/>
                    <a:lstStyle/>
                    <a:p>
                      <a:pPr marL="0" indent="0" algn="l">
                        <a:buNone/>
                      </a:pPr>
                      <a:r>
                        <a:rPr lang="en-US" sz="1000" dirty="0">
                          <a:solidFill>
                            <a:srgbClr val="E8EDF5"/>
                          </a:solidFill>
                        </a:rPr>
                        <a:t>address</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99.9%</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84.6</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00C2E0"/>
                          </a:solidFill>
                        </a:rPr>
                        <a:t>99.3%</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00C2E0"/>
                          </a:solidFill>
                        </a:rPr>
                        <a:t>95.9</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3"/>
                  </a:ext>
                </a:extLst>
              </a:tr>
              <a:tr h="0">
                <a:tc>
                  <a:txBody>
                    <a:bodyPr/>
                    <a:lstStyle/>
                    <a:p>
                      <a:pPr marL="0" indent="0" algn="l">
                        <a:buNone/>
                      </a:pPr>
                      <a:r>
                        <a:rPr lang="en-US" sz="1000" dirty="0">
                          <a:solidFill>
                            <a:srgbClr val="E8EDF5"/>
                          </a:solidFill>
                        </a:rPr>
                        <a:t>total</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99.9%</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89.5</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00C2E0"/>
                          </a:solidFill>
                        </a:rPr>
                        <a:t>99.1%</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00C2E0"/>
                          </a:solidFill>
                        </a:rPr>
                        <a:t>98.6</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4"/>
                  </a:ext>
                </a:extLst>
              </a:tr>
              <a:tr h="0">
                <a:tc>
                  <a:txBody>
                    <a:bodyPr/>
                    <a:lstStyle/>
                    <a:p>
                      <a:pPr marL="0" indent="0" algn="l">
                        <a:buNone/>
                      </a:pPr>
                      <a:r>
                        <a:rPr lang="en-US" sz="1000" b="1" dirty="0">
                          <a:solidFill>
                            <a:srgbClr val="E8EDF5"/>
                          </a:solidFill>
                        </a:rPr>
                        <a:t>overall</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8A99C0"/>
                          </a:solidFill>
                        </a:rPr>
                        <a:t>99.9%</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8A99C0"/>
                          </a:solidFill>
                        </a:rPr>
                        <a:t>89.5</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00C2E0"/>
                          </a:solidFill>
                        </a:rPr>
                        <a:t>99.3%</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00C2E0"/>
                          </a:solidFill>
                        </a:rPr>
                        <a:t>97.9</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extLst>
                  <a:ext uri="{0D108BD9-81ED-4DB2-BD59-A6C34878D82A}">
                    <a16:rowId xmlns:a16="http://schemas.microsoft.com/office/drawing/2014/main" val="10005"/>
                  </a:ext>
                </a:extLst>
              </a:tr>
            </a:tbl>
          </a:graphicData>
        </a:graphic>
      </p:graphicFrame>
      <p:sp>
        <p:nvSpPr>
          <p:cNvPr id="15" name="Shape 12"/>
          <p:cNvSpPr/>
          <p:nvPr/>
        </p:nvSpPr>
        <p:spPr>
          <a:xfrm>
            <a:off x="274320" y="2670048"/>
            <a:ext cx="54864" cy="256032"/>
          </a:xfrm>
          <a:prstGeom prst="rect">
            <a:avLst/>
          </a:prstGeom>
          <a:solidFill>
            <a:srgbClr val="7C3AED"/>
          </a:solidFill>
          <a:ln w="12700">
            <a:solidFill>
              <a:srgbClr val="7C3AED"/>
            </a:solidFill>
            <a:prstDash val="solid"/>
          </a:ln>
        </p:spPr>
        <p:txBody>
          <a:bodyPr/>
          <a:lstStyle/>
          <a:p>
            <a:endParaRPr lang="en-US"/>
          </a:p>
        </p:txBody>
      </p:sp>
      <p:sp>
        <p:nvSpPr>
          <p:cNvPr id="16" name="Text 13"/>
          <p:cNvSpPr/>
          <p:nvPr/>
        </p:nvSpPr>
        <p:spPr>
          <a:xfrm>
            <a:off x="402336" y="2670048"/>
            <a:ext cx="3657600" cy="256032"/>
          </a:xfrm>
          <a:prstGeom prst="rect">
            <a:avLst/>
          </a:prstGeom>
          <a:noFill/>
          <a:ln/>
        </p:spPr>
        <p:txBody>
          <a:bodyPr wrap="square" lIns="0" tIns="0" rIns="0" bIns="0" rtlCol="0" anchor="ctr"/>
          <a:lstStyle/>
          <a:p>
            <a:pPr marL="0" indent="0">
              <a:buNone/>
            </a:pPr>
            <a:r>
              <a:rPr lang="en-US" sz="1400" b="1" dirty="0">
                <a:solidFill>
                  <a:srgbClr val="7C3AED"/>
                </a:solidFill>
                <a:latin typeface="Trebuchet MS" pitchFamily="34" charset="0"/>
                <a:ea typeface="Trebuchet MS" pitchFamily="34" charset="-122"/>
                <a:cs typeface="Trebuchet MS" pitchFamily="34" charset="-120"/>
              </a:rPr>
              <a:t>EXTRACTION QUALITY  —  Tiers 3, 4 &amp; 5</a:t>
            </a:r>
            <a:endParaRPr lang="en-US" sz="1400" dirty="0"/>
          </a:p>
        </p:txBody>
      </p:sp>
      <p:graphicFrame>
        <p:nvGraphicFramePr>
          <p:cNvPr id="37" name="Table 1"/>
          <p:cNvGraphicFramePr>
            <a:graphicFrameLocks noGrp="1"/>
          </p:cNvGraphicFramePr>
          <p:nvPr>
            <p:extLst>
              <p:ext uri="{D42A27DB-BD31-4B8C-83A1-F6EECF244321}">
                <p14:modId xmlns:p14="http://schemas.microsoft.com/office/powerpoint/2010/main" val="3038506360"/>
              </p:ext>
            </p:extLst>
          </p:nvPr>
        </p:nvGraphicFramePr>
        <p:xfrm>
          <a:off x="274320" y="2944368"/>
          <a:ext cx="8595361" cy="1371600"/>
        </p:xfrm>
        <a:graphic>
          <a:graphicData uri="http://schemas.openxmlformats.org/drawingml/2006/table">
            <a:tbl>
              <a:tblPr/>
              <a:tblGrid>
                <a:gridCol w="1125583">
                  <a:extLst>
                    <a:ext uri="{9D8B030D-6E8A-4147-A177-3AD203B41FA5}">
                      <a16:colId xmlns:a16="http://schemas.microsoft.com/office/drawing/2014/main" val="20000"/>
                    </a:ext>
                  </a:extLst>
                </a:gridCol>
                <a:gridCol w="1227909">
                  <a:extLst>
                    <a:ext uri="{9D8B030D-6E8A-4147-A177-3AD203B41FA5}">
                      <a16:colId xmlns:a16="http://schemas.microsoft.com/office/drawing/2014/main" val="20001"/>
                    </a:ext>
                  </a:extLst>
                </a:gridCol>
                <a:gridCol w="1279071">
                  <a:extLst>
                    <a:ext uri="{9D8B030D-6E8A-4147-A177-3AD203B41FA5}">
                      <a16:colId xmlns:a16="http://schemas.microsoft.com/office/drawing/2014/main" val="20002"/>
                    </a:ext>
                  </a:extLst>
                </a:gridCol>
                <a:gridCol w="1227909">
                  <a:extLst>
                    <a:ext uri="{9D8B030D-6E8A-4147-A177-3AD203B41FA5}">
                      <a16:colId xmlns:a16="http://schemas.microsoft.com/office/drawing/2014/main" val="20003"/>
                    </a:ext>
                  </a:extLst>
                </a:gridCol>
                <a:gridCol w="1279071">
                  <a:extLst>
                    <a:ext uri="{9D8B030D-6E8A-4147-A177-3AD203B41FA5}">
                      <a16:colId xmlns:a16="http://schemas.microsoft.com/office/drawing/2014/main" val="20004"/>
                    </a:ext>
                  </a:extLst>
                </a:gridCol>
                <a:gridCol w="1227909">
                  <a:extLst>
                    <a:ext uri="{9D8B030D-6E8A-4147-A177-3AD203B41FA5}">
                      <a16:colId xmlns:a16="http://schemas.microsoft.com/office/drawing/2014/main" val="20005"/>
                    </a:ext>
                  </a:extLst>
                </a:gridCol>
                <a:gridCol w="1227909">
                  <a:extLst>
                    <a:ext uri="{9D8B030D-6E8A-4147-A177-3AD203B41FA5}">
                      <a16:colId xmlns:a16="http://schemas.microsoft.com/office/drawing/2014/main" val="20006"/>
                    </a:ext>
                  </a:extLst>
                </a:gridCol>
              </a:tblGrid>
              <a:tr h="0">
                <a:tc>
                  <a:txBody>
                    <a:bodyPr/>
                    <a:lstStyle/>
                    <a:p>
                      <a:pPr marL="0" indent="0">
                        <a:buNone/>
                      </a:pPr>
                      <a:r>
                        <a:rPr lang="en-US" sz="1000" b="1" dirty="0">
                          <a:solidFill>
                            <a:srgbClr val="FFFFFF"/>
                          </a:solidFill>
                        </a:rPr>
                        <a:t>Field</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8A99C0"/>
                          </a:solidFill>
                        </a:rPr>
                        <a:t>T3 Extracted</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8A99C0"/>
                          </a:solidFill>
                        </a:rPr>
                        <a:t>T3 Score</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9B59D6"/>
                          </a:solidFill>
                        </a:rPr>
                        <a:t>T4 Extracted</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9B59D6"/>
                          </a:solidFill>
                        </a:rPr>
                        <a:t>T4 Score</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10B981"/>
                          </a:solidFill>
                        </a:rPr>
                        <a:t>T5 Extracted</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10B981"/>
                          </a:solidFill>
                        </a:rPr>
                        <a:t>T5 Score</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extLst>
                  <a:ext uri="{0D108BD9-81ED-4DB2-BD59-A6C34878D82A}">
                    <a16:rowId xmlns:a16="http://schemas.microsoft.com/office/drawing/2014/main" val="10000"/>
                  </a:ext>
                </a:extLst>
              </a:tr>
              <a:tr h="0">
                <a:tc>
                  <a:txBody>
                    <a:bodyPr/>
                    <a:lstStyle/>
                    <a:p>
                      <a:pPr marL="0" indent="0" algn="l">
                        <a:buNone/>
                      </a:pPr>
                      <a:r>
                        <a:rPr lang="en-US" sz="1000" dirty="0">
                          <a:solidFill>
                            <a:srgbClr val="E8EDF5"/>
                          </a:solidFill>
                        </a:rPr>
                        <a:t>company</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97.6%</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85.4</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9B59D6"/>
                          </a:solidFill>
                        </a:rPr>
                        <a:t>99.3%</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9B59D6"/>
                          </a:solidFill>
                        </a:rPr>
                        <a:t>92.9</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10B981"/>
                          </a:solidFill>
                        </a:rPr>
                        <a:t>100.0%</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10B981"/>
                          </a:solidFill>
                        </a:rPr>
                        <a:t>95.0</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1"/>
                  </a:ext>
                </a:extLst>
              </a:tr>
              <a:tr h="0">
                <a:tc>
                  <a:txBody>
                    <a:bodyPr/>
                    <a:lstStyle/>
                    <a:p>
                      <a:pPr marL="0" indent="0" algn="l">
                        <a:buNone/>
                      </a:pPr>
                      <a:r>
                        <a:rPr lang="en-US" sz="1000" dirty="0">
                          <a:solidFill>
                            <a:srgbClr val="E8EDF5"/>
                          </a:solidFill>
                        </a:rPr>
                        <a:t>date</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96.8%</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94.3</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9B59D6"/>
                          </a:solidFill>
                        </a:rPr>
                        <a:t>98.6%</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9B59D6"/>
                          </a:solidFill>
                        </a:rPr>
                        <a:t>97.5</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10B981"/>
                          </a:solidFill>
                        </a:rPr>
                        <a:t>100.0%</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10B981"/>
                          </a:solidFill>
                        </a:rPr>
                        <a:t>98.3</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2"/>
                  </a:ext>
                </a:extLst>
              </a:tr>
              <a:tr h="0">
                <a:tc>
                  <a:txBody>
                    <a:bodyPr/>
                    <a:lstStyle/>
                    <a:p>
                      <a:pPr marL="0" indent="0" algn="l">
                        <a:buNone/>
                      </a:pPr>
                      <a:r>
                        <a:rPr lang="en-US" sz="1000" dirty="0">
                          <a:solidFill>
                            <a:srgbClr val="E8EDF5"/>
                          </a:solidFill>
                        </a:rPr>
                        <a:t>address</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99.6%</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87.1</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9B59D6"/>
                          </a:solidFill>
                        </a:rPr>
                        <a:t>99.3%</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9B59D6"/>
                          </a:solidFill>
                        </a:rPr>
                        <a:t>94.4</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10B981"/>
                          </a:solidFill>
                        </a:rPr>
                        <a:t>100.0%</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10B981"/>
                          </a:solidFill>
                        </a:rPr>
                        <a:t>94.7</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3"/>
                  </a:ext>
                </a:extLst>
              </a:tr>
              <a:tr h="0">
                <a:tc>
                  <a:txBody>
                    <a:bodyPr/>
                    <a:lstStyle/>
                    <a:p>
                      <a:pPr marL="0" indent="0" algn="l">
                        <a:buNone/>
                      </a:pPr>
                      <a:r>
                        <a:rPr lang="en-US" sz="1000" dirty="0">
                          <a:solidFill>
                            <a:srgbClr val="E8EDF5"/>
                          </a:solidFill>
                        </a:rPr>
                        <a:t>total</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99.7%</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95.0</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9B59D6"/>
                          </a:solidFill>
                        </a:rPr>
                        <a:t>98.5%</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9B59D6"/>
                          </a:solidFill>
                        </a:rPr>
                        <a:t>96.1</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10B981"/>
                          </a:solidFill>
                        </a:rPr>
                        <a:t>100.0%</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10B981"/>
                          </a:solidFill>
                        </a:rPr>
                        <a:t>97.5</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4"/>
                  </a:ext>
                </a:extLst>
              </a:tr>
              <a:tr h="0">
                <a:tc>
                  <a:txBody>
                    <a:bodyPr/>
                    <a:lstStyle/>
                    <a:p>
                      <a:pPr marL="0" indent="0" algn="l">
                        <a:buNone/>
                      </a:pPr>
                      <a:r>
                        <a:rPr lang="en-US" sz="1000" b="1" dirty="0">
                          <a:solidFill>
                            <a:srgbClr val="E8EDF5"/>
                          </a:solidFill>
                        </a:rPr>
                        <a:t>overall</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8A99C0"/>
                          </a:solidFill>
                        </a:rPr>
                        <a:t>98.4%</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8A99C0"/>
                          </a:solidFill>
                        </a:rPr>
                        <a:t>90.5</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9B59D6"/>
                          </a:solidFill>
                        </a:rPr>
                        <a:t>98.9%</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9B59D6"/>
                          </a:solidFill>
                        </a:rPr>
                        <a:t>95.2</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10B981"/>
                          </a:solidFill>
                        </a:rPr>
                        <a:t>100.0%</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10B981"/>
                          </a:solidFill>
                        </a:rPr>
                        <a:t>96.4</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extLst>
                  <a:ext uri="{0D108BD9-81ED-4DB2-BD59-A6C34878D82A}">
                    <a16:rowId xmlns:a16="http://schemas.microsoft.com/office/drawing/2014/main" val="10005"/>
                  </a:ext>
                </a:extLst>
              </a:tr>
            </a:tbl>
          </a:graphicData>
        </a:graphic>
      </p:graphicFrame>
      <p:sp>
        <p:nvSpPr>
          <p:cNvPr id="18" name="Shape 14"/>
          <p:cNvSpPr/>
          <p:nvPr/>
        </p:nvSpPr>
        <p:spPr>
          <a:xfrm>
            <a:off x="274320" y="4754880"/>
            <a:ext cx="8595360" cy="201168"/>
          </a:xfrm>
          <a:prstGeom prst="rect">
            <a:avLst/>
          </a:prstGeom>
          <a:solidFill>
            <a:srgbClr val="10B981">
              <a:alpha val="15000"/>
            </a:srgbClr>
          </a:solidFill>
          <a:ln w="12700">
            <a:solidFill>
              <a:srgbClr val="10B981"/>
            </a:solidFill>
            <a:prstDash val="solid"/>
          </a:ln>
        </p:spPr>
        <p:txBody>
          <a:bodyPr/>
          <a:lstStyle/>
          <a:p>
            <a:endParaRPr lang="en-US"/>
          </a:p>
        </p:txBody>
      </p:sp>
      <p:sp>
        <p:nvSpPr>
          <p:cNvPr id="14" name="Text 15"/>
          <p:cNvSpPr/>
          <p:nvPr/>
        </p:nvSpPr>
        <p:spPr>
          <a:xfrm>
            <a:off x="475488" y="4754880"/>
            <a:ext cx="8229600" cy="201168"/>
          </a:xfrm>
          <a:prstGeom prst="rect">
            <a:avLst/>
          </a:prstGeom>
          <a:noFill/>
          <a:ln/>
        </p:spPr>
        <p:txBody>
          <a:bodyPr wrap="square" lIns="0" tIns="0" rIns="0" bIns="0" rtlCol="0" anchor="ctr"/>
          <a:lstStyle/>
          <a:p>
            <a:pPr marL="0" indent="0" algn="ctr">
              <a:buNone/>
            </a:pPr>
            <a:r>
              <a:rPr lang="en-US" sz="1000" b="1" dirty="0">
                <a:solidFill>
                  <a:srgbClr val="10B981"/>
                </a:solidFill>
              </a:rPr>
              <a:t>Tier 5 achieves 100% extraction rate and highest overall score (96.4) — single unified Gemini call wins across all fields</a:t>
            </a:r>
            <a:endParaRPr lang="en-US" sz="1000" dirty="0"/>
          </a:p>
        </p:txBody>
      </p:sp>
      <p:sp>
        <p:nvSpPr>
          <p:cNvPr id="7" name="Text 12">
            <a:extLst>
              <a:ext uri="{FF2B5EF4-FFF2-40B4-BE49-F238E27FC236}">
                <a16:creationId xmlns:a16="http://schemas.microsoft.com/office/drawing/2014/main" id="{BB253D8B-2847-2F49-7E9C-44F9D5FE2602}"/>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D1340"/>
          </a:solidFill>
          <a:ln w="12700">
            <a:solidFill>
              <a:srgbClr val="0D1340"/>
            </a:solidFill>
            <a:prstDash val="solid"/>
          </a:ln>
        </p:spPr>
        <p:txBody>
          <a:bodyPr/>
          <a:lstStyle/>
          <a:p>
            <a:endParaRPr lang="en-US"/>
          </a:p>
        </p:txBody>
      </p:sp>
      <p:sp>
        <p:nvSpPr>
          <p:cNvPr id="3" name="Shape 1"/>
          <p:cNvSpPr/>
          <p:nvPr/>
        </p:nvSpPr>
        <p:spPr>
          <a:xfrm>
            <a:off x="0" y="0"/>
            <a:ext cx="54864" cy="502920"/>
          </a:xfrm>
          <a:prstGeom prst="rect">
            <a:avLst/>
          </a:prstGeom>
          <a:solidFill>
            <a:srgbClr val="7C3AED"/>
          </a:solidFill>
          <a:ln w="12700">
            <a:solidFill>
              <a:srgbClr val="7C3AED"/>
            </a:solidFill>
            <a:prstDash val="solid"/>
          </a:ln>
        </p:spPr>
        <p:txBody>
          <a:bodyPr/>
          <a:lstStyle/>
          <a:p>
            <a:endParaRPr lang="en-US"/>
          </a:p>
        </p:txBody>
      </p:sp>
      <p:sp>
        <p:nvSpPr>
          <p:cNvPr id="4" name="Text 2"/>
          <p:cNvSpPr/>
          <p:nvPr/>
        </p:nvSpPr>
        <p:spPr>
          <a:xfrm>
            <a:off x="182880" y="0"/>
            <a:ext cx="6400800" cy="502920"/>
          </a:xfrm>
          <a:prstGeom prst="rect">
            <a:avLst/>
          </a:prstGeom>
          <a:noFill/>
          <a:ln/>
        </p:spPr>
        <p:txBody>
          <a:bodyPr wrap="square" lIns="0" tIns="101600" rIns="0" bIns="0" rtlCol="0" anchor="ctr"/>
          <a:lstStyle/>
          <a:p>
            <a:pPr marL="0" indent="0">
              <a:buNone/>
            </a:pPr>
            <a:r>
              <a:rPr lang="en-US" sz="1700" b="1" dirty="0">
                <a:solidFill>
                  <a:srgbClr val="FFFFFF"/>
                </a:solidFill>
                <a:latin typeface="Trebuchet MS" pitchFamily="34" charset="0"/>
                <a:ea typeface="Trebuchet MS" pitchFamily="34" charset="-122"/>
                <a:cs typeface="Trebuchet MS" pitchFamily="34" charset="-120"/>
              </a:rPr>
              <a:t>Discussion and Recommendations</a:t>
            </a:r>
            <a:endParaRPr lang="en-US" sz="1700" dirty="0"/>
          </a:p>
        </p:txBody>
      </p:sp>
      <p:sp>
        <p:nvSpPr>
          <p:cNvPr id="5" name="Shape 3"/>
          <p:cNvSpPr/>
          <p:nvPr/>
        </p:nvSpPr>
        <p:spPr>
          <a:xfrm>
            <a:off x="6720840" y="109728"/>
            <a:ext cx="1234440" cy="274320"/>
          </a:xfrm>
          <a:prstGeom prst="rect">
            <a:avLst/>
          </a:prstGeom>
          <a:solidFill>
            <a:srgbClr val="7C3AED">
              <a:alpha val="22000"/>
            </a:srgbClr>
          </a:solidFill>
          <a:ln w="12700">
            <a:solidFill>
              <a:srgbClr val="7C3AED"/>
            </a:solidFill>
            <a:prstDash val="solid"/>
          </a:ln>
        </p:spPr>
        <p:txBody>
          <a:bodyPr/>
          <a:lstStyle/>
          <a:p>
            <a:endParaRPr lang="en-US"/>
          </a:p>
        </p:txBody>
      </p:sp>
      <p:sp>
        <p:nvSpPr>
          <p:cNvPr id="6" name="Text 4"/>
          <p:cNvSpPr/>
          <p:nvPr/>
        </p:nvSpPr>
        <p:spPr>
          <a:xfrm>
            <a:off x="6720840" y="109728"/>
            <a:ext cx="1234440" cy="274320"/>
          </a:xfrm>
          <a:prstGeom prst="rect">
            <a:avLst/>
          </a:prstGeom>
          <a:noFill/>
          <a:ln/>
        </p:spPr>
        <p:txBody>
          <a:bodyPr wrap="square" lIns="0" tIns="0" rIns="0" bIns="0" rtlCol="0" anchor="ctr"/>
          <a:lstStyle/>
          <a:p>
            <a:pPr marL="0" indent="0" algn="ctr">
              <a:buNone/>
            </a:pPr>
            <a:r>
              <a:rPr lang="en-US" sz="750" b="1" kern="0" spc="50" dirty="0">
                <a:solidFill>
                  <a:srgbClr val="FFFFFF"/>
                </a:solidFill>
              </a:rPr>
              <a:t>CHALLENGE 2</a:t>
            </a:r>
            <a:endParaRPr lang="en-US" sz="750" dirty="0"/>
          </a:p>
        </p:txBody>
      </p:sp>
      <p:sp>
        <p:nvSpPr>
          <p:cNvPr id="8" name="Shape 6"/>
          <p:cNvSpPr/>
          <p:nvPr/>
        </p:nvSpPr>
        <p:spPr>
          <a:xfrm>
            <a:off x="0" y="4983480"/>
            <a:ext cx="9144000" cy="164592"/>
          </a:xfrm>
          <a:prstGeom prst="rect">
            <a:avLst/>
          </a:prstGeom>
          <a:solidFill>
            <a:srgbClr val="0D1340"/>
          </a:solidFill>
          <a:ln w="12700">
            <a:solidFill>
              <a:srgbClr val="0D1340"/>
            </a:solidFill>
            <a:prstDash val="solid"/>
          </a:ln>
        </p:spPr>
        <p:txBody>
          <a:bodyPr/>
          <a:lstStyle/>
          <a:p>
            <a:endParaRPr lang="en-US"/>
          </a:p>
        </p:txBody>
      </p:sp>
      <p:sp>
        <p:nvSpPr>
          <p:cNvPr id="9" name="Shape 7"/>
          <p:cNvSpPr/>
          <p:nvPr/>
        </p:nvSpPr>
        <p:spPr>
          <a:xfrm>
            <a:off x="0" y="4983480"/>
            <a:ext cx="9144000" cy="13716"/>
          </a:xfrm>
          <a:prstGeom prst="rect">
            <a:avLst/>
          </a:prstGeom>
          <a:solidFill>
            <a:srgbClr val="00C2E0"/>
          </a:solidFill>
          <a:ln w="12700">
            <a:solidFill>
              <a:srgbClr val="00C2E0"/>
            </a:solidFill>
            <a:prstDash val="solid"/>
          </a:ln>
        </p:spPr>
        <p:txBody>
          <a:bodyPr/>
          <a:lstStyle/>
          <a:p>
            <a:endParaRPr lang="en-US"/>
          </a:p>
        </p:txBody>
      </p:sp>
      <p:sp>
        <p:nvSpPr>
          <p:cNvPr id="12" name="Shape 10"/>
          <p:cNvSpPr/>
          <p:nvPr/>
        </p:nvSpPr>
        <p:spPr>
          <a:xfrm>
            <a:off x="274320" y="594360"/>
            <a:ext cx="54864" cy="256032"/>
          </a:xfrm>
          <a:prstGeom prst="rect">
            <a:avLst/>
          </a:prstGeom>
          <a:solidFill>
            <a:srgbClr val="10B981"/>
          </a:solidFill>
          <a:ln w="12700">
            <a:solidFill>
              <a:srgbClr val="10B981"/>
            </a:solidFill>
            <a:prstDash val="solid"/>
          </a:ln>
        </p:spPr>
        <p:txBody>
          <a:bodyPr/>
          <a:lstStyle/>
          <a:p>
            <a:endParaRPr lang="en-US"/>
          </a:p>
        </p:txBody>
      </p:sp>
      <p:sp>
        <p:nvSpPr>
          <p:cNvPr id="13" name="Text 11"/>
          <p:cNvSpPr/>
          <p:nvPr/>
        </p:nvSpPr>
        <p:spPr>
          <a:xfrm>
            <a:off x="402336" y="594360"/>
            <a:ext cx="3657600" cy="256032"/>
          </a:xfrm>
          <a:prstGeom prst="rect">
            <a:avLst/>
          </a:prstGeom>
          <a:noFill/>
          <a:ln/>
        </p:spPr>
        <p:txBody>
          <a:bodyPr wrap="square" lIns="0" tIns="0" rIns="0" bIns="0" rtlCol="0" anchor="ctr"/>
          <a:lstStyle/>
          <a:p>
            <a:pPr marL="0" indent="0">
              <a:buNone/>
            </a:pPr>
            <a:r>
              <a:rPr lang="en-US" sz="1400" b="1" dirty="0">
                <a:solidFill>
                  <a:srgbClr val="10B981"/>
                </a:solidFill>
                <a:latin typeface="Trebuchet MS" pitchFamily="34" charset="0"/>
                <a:ea typeface="Trebuchet MS" pitchFamily="34" charset="-122"/>
                <a:cs typeface="Trebuchet MS" pitchFamily="34" charset="-120"/>
              </a:rPr>
              <a:t>PRODUCTION RECOMMENDATION  —  Tier 5</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3617823337"/>
              </p:ext>
            </p:extLst>
          </p:nvPr>
        </p:nvGraphicFramePr>
        <p:xfrm>
          <a:off x="274320" y="914400"/>
          <a:ext cx="4160520" cy="1600200"/>
        </p:xfrm>
        <a:graphic>
          <a:graphicData uri="http://schemas.openxmlformats.org/drawingml/2006/table">
            <a:tbl>
              <a:tblPr/>
              <a:tblGrid>
                <a:gridCol w="169164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0">
                <a:tc>
                  <a:txBody>
                    <a:bodyPr/>
                    <a:lstStyle/>
                    <a:p>
                      <a:pPr marL="0" indent="0" algn="l">
                        <a:buNone/>
                      </a:pP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FFFFFF"/>
                          </a:solidFill>
                        </a:rPr>
                        <a:t>Tier 4</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lgn="ctr">
                        <a:buNone/>
                      </a:pPr>
                      <a:r>
                        <a:rPr lang="en-US" sz="1000" b="1" dirty="0">
                          <a:solidFill>
                            <a:srgbClr val="FFFFFF"/>
                          </a:solidFill>
                        </a:rPr>
                        <a:t>Tier 5  ✓</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extLst>
                  <a:ext uri="{0D108BD9-81ED-4DB2-BD59-A6C34878D82A}">
                    <a16:rowId xmlns:a16="http://schemas.microsoft.com/office/drawing/2014/main" val="10000"/>
                  </a:ext>
                </a:extLst>
              </a:tr>
              <a:tr h="0">
                <a:tc>
                  <a:txBody>
                    <a:bodyPr/>
                    <a:lstStyle/>
                    <a:p>
                      <a:pPr marL="0" indent="0" algn="l">
                        <a:buNone/>
                      </a:pPr>
                      <a:r>
                        <a:rPr lang="en-US" sz="1000" dirty="0">
                          <a:solidFill>
                            <a:srgbClr val="E8EDF5"/>
                          </a:solidFill>
                        </a:rPr>
                        <a:t>LLM calls / receipt</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2</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b="1" dirty="0">
                          <a:solidFill>
                            <a:srgbClr val="10B981"/>
                          </a:solidFill>
                        </a:rPr>
                        <a:t>1</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1"/>
                  </a:ext>
                </a:extLst>
              </a:tr>
              <a:tr h="0">
                <a:tc>
                  <a:txBody>
                    <a:bodyPr/>
                    <a:lstStyle/>
                    <a:p>
                      <a:pPr marL="0" indent="0" algn="l">
                        <a:buNone/>
                      </a:pPr>
                      <a:r>
                        <a:rPr lang="en-US" sz="1000" dirty="0">
                          <a:solidFill>
                            <a:srgbClr val="E8EDF5"/>
                          </a:solidFill>
                        </a:rPr>
                        <a:t>Latency</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Higher</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b="1" dirty="0">
                          <a:solidFill>
                            <a:srgbClr val="10B981"/>
                          </a:solidFill>
                        </a:rPr>
                        <a:t>Lower</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2"/>
                  </a:ext>
                </a:extLst>
              </a:tr>
              <a:tr h="0">
                <a:tc>
                  <a:txBody>
                    <a:bodyPr/>
                    <a:lstStyle/>
                    <a:p>
                      <a:pPr marL="0" indent="0" algn="l">
                        <a:buNone/>
                      </a:pPr>
                      <a:r>
                        <a:rPr lang="en-US" sz="1000" dirty="0">
                          <a:solidFill>
                            <a:srgbClr val="E8EDF5"/>
                          </a:solidFill>
                        </a:rPr>
                        <a:t>Overall score</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95.2</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b="1" dirty="0">
                          <a:solidFill>
                            <a:srgbClr val="10B981"/>
                          </a:solidFill>
                        </a:rPr>
                        <a:t>96.4</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3"/>
                  </a:ext>
                </a:extLst>
              </a:tr>
              <a:tr h="0">
                <a:tc>
                  <a:txBody>
                    <a:bodyPr/>
                    <a:lstStyle/>
                    <a:p>
                      <a:pPr marL="0" indent="0" algn="l">
                        <a:buNone/>
                      </a:pPr>
                      <a:r>
                        <a:rPr lang="en-US" sz="1000" dirty="0">
                          <a:solidFill>
                            <a:srgbClr val="E8EDF5"/>
                          </a:solidFill>
                        </a:rPr>
                        <a:t>Extraction rate</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98.9%</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b="1" dirty="0">
                          <a:solidFill>
                            <a:srgbClr val="10B981"/>
                          </a:solidFill>
                        </a:rPr>
                        <a:t>100%</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4"/>
                  </a:ext>
                </a:extLst>
              </a:tr>
              <a:tr h="0">
                <a:tc>
                  <a:txBody>
                    <a:bodyPr/>
                    <a:lstStyle/>
                    <a:p>
                      <a:pPr marL="0" indent="0" algn="l">
                        <a:buNone/>
                      </a:pPr>
                      <a:r>
                        <a:rPr lang="en-US" sz="1000" dirty="0">
                          <a:solidFill>
                            <a:srgbClr val="E8EDF5"/>
                          </a:solidFill>
                        </a:rPr>
                        <a:t>Complexity</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dirty="0">
                          <a:solidFill>
                            <a:srgbClr val="8A99C0"/>
                          </a:solidFill>
                        </a:rPr>
                        <a:t>More modular</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lgn="ctr">
                        <a:buNone/>
                      </a:pPr>
                      <a:r>
                        <a:rPr lang="en-US" sz="1000" b="1" dirty="0">
                          <a:solidFill>
                            <a:srgbClr val="10B981"/>
                          </a:solidFill>
                        </a:rPr>
                        <a:t>Simpler</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5"/>
                  </a:ext>
                </a:extLst>
              </a:tr>
              <a:tr h="0">
                <a:tc>
                  <a:txBody>
                    <a:bodyPr/>
                    <a:lstStyle/>
                    <a:p>
                      <a:pPr marL="0" indent="0" algn="l">
                        <a:buNone/>
                      </a:pPr>
                      <a:r>
                        <a:rPr lang="en-US" sz="1000" dirty="0">
                          <a:solidFill>
                            <a:srgbClr val="E8EDF5"/>
                          </a:solidFill>
                        </a:rPr>
                        <a:t>Production fit</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dirty="0">
                          <a:solidFill>
                            <a:srgbClr val="8A99C0"/>
                          </a:solidFill>
                        </a:rPr>
                        <a:t>Good</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tc>
                  <a:txBody>
                    <a:bodyPr/>
                    <a:lstStyle/>
                    <a:p>
                      <a:pPr marL="0" indent="0" algn="ctr">
                        <a:buNone/>
                      </a:pPr>
                      <a:r>
                        <a:rPr lang="en-US" sz="1000" b="1" dirty="0">
                          <a:solidFill>
                            <a:srgbClr val="10B981"/>
                          </a:solidFill>
                        </a:rPr>
                        <a:t>Best</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61E45"/>
                    </a:solidFill>
                  </a:tcPr>
                </a:tc>
                <a:extLst>
                  <a:ext uri="{0D108BD9-81ED-4DB2-BD59-A6C34878D82A}">
                    <a16:rowId xmlns:a16="http://schemas.microsoft.com/office/drawing/2014/main" val="10006"/>
                  </a:ext>
                </a:extLst>
              </a:tr>
            </a:tbl>
          </a:graphicData>
        </a:graphic>
      </p:graphicFrame>
      <p:sp>
        <p:nvSpPr>
          <p:cNvPr id="15" name="Shape 12"/>
          <p:cNvSpPr/>
          <p:nvPr/>
        </p:nvSpPr>
        <p:spPr>
          <a:xfrm>
            <a:off x="4709160" y="594360"/>
            <a:ext cx="54864" cy="256032"/>
          </a:xfrm>
          <a:prstGeom prst="rect">
            <a:avLst/>
          </a:prstGeom>
          <a:solidFill>
            <a:srgbClr val="7C3AED"/>
          </a:solidFill>
          <a:ln w="12700">
            <a:solidFill>
              <a:srgbClr val="7C3AED"/>
            </a:solidFill>
            <a:prstDash val="solid"/>
          </a:ln>
        </p:spPr>
        <p:txBody>
          <a:bodyPr/>
          <a:lstStyle/>
          <a:p>
            <a:endParaRPr lang="en-US"/>
          </a:p>
        </p:txBody>
      </p:sp>
      <p:sp>
        <p:nvSpPr>
          <p:cNvPr id="16" name="Text 13"/>
          <p:cNvSpPr/>
          <p:nvPr/>
        </p:nvSpPr>
        <p:spPr>
          <a:xfrm>
            <a:off x="4837176" y="594360"/>
            <a:ext cx="3657600" cy="256032"/>
          </a:xfrm>
          <a:prstGeom prst="rect">
            <a:avLst/>
          </a:prstGeom>
          <a:noFill/>
          <a:ln/>
        </p:spPr>
        <p:txBody>
          <a:bodyPr wrap="square" lIns="0" tIns="0" rIns="0" bIns="0" rtlCol="0" anchor="ctr"/>
          <a:lstStyle/>
          <a:p>
            <a:pPr marL="0" indent="0">
              <a:buNone/>
            </a:pPr>
            <a:r>
              <a:rPr lang="en-US" sz="1400" b="1" dirty="0">
                <a:solidFill>
                  <a:srgbClr val="7C3AED"/>
                </a:solidFill>
                <a:latin typeface="Trebuchet MS" pitchFamily="34" charset="0"/>
                <a:ea typeface="Trebuchet MS" pitchFamily="34" charset="-122"/>
                <a:cs typeface="Trebuchet MS" pitchFamily="34" charset="-120"/>
              </a:rPr>
              <a:t>RECOMMENDATIONS FOR PRODUCTION</a:t>
            </a:r>
            <a:endParaRPr lang="en-US" sz="1400" dirty="0"/>
          </a:p>
        </p:txBody>
      </p:sp>
      <p:sp>
        <p:nvSpPr>
          <p:cNvPr id="17" name="Shape 14"/>
          <p:cNvSpPr/>
          <p:nvPr/>
        </p:nvSpPr>
        <p:spPr>
          <a:xfrm>
            <a:off x="4709160" y="914400"/>
            <a:ext cx="4160520" cy="868680"/>
          </a:xfrm>
          <a:prstGeom prst="rect">
            <a:avLst/>
          </a:prstGeom>
          <a:solidFill>
            <a:srgbClr val="111838"/>
          </a:solidFill>
          <a:ln w="12700">
            <a:solidFill>
              <a:srgbClr val="1E2A5A"/>
            </a:solidFill>
            <a:prstDash val="solid"/>
          </a:ln>
        </p:spPr>
        <p:txBody>
          <a:bodyPr/>
          <a:lstStyle/>
          <a:p>
            <a:endParaRPr lang="en-US"/>
          </a:p>
        </p:txBody>
      </p:sp>
      <p:sp>
        <p:nvSpPr>
          <p:cNvPr id="18" name="Shape 15"/>
          <p:cNvSpPr/>
          <p:nvPr/>
        </p:nvSpPr>
        <p:spPr>
          <a:xfrm>
            <a:off x="4709160" y="914400"/>
            <a:ext cx="54864" cy="868680"/>
          </a:xfrm>
          <a:prstGeom prst="rect">
            <a:avLst/>
          </a:prstGeom>
          <a:solidFill>
            <a:srgbClr val="7C3AED"/>
          </a:solidFill>
          <a:ln w="12700">
            <a:solidFill>
              <a:srgbClr val="7C3AED"/>
            </a:solidFill>
            <a:prstDash val="solid"/>
          </a:ln>
        </p:spPr>
        <p:txBody>
          <a:bodyPr/>
          <a:lstStyle/>
          <a:p>
            <a:endParaRPr lang="en-US"/>
          </a:p>
        </p:txBody>
      </p:sp>
      <p:sp>
        <p:nvSpPr>
          <p:cNvPr id="19" name="Shape 16"/>
          <p:cNvSpPr/>
          <p:nvPr/>
        </p:nvSpPr>
        <p:spPr>
          <a:xfrm>
            <a:off x="4910328" y="969264"/>
            <a:ext cx="292608" cy="292608"/>
          </a:xfrm>
          <a:prstGeom prst="line">
            <a:avLst/>
          </a:prstGeom>
          <a:solidFill>
            <a:srgbClr val="7C3AED">
              <a:alpha val="80000"/>
            </a:srgbClr>
          </a:solidFill>
          <a:ln w="12700">
            <a:solidFill>
              <a:srgbClr val="7C3AED"/>
            </a:solidFill>
            <a:prstDash val="solid"/>
          </a:ln>
        </p:spPr>
        <p:txBody>
          <a:bodyPr/>
          <a:lstStyle/>
          <a:p>
            <a:endParaRPr lang="en-US"/>
          </a:p>
        </p:txBody>
      </p:sp>
      <p:sp>
        <p:nvSpPr>
          <p:cNvPr id="14" name="Text 17"/>
          <p:cNvSpPr/>
          <p:nvPr/>
        </p:nvSpPr>
        <p:spPr>
          <a:xfrm>
            <a:off x="4910328" y="969264"/>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21" name="Text 18"/>
          <p:cNvSpPr/>
          <p:nvPr/>
        </p:nvSpPr>
        <p:spPr>
          <a:xfrm>
            <a:off x="5321808" y="969264"/>
            <a:ext cx="3383280" cy="256032"/>
          </a:xfrm>
          <a:prstGeom prst="rect">
            <a:avLst/>
          </a:prstGeom>
          <a:noFill/>
          <a:ln/>
        </p:spPr>
        <p:txBody>
          <a:bodyPr wrap="square" lIns="0" tIns="0" rIns="0" bIns="0" rtlCol="0" anchor="ctr"/>
          <a:lstStyle/>
          <a:p>
            <a:pPr marL="0" indent="0">
              <a:buNone/>
            </a:pPr>
            <a:r>
              <a:rPr lang="en-US" sz="1200" b="1" dirty="0">
                <a:solidFill>
                  <a:srgbClr val="9B59D6"/>
                </a:solidFill>
              </a:rPr>
              <a:t>Confidence Flagging</a:t>
            </a:r>
            <a:endParaRPr lang="en-US" sz="1200" dirty="0"/>
          </a:p>
        </p:txBody>
      </p:sp>
      <p:sp>
        <p:nvSpPr>
          <p:cNvPr id="22" name="Text 19"/>
          <p:cNvSpPr/>
          <p:nvPr/>
        </p:nvSpPr>
        <p:spPr>
          <a:xfrm>
            <a:off x="4910328" y="1298448"/>
            <a:ext cx="3840480" cy="484632"/>
          </a:xfrm>
          <a:prstGeom prst="rect">
            <a:avLst/>
          </a:prstGeom>
          <a:noFill/>
          <a:ln/>
        </p:spPr>
        <p:txBody>
          <a:bodyPr wrap="square" lIns="0" tIns="0" rIns="0" bIns="0" rtlCol="0" anchor="ctr"/>
          <a:lstStyle/>
          <a:p>
            <a:pPr marL="0" indent="0">
              <a:buNone/>
            </a:pPr>
            <a:r>
              <a:rPr lang="en-US" sz="1000" dirty="0">
                <a:solidFill>
                  <a:srgbClr val="E8EDF5"/>
                </a:solidFill>
              </a:rPr>
              <a:t>Add a confidence score per field — flag low-confidence extractions for human review. Prevents silent errors in downstream systems.</a:t>
            </a:r>
            <a:endParaRPr lang="en-US" sz="1000" dirty="0"/>
          </a:p>
        </p:txBody>
      </p:sp>
      <p:sp>
        <p:nvSpPr>
          <p:cNvPr id="23" name="Shape 20"/>
          <p:cNvSpPr/>
          <p:nvPr/>
        </p:nvSpPr>
        <p:spPr>
          <a:xfrm>
            <a:off x="4709160" y="1901952"/>
            <a:ext cx="4160520" cy="868680"/>
          </a:xfrm>
          <a:prstGeom prst="rect">
            <a:avLst/>
          </a:prstGeom>
          <a:solidFill>
            <a:srgbClr val="111838"/>
          </a:solidFill>
          <a:ln w="12700">
            <a:solidFill>
              <a:srgbClr val="1E2A5A"/>
            </a:solidFill>
            <a:prstDash val="solid"/>
          </a:ln>
        </p:spPr>
        <p:txBody>
          <a:bodyPr/>
          <a:lstStyle/>
          <a:p>
            <a:endParaRPr lang="en-US"/>
          </a:p>
        </p:txBody>
      </p:sp>
      <p:sp>
        <p:nvSpPr>
          <p:cNvPr id="24" name="Shape 21"/>
          <p:cNvSpPr/>
          <p:nvPr/>
        </p:nvSpPr>
        <p:spPr>
          <a:xfrm>
            <a:off x="4709160" y="1901952"/>
            <a:ext cx="54864" cy="868680"/>
          </a:xfrm>
          <a:prstGeom prst="rect">
            <a:avLst/>
          </a:prstGeom>
          <a:solidFill>
            <a:srgbClr val="7C3AED"/>
          </a:solidFill>
          <a:ln w="12700">
            <a:solidFill>
              <a:srgbClr val="7C3AED"/>
            </a:solidFill>
            <a:prstDash val="solid"/>
          </a:ln>
        </p:spPr>
        <p:txBody>
          <a:bodyPr/>
          <a:lstStyle/>
          <a:p>
            <a:endParaRPr lang="en-US"/>
          </a:p>
        </p:txBody>
      </p:sp>
      <p:sp>
        <p:nvSpPr>
          <p:cNvPr id="25" name="Shape 22"/>
          <p:cNvSpPr/>
          <p:nvPr/>
        </p:nvSpPr>
        <p:spPr>
          <a:xfrm>
            <a:off x="4910328" y="1956816"/>
            <a:ext cx="292608" cy="292608"/>
          </a:xfrm>
          <a:prstGeom prst="line">
            <a:avLst/>
          </a:prstGeom>
          <a:solidFill>
            <a:srgbClr val="7C3AED">
              <a:alpha val="80000"/>
            </a:srgbClr>
          </a:solidFill>
          <a:ln w="12700">
            <a:solidFill>
              <a:srgbClr val="7C3AED"/>
            </a:solidFill>
            <a:prstDash val="solid"/>
          </a:ln>
        </p:spPr>
        <p:txBody>
          <a:bodyPr/>
          <a:lstStyle/>
          <a:p>
            <a:endParaRPr lang="en-US"/>
          </a:p>
        </p:txBody>
      </p:sp>
      <p:sp>
        <p:nvSpPr>
          <p:cNvPr id="26" name="Text 23"/>
          <p:cNvSpPr/>
          <p:nvPr/>
        </p:nvSpPr>
        <p:spPr>
          <a:xfrm>
            <a:off x="4910328" y="1956816"/>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27" name="Text 24"/>
          <p:cNvSpPr/>
          <p:nvPr/>
        </p:nvSpPr>
        <p:spPr>
          <a:xfrm>
            <a:off x="5321808" y="1956816"/>
            <a:ext cx="3383280" cy="256032"/>
          </a:xfrm>
          <a:prstGeom prst="rect">
            <a:avLst/>
          </a:prstGeom>
          <a:noFill/>
          <a:ln/>
        </p:spPr>
        <p:txBody>
          <a:bodyPr wrap="square" lIns="0" tIns="0" rIns="0" bIns="0" rtlCol="0" anchor="ctr"/>
          <a:lstStyle/>
          <a:p>
            <a:pPr marL="0" indent="0">
              <a:buNone/>
            </a:pPr>
            <a:r>
              <a:rPr lang="en-US" sz="1200" b="1" dirty="0">
                <a:solidFill>
                  <a:srgbClr val="9B59D6"/>
                </a:solidFill>
              </a:rPr>
              <a:t>Watermark Filtering</a:t>
            </a:r>
            <a:endParaRPr lang="en-US" sz="1200" dirty="0"/>
          </a:p>
        </p:txBody>
      </p:sp>
      <p:sp>
        <p:nvSpPr>
          <p:cNvPr id="28" name="Text 25"/>
          <p:cNvSpPr/>
          <p:nvPr/>
        </p:nvSpPr>
        <p:spPr>
          <a:xfrm>
            <a:off x="4910328" y="2286000"/>
            <a:ext cx="3840480" cy="484632"/>
          </a:xfrm>
          <a:prstGeom prst="rect">
            <a:avLst/>
          </a:prstGeom>
          <a:noFill/>
          <a:ln/>
        </p:spPr>
        <p:txBody>
          <a:bodyPr wrap="square" lIns="0" tIns="0" rIns="0" bIns="0" rtlCol="0" anchor="ctr"/>
          <a:lstStyle/>
          <a:p>
            <a:pPr marL="0" indent="0">
              <a:buNone/>
            </a:pPr>
            <a:r>
              <a:rPr lang="en-US" sz="1000" dirty="0">
                <a:solidFill>
                  <a:srgbClr val="E8EDF5"/>
                </a:solidFill>
              </a:rPr>
              <a:t>For known artifact datasets, a preprocessing crop of the top portion of receipts would improve company extraction on noisy scans.</a:t>
            </a:r>
            <a:endParaRPr lang="en-US" sz="1000" dirty="0"/>
          </a:p>
        </p:txBody>
      </p:sp>
      <p:sp>
        <p:nvSpPr>
          <p:cNvPr id="29" name="Shape 26"/>
          <p:cNvSpPr/>
          <p:nvPr/>
        </p:nvSpPr>
        <p:spPr>
          <a:xfrm>
            <a:off x="4709160" y="2889504"/>
            <a:ext cx="4160520" cy="868680"/>
          </a:xfrm>
          <a:prstGeom prst="rect">
            <a:avLst/>
          </a:prstGeom>
          <a:solidFill>
            <a:srgbClr val="111838"/>
          </a:solidFill>
          <a:ln w="12700">
            <a:solidFill>
              <a:srgbClr val="1E2A5A"/>
            </a:solidFill>
            <a:prstDash val="solid"/>
          </a:ln>
        </p:spPr>
        <p:txBody>
          <a:bodyPr/>
          <a:lstStyle/>
          <a:p>
            <a:endParaRPr lang="en-US"/>
          </a:p>
        </p:txBody>
      </p:sp>
      <p:sp>
        <p:nvSpPr>
          <p:cNvPr id="30" name="Shape 27"/>
          <p:cNvSpPr/>
          <p:nvPr/>
        </p:nvSpPr>
        <p:spPr>
          <a:xfrm>
            <a:off x="4709160" y="2889504"/>
            <a:ext cx="54864" cy="868680"/>
          </a:xfrm>
          <a:prstGeom prst="rect">
            <a:avLst/>
          </a:prstGeom>
          <a:solidFill>
            <a:srgbClr val="7C3AED"/>
          </a:solidFill>
          <a:ln w="12700">
            <a:solidFill>
              <a:srgbClr val="7C3AED"/>
            </a:solidFill>
            <a:prstDash val="solid"/>
          </a:ln>
        </p:spPr>
        <p:txBody>
          <a:bodyPr/>
          <a:lstStyle/>
          <a:p>
            <a:endParaRPr lang="en-US"/>
          </a:p>
        </p:txBody>
      </p:sp>
      <p:sp>
        <p:nvSpPr>
          <p:cNvPr id="31" name="Shape 28"/>
          <p:cNvSpPr/>
          <p:nvPr/>
        </p:nvSpPr>
        <p:spPr>
          <a:xfrm>
            <a:off x="4910328" y="2944368"/>
            <a:ext cx="292608" cy="292608"/>
          </a:xfrm>
          <a:prstGeom prst="line">
            <a:avLst/>
          </a:prstGeom>
          <a:solidFill>
            <a:srgbClr val="7C3AED">
              <a:alpha val="80000"/>
            </a:srgbClr>
          </a:solidFill>
          <a:ln w="12700">
            <a:solidFill>
              <a:srgbClr val="7C3AED"/>
            </a:solidFill>
            <a:prstDash val="solid"/>
          </a:ln>
        </p:spPr>
        <p:txBody>
          <a:bodyPr/>
          <a:lstStyle/>
          <a:p>
            <a:endParaRPr lang="en-US"/>
          </a:p>
        </p:txBody>
      </p:sp>
      <p:sp>
        <p:nvSpPr>
          <p:cNvPr id="32" name="Text 29"/>
          <p:cNvSpPr/>
          <p:nvPr/>
        </p:nvSpPr>
        <p:spPr>
          <a:xfrm>
            <a:off x="4910328" y="2944368"/>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33" name="Text 30"/>
          <p:cNvSpPr/>
          <p:nvPr/>
        </p:nvSpPr>
        <p:spPr>
          <a:xfrm>
            <a:off x="5321808" y="2944368"/>
            <a:ext cx="3383280" cy="256032"/>
          </a:xfrm>
          <a:prstGeom prst="rect">
            <a:avLst/>
          </a:prstGeom>
          <a:noFill/>
          <a:ln/>
        </p:spPr>
        <p:txBody>
          <a:bodyPr wrap="square" lIns="0" tIns="0" rIns="0" bIns="0" rtlCol="0" anchor="ctr"/>
          <a:lstStyle/>
          <a:p>
            <a:pPr marL="0" indent="0">
              <a:buNone/>
            </a:pPr>
            <a:r>
              <a:rPr lang="en-US" sz="1200" b="1" dirty="0">
                <a:solidFill>
                  <a:srgbClr val="9B59D6"/>
                </a:solidFill>
              </a:rPr>
              <a:t>Structured Output Validation</a:t>
            </a:r>
            <a:endParaRPr lang="en-US" sz="1200" dirty="0"/>
          </a:p>
        </p:txBody>
      </p:sp>
      <p:sp>
        <p:nvSpPr>
          <p:cNvPr id="34" name="Text 31"/>
          <p:cNvSpPr/>
          <p:nvPr/>
        </p:nvSpPr>
        <p:spPr>
          <a:xfrm>
            <a:off x="4910328" y="3273552"/>
            <a:ext cx="3840480" cy="484632"/>
          </a:xfrm>
          <a:prstGeom prst="rect">
            <a:avLst/>
          </a:prstGeom>
          <a:noFill/>
          <a:ln/>
        </p:spPr>
        <p:txBody>
          <a:bodyPr wrap="square" lIns="0" tIns="0" rIns="0" bIns="0" rtlCol="0" anchor="ctr"/>
          <a:lstStyle/>
          <a:p>
            <a:pPr marL="0" indent="0">
              <a:buNone/>
            </a:pPr>
            <a:r>
              <a:rPr lang="en-US" sz="1000" dirty="0">
                <a:solidFill>
                  <a:srgbClr val="E8EDF5"/>
                </a:solidFill>
              </a:rPr>
              <a:t>Add Pydantic field validators — date format normalization, currency amount parsing — for downstream system compatibility.</a:t>
            </a:r>
            <a:endParaRPr lang="en-US" sz="1000" dirty="0"/>
          </a:p>
        </p:txBody>
      </p:sp>
      <p:sp>
        <p:nvSpPr>
          <p:cNvPr id="35" name="Shape 32"/>
          <p:cNvSpPr/>
          <p:nvPr/>
        </p:nvSpPr>
        <p:spPr>
          <a:xfrm>
            <a:off x="4709160" y="3877056"/>
            <a:ext cx="4160520" cy="868680"/>
          </a:xfrm>
          <a:prstGeom prst="rect">
            <a:avLst/>
          </a:prstGeom>
          <a:solidFill>
            <a:srgbClr val="111838"/>
          </a:solidFill>
          <a:ln w="12700">
            <a:solidFill>
              <a:srgbClr val="1E2A5A"/>
            </a:solidFill>
            <a:prstDash val="solid"/>
          </a:ln>
        </p:spPr>
        <p:txBody>
          <a:bodyPr/>
          <a:lstStyle/>
          <a:p>
            <a:endParaRPr lang="en-US"/>
          </a:p>
        </p:txBody>
      </p:sp>
      <p:sp>
        <p:nvSpPr>
          <p:cNvPr id="36" name="Shape 33"/>
          <p:cNvSpPr/>
          <p:nvPr/>
        </p:nvSpPr>
        <p:spPr>
          <a:xfrm>
            <a:off x="4709160" y="3877056"/>
            <a:ext cx="54864" cy="868680"/>
          </a:xfrm>
          <a:prstGeom prst="rect">
            <a:avLst/>
          </a:prstGeom>
          <a:solidFill>
            <a:srgbClr val="7C3AED"/>
          </a:solidFill>
          <a:ln w="12700">
            <a:solidFill>
              <a:srgbClr val="7C3AED"/>
            </a:solidFill>
            <a:prstDash val="solid"/>
          </a:ln>
        </p:spPr>
        <p:txBody>
          <a:bodyPr/>
          <a:lstStyle/>
          <a:p>
            <a:endParaRPr lang="en-US"/>
          </a:p>
        </p:txBody>
      </p:sp>
      <p:sp>
        <p:nvSpPr>
          <p:cNvPr id="37" name="Shape 34"/>
          <p:cNvSpPr/>
          <p:nvPr/>
        </p:nvSpPr>
        <p:spPr>
          <a:xfrm>
            <a:off x="4910328" y="3931920"/>
            <a:ext cx="292608" cy="292608"/>
          </a:xfrm>
          <a:prstGeom prst="line">
            <a:avLst/>
          </a:prstGeom>
          <a:solidFill>
            <a:srgbClr val="7C3AED">
              <a:alpha val="80000"/>
            </a:srgbClr>
          </a:solidFill>
          <a:ln w="12700">
            <a:solidFill>
              <a:srgbClr val="7C3AED"/>
            </a:solidFill>
            <a:prstDash val="solid"/>
          </a:ln>
        </p:spPr>
        <p:txBody>
          <a:bodyPr/>
          <a:lstStyle/>
          <a:p>
            <a:endParaRPr lang="en-US"/>
          </a:p>
        </p:txBody>
      </p:sp>
      <p:sp>
        <p:nvSpPr>
          <p:cNvPr id="38" name="Text 35"/>
          <p:cNvSpPr/>
          <p:nvPr/>
        </p:nvSpPr>
        <p:spPr>
          <a:xfrm>
            <a:off x="4910328" y="3931920"/>
            <a:ext cx="292608" cy="292608"/>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39" name="Text 36"/>
          <p:cNvSpPr/>
          <p:nvPr/>
        </p:nvSpPr>
        <p:spPr>
          <a:xfrm>
            <a:off x="5321808" y="3931920"/>
            <a:ext cx="3383280" cy="256032"/>
          </a:xfrm>
          <a:prstGeom prst="rect">
            <a:avLst/>
          </a:prstGeom>
          <a:noFill/>
          <a:ln/>
        </p:spPr>
        <p:txBody>
          <a:bodyPr wrap="square" lIns="0" tIns="0" rIns="0" bIns="0" rtlCol="0" anchor="ctr"/>
          <a:lstStyle/>
          <a:p>
            <a:pPr marL="0" indent="0">
              <a:buNone/>
            </a:pPr>
            <a:r>
              <a:rPr lang="en-US" sz="1200" b="1" dirty="0">
                <a:solidFill>
                  <a:srgbClr val="9B59D6"/>
                </a:solidFill>
              </a:rPr>
              <a:t>Async Batch Processing</a:t>
            </a:r>
            <a:endParaRPr lang="en-US" sz="1200" dirty="0"/>
          </a:p>
        </p:txBody>
      </p:sp>
      <p:sp>
        <p:nvSpPr>
          <p:cNvPr id="40" name="Text 37"/>
          <p:cNvSpPr/>
          <p:nvPr/>
        </p:nvSpPr>
        <p:spPr>
          <a:xfrm>
            <a:off x="4910328" y="4261104"/>
            <a:ext cx="3840480" cy="484632"/>
          </a:xfrm>
          <a:prstGeom prst="rect">
            <a:avLst/>
          </a:prstGeom>
          <a:noFill/>
          <a:ln/>
        </p:spPr>
        <p:txBody>
          <a:bodyPr wrap="square" lIns="0" tIns="0" rIns="0" bIns="0" rtlCol="0" anchor="ctr"/>
          <a:lstStyle/>
          <a:p>
            <a:pPr marL="0" indent="0">
              <a:buNone/>
            </a:pPr>
            <a:r>
              <a:rPr lang="en-US" sz="1000" dirty="0">
                <a:solidFill>
                  <a:srgbClr val="E8EDF5"/>
                </a:solidFill>
              </a:rPr>
              <a:t>For high-volume production, implement async batching to Gemini API with retry logic. LangGraph makes this straightforward to add as new nodes.</a:t>
            </a:r>
            <a:endParaRPr lang="en-US" sz="1000" dirty="0"/>
          </a:p>
        </p:txBody>
      </p:sp>
      <p:sp>
        <p:nvSpPr>
          <p:cNvPr id="41" name="Shape 38"/>
          <p:cNvSpPr/>
          <p:nvPr/>
        </p:nvSpPr>
        <p:spPr>
          <a:xfrm>
            <a:off x="274320" y="3031236"/>
            <a:ext cx="4160520" cy="1325880"/>
          </a:xfrm>
          <a:prstGeom prst="rect">
            <a:avLst/>
          </a:prstGeom>
          <a:solidFill>
            <a:srgbClr val="161E45"/>
          </a:solidFill>
          <a:ln w="12700">
            <a:solidFill>
              <a:srgbClr val="1E2A5A"/>
            </a:solidFill>
            <a:prstDash val="solid"/>
          </a:ln>
        </p:spPr>
        <p:txBody>
          <a:bodyPr/>
          <a:lstStyle/>
          <a:p>
            <a:endParaRPr lang="en-US"/>
          </a:p>
        </p:txBody>
      </p:sp>
      <p:sp>
        <p:nvSpPr>
          <p:cNvPr id="42" name="Shape 39"/>
          <p:cNvSpPr/>
          <p:nvPr/>
        </p:nvSpPr>
        <p:spPr>
          <a:xfrm>
            <a:off x="274320" y="3031236"/>
            <a:ext cx="54864" cy="1325880"/>
          </a:xfrm>
          <a:prstGeom prst="rect">
            <a:avLst/>
          </a:prstGeom>
          <a:solidFill>
            <a:srgbClr val="F59E0B"/>
          </a:solidFill>
          <a:ln w="12700">
            <a:solidFill>
              <a:srgbClr val="F59E0B"/>
            </a:solidFill>
            <a:prstDash val="solid"/>
          </a:ln>
        </p:spPr>
        <p:txBody>
          <a:bodyPr/>
          <a:lstStyle/>
          <a:p>
            <a:endParaRPr lang="en-US"/>
          </a:p>
        </p:txBody>
      </p:sp>
      <p:sp>
        <p:nvSpPr>
          <p:cNvPr id="43" name="Text 40"/>
          <p:cNvSpPr/>
          <p:nvPr/>
        </p:nvSpPr>
        <p:spPr>
          <a:xfrm>
            <a:off x="475488" y="3086100"/>
            <a:ext cx="3840480" cy="256032"/>
          </a:xfrm>
          <a:prstGeom prst="rect">
            <a:avLst/>
          </a:prstGeom>
          <a:noFill/>
          <a:ln/>
        </p:spPr>
        <p:txBody>
          <a:bodyPr wrap="square" lIns="0" tIns="0" rIns="0" bIns="0" rtlCol="0" anchor="ctr"/>
          <a:lstStyle/>
          <a:p>
            <a:pPr marL="0" indent="0">
              <a:buNone/>
            </a:pPr>
            <a:r>
              <a:rPr lang="en-US" sz="1200" b="1" dirty="0">
                <a:solidFill>
                  <a:srgbClr val="F59E0B"/>
                </a:solidFill>
              </a:rPr>
              <a:t>Tier Progression</a:t>
            </a:r>
            <a:endParaRPr lang="en-US" sz="1200" dirty="0"/>
          </a:p>
        </p:txBody>
      </p:sp>
      <p:sp>
        <p:nvSpPr>
          <p:cNvPr id="44" name="Text 41"/>
          <p:cNvSpPr/>
          <p:nvPr/>
        </p:nvSpPr>
        <p:spPr>
          <a:xfrm>
            <a:off x="475488" y="3378708"/>
            <a:ext cx="3840480" cy="950976"/>
          </a:xfrm>
          <a:prstGeom prst="rect">
            <a:avLst/>
          </a:prstGeom>
          <a:noFill/>
          <a:ln/>
        </p:spPr>
        <p:txBody>
          <a:bodyPr wrap="square" lIns="0" tIns="0" rIns="0" bIns="0" rtlCol="0" anchor="ctr"/>
          <a:lstStyle/>
          <a:p>
            <a:pPr marL="0" indent="0">
              <a:buNone/>
            </a:pPr>
            <a:r>
              <a:rPr lang="en-US" sz="1000" dirty="0">
                <a:solidFill>
                  <a:srgbClr val="E8EDF5"/>
                </a:solidFill>
              </a:rPr>
              <a:t>Clear tier progression confirms the progressive architecture design: each LLM addition measurably improves results. T5's unified approach (OCR, extraction, and correction in a single Gemini call) achieves best accuracy (96.4), 100% extraction rate, lowest latency, and fewest failure points.</a:t>
            </a:r>
            <a:endParaRPr lang="en-US" sz="1000" dirty="0"/>
          </a:p>
        </p:txBody>
      </p:sp>
      <p:sp>
        <p:nvSpPr>
          <p:cNvPr id="7" name="Text 12">
            <a:extLst>
              <a:ext uri="{FF2B5EF4-FFF2-40B4-BE49-F238E27FC236}">
                <a16:creationId xmlns:a16="http://schemas.microsoft.com/office/drawing/2014/main" id="{A019E466-7610-3C5F-94B1-77EBE7C92FB3}"/>
              </a:ext>
            </a:extLst>
          </p:cNvPr>
          <p:cNvSpPr/>
          <p:nvPr/>
        </p:nvSpPr>
        <p:spPr>
          <a:xfrm>
            <a:off x="274320" y="4983480"/>
            <a:ext cx="7315200" cy="164592"/>
          </a:xfrm>
          <a:prstGeom prst="rect">
            <a:avLst/>
          </a:prstGeom>
          <a:noFill/>
          <a:ln/>
        </p:spPr>
        <p:txBody>
          <a:bodyPr wrap="square" lIns="0" tIns="0" rIns="0" bIns="0" rtlCol="0" anchor="ctr"/>
          <a:lstStyle/>
          <a:p>
            <a:pPr marL="0" indent="0">
              <a:buNone/>
            </a:pPr>
            <a:r>
              <a:rPr lang="en-US" sz="700" dirty="0">
                <a:solidFill>
                  <a:srgbClr val="8A99C0"/>
                </a:solidFill>
              </a:rPr>
              <a:t>Bren Jay Magtalas  |  AI Labs Assessment  |  March 2026</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080C22"/>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C2E0"/>
          </a:solidFill>
          <a:ln w="12700">
            <a:solidFill>
              <a:srgbClr val="00C2E0"/>
            </a:solidFill>
            <a:prstDash val="solid"/>
          </a:ln>
        </p:spPr>
        <p:txBody>
          <a:bodyPr/>
          <a:lstStyle/>
          <a:p>
            <a:endParaRPr lang="en-US"/>
          </a:p>
        </p:txBody>
      </p:sp>
      <p:sp>
        <p:nvSpPr>
          <p:cNvPr id="3" name="Shape 1"/>
          <p:cNvSpPr/>
          <p:nvPr/>
        </p:nvSpPr>
        <p:spPr>
          <a:xfrm>
            <a:off x="5943600" y="-457200"/>
            <a:ext cx="4572000" cy="4572000"/>
          </a:xfrm>
          <a:prstGeom prst="line">
            <a:avLst/>
          </a:prstGeom>
          <a:solidFill>
            <a:srgbClr val="7C3AED">
              <a:alpha val="7000"/>
            </a:srgbClr>
          </a:solidFill>
          <a:ln w="12700">
            <a:solidFill>
              <a:srgbClr val="7C3AED">
                <a:alpha val="25000"/>
              </a:srgbClr>
            </a:solidFill>
            <a:prstDash val="solid"/>
          </a:ln>
        </p:spPr>
        <p:txBody>
          <a:bodyPr/>
          <a:lstStyle/>
          <a:p>
            <a:endParaRPr lang="en-US"/>
          </a:p>
        </p:txBody>
      </p:sp>
      <p:sp>
        <p:nvSpPr>
          <p:cNvPr id="4" name="Text 2"/>
          <p:cNvSpPr/>
          <p:nvPr/>
        </p:nvSpPr>
        <p:spPr>
          <a:xfrm>
            <a:off x="457200" y="320040"/>
            <a:ext cx="7315200" cy="4114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AI Tool Usage Documentation</a:t>
            </a:r>
            <a:endParaRPr lang="en-US" sz="2200" dirty="0"/>
          </a:p>
        </p:txBody>
      </p:sp>
      <p:graphicFrame>
        <p:nvGraphicFramePr>
          <p:cNvPr id="21" name="Table 0"/>
          <p:cNvGraphicFramePr>
            <a:graphicFrameLocks noGrp="1"/>
          </p:cNvGraphicFramePr>
          <p:nvPr>
            <p:extLst>
              <p:ext uri="{D42A27DB-BD31-4B8C-83A1-F6EECF244321}">
                <p14:modId xmlns:p14="http://schemas.microsoft.com/office/powerpoint/2010/main" val="2524539955"/>
              </p:ext>
            </p:extLst>
          </p:nvPr>
        </p:nvGraphicFramePr>
        <p:xfrm>
          <a:off x="274319" y="1097280"/>
          <a:ext cx="8595360" cy="1402752"/>
        </p:xfrm>
        <a:graphic>
          <a:graphicData uri="http://schemas.openxmlformats.org/drawingml/2006/table">
            <a:tbl>
              <a:tblPr/>
              <a:tblGrid>
                <a:gridCol w="2323070">
                  <a:extLst>
                    <a:ext uri="{9D8B030D-6E8A-4147-A177-3AD203B41FA5}">
                      <a16:colId xmlns:a16="http://schemas.microsoft.com/office/drawing/2014/main" val="20000"/>
                    </a:ext>
                  </a:extLst>
                </a:gridCol>
                <a:gridCol w="6272290">
                  <a:extLst>
                    <a:ext uri="{9D8B030D-6E8A-4147-A177-3AD203B41FA5}">
                      <a16:colId xmlns:a16="http://schemas.microsoft.com/office/drawing/2014/main" val="20002"/>
                    </a:ext>
                  </a:extLst>
                </a:gridCol>
              </a:tblGrid>
              <a:tr h="348598">
                <a:tc>
                  <a:txBody>
                    <a:bodyPr/>
                    <a:lstStyle/>
                    <a:p>
                      <a:pPr marL="0" indent="0">
                        <a:buNone/>
                      </a:pPr>
                      <a:r>
                        <a:rPr lang="en-US" sz="1000" b="1" dirty="0">
                          <a:solidFill>
                            <a:srgbClr val="FFFFFF"/>
                          </a:solidFill>
                        </a:rPr>
                        <a:t>Tool</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tc>
                  <a:txBody>
                    <a:bodyPr/>
                    <a:lstStyle/>
                    <a:p>
                      <a:pPr marL="0" indent="0">
                        <a:buNone/>
                      </a:pPr>
                      <a:r>
                        <a:rPr lang="en-US" sz="1000" b="1" dirty="0">
                          <a:solidFill>
                            <a:srgbClr val="FFFFFF"/>
                          </a:solidFill>
                        </a:rPr>
                        <a:t>How &amp; Where Used</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0D1340"/>
                    </a:solidFill>
                  </a:tcPr>
                </a:tc>
                <a:extLst>
                  <a:ext uri="{0D108BD9-81ED-4DB2-BD59-A6C34878D82A}">
                    <a16:rowId xmlns:a16="http://schemas.microsoft.com/office/drawing/2014/main" val="10000"/>
                  </a:ext>
                </a:extLst>
              </a:tr>
              <a:tr h="336577">
                <a:tc>
                  <a:txBody>
                    <a:bodyPr/>
                    <a:lstStyle/>
                    <a:p>
                      <a:pPr marL="0" indent="0">
                        <a:buNone/>
                      </a:pPr>
                      <a:r>
                        <a:rPr lang="en-US" sz="1000" b="1" dirty="0">
                          <a:solidFill>
                            <a:srgbClr val="00C2E0"/>
                          </a:solidFill>
                        </a:rPr>
                        <a:t>Claude (Anthropic)</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buNone/>
                      </a:pPr>
                      <a:r>
                        <a:rPr lang="en-US" sz="1000" dirty="0">
                          <a:solidFill>
                            <a:schemeClr val="bg1"/>
                          </a:solidFill>
                        </a:rPr>
                        <a:t>Primary development assistant throughout both challenges (code snippet generation, architecture decision-making, debugging, and markdown documentation)</a:t>
                      </a:r>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10001"/>
                  </a:ext>
                </a:extLst>
              </a:tr>
              <a:tr h="336577">
                <a:tc>
                  <a:txBody>
                    <a:bodyPr/>
                    <a:lstStyle/>
                    <a:p>
                      <a:pPr marL="0" indent="0">
                        <a:buNone/>
                      </a:pPr>
                      <a:r>
                        <a:rPr lang="en-US" sz="1000" b="1" dirty="0">
                          <a:solidFill>
                            <a:srgbClr val="00C2E0"/>
                          </a:solidFill>
                        </a:rPr>
                        <a:t>Context7 MCP</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buNone/>
                      </a:pPr>
                      <a:r>
                        <a:rPr lang="en-US" sz="1000" dirty="0">
                          <a:solidFill>
                            <a:schemeClr val="bg1"/>
                          </a:solidFill>
                        </a:rPr>
                        <a:t>Real-time API documentation lookup for Python libraries</a:t>
                      </a:r>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3949175799"/>
                  </a:ext>
                </a:extLst>
              </a:tr>
              <a:tr h="336577">
                <a:tc>
                  <a:txBody>
                    <a:bodyPr/>
                    <a:lstStyle/>
                    <a:p>
                      <a:pPr marL="0" indent="0">
                        <a:buNone/>
                      </a:pPr>
                      <a:r>
                        <a:rPr lang="en-US" sz="1000" b="1" dirty="0">
                          <a:solidFill>
                            <a:srgbClr val="00C2E0"/>
                          </a:solidFill>
                        </a:rPr>
                        <a:t>Claude </a:t>
                      </a:r>
                      <a:r>
                        <a:rPr lang="en-US" sz="1000" b="1" dirty="0" err="1">
                          <a:solidFill>
                            <a:srgbClr val="00C2E0"/>
                          </a:solidFill>
                        </a:rPr>
                        <a:t>Cowork</a:t>
                      </a:r>
                      <a:endParaRPr lang="en-US" sz="1000" dirty="0"/>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tc>
                  <a:txBody>
                    <a:bodyPr/>
                    <a:lstStyle/>
                    <a:p>
                      <a:pPr marL="0" indent="0">
                        <a:buNone/>
                      </a:pPr>
                      <a:r>
                        <a:rPr lang="en-US" sz="1000" dirty="0">
                          <a:solidFill>
                            <a:schemeClr val="bg1"/>
                          </a:solidFill>
                        </a:rPr>
                        <a:t>Generated initial slide deck structure (heavily modified and tailored manually)</a:t>
                      </a:r>
                    </a:p>
                  </a:txBody>
                  <a:tcPr marL="76200" marR="76200" marT="38100" marB="38100">
                    <a:lnL w="6350" cap="flat" cmpd="sng" algn="ctr">
                      <a:solidFill>
                        <a:srgbClr val="1E2A5A"/>
                      </a:solidFill>
                      <a:prstDash val="solid"/>
                      <a:round/>
                      <a:headEnd type="none" w="med" len="med"/>
                      <a:tailEnd type="none" w="med" len="med"/>
                    </a:lnL>
                    <a:lnR w="6350" cap="flat" cmpd="sng" algn="ctr">
                      <a:solidFill>
                        <a:srgbClr val="1E2A5A"/>
                      </a:solidFill>
                      <a:prstDash val="solid"/>
                      <a:round/>
                      <a:headEnd type="none" w="med" len="med"/>
                      <a:tailEnd type="none" w="med" len="med"/>
                    </a:lnR>
                    <a:lnT w="6350" cap="flat" cmpd="sng" algn="ctr">
                      <a:solidFill>
                        <a:srgbClr val="1E2A5A"/>
                      </a:solidFill>
                      <a:prstDash val="solid"/>
                      <a:round/>
                      <a:headEnd type="none" w="med" len="med"/>
                      <a:tailEnd type="none" w="med" len="med"/>
                    </a:lnT>
                    <a:lnB w="6350" cap="flat" cmpd="sng" algn="ctr">
                      <a:solidFill>
                        <a:srgbClr val="1E2A5A"/>
                      </a:solidFill>
                      <a:prstDash val="solid"/>
                      <a:round/>
                      <a:headEnd type="none" w="med" len="med"/>
                      <a:tailEnd type="none" w="med" len="med"/>
                    </a:lnB>
                    <a:solidFill>
                      <a:srgbClr val="111838"/>
                    </a:solidFill>
                  </a:tcPr>
                </a:tc>
                <a:extLst>
                  <a:ext uri="{0D108BD9-81ED-4DB2-BD59-A6C34878D82A}">
                    <a16:rowId xmlns:a16="http://schemas.microsoft.com/office/drawing/2014/main" val="892858462"/>
                  </a:ext>
                </a:extLst>
              </a:tr>
            </a:tbl>
          </a:graphicData>
        </a:graphic>
      </p:graphicFrame>
      <p:sp>
        <p:nvSpPr>
          <p:cNvPr id="7" name="Shape 4"/>
          <p:cNvSpPr/>
          <p:nvPr/>
        </p:nvSpPr>
        <p:spPr>
          <a:xfrm>
            <a:off x="0" y="4434840"/>
            <a:ext cx="9144000" cy="708660"/>
          </a:xfrm>
          <a:prstGeom prst="rect">
            <a:avLst/>
          </a:prstGeom>
          <a:solidFill>
            <a:srgbClr val="0D1340"/>
          </a:solidFill>
          <a:ln w="12700">
            <a:solidFill>
              <a:srgbClr val="0D1340"/>
            </a:solidFill>
            <a:prstDash val="solid"/>
          </a:ln>
        </p:spPr>
        <p:txBody>
          <a:bodyPr/>
          <a:lstStyle/>
          <a:p>
            <a:endParaRPr lang="en-US"/>
          </a:p>
        </p:txBody>
      </p:sp>
      <p:sp>
        <p:nvSpPr>
          <p:cNvPr id="8" name="Shape 5"/>
          <p:cNvSpPr/>
          <p:nvPr/>
        </p:nvSpPr>
        <p:spPr>
          <a:xfrm>
            <a:off x="0" y="4434840"/>
            <a:ext cx="9144000" cy="32004"/>
          </a:xfrm>
          <a:prstGeom prst="rect">
            <a:avLst/>
          </a:prstGeom>
          <a:solidFill>
            <a:srgbClr val="00C2E0"/>
          </a:solidFill>
          <a:ln w="12700">
            <a:solidFill>
              <a:srgbClr val="00C2E0"/>
            </a:solidFill>
            <a:prstDash val="solid"/>
          </a:ln>
        </p:spPr>
        <p:txBody>
          <a:bodyPr/>
          <a:lstStyle/>
          <a:p>
            <a:endParaRPr lang="en-US"/>
          </a:p>
        </p:txBody>
      </p:sp>
      <p:sp>
        <p:nvSpPr>
          <p:cNvPr id="10" name="Text 7"/>
          <p:cNvSpPr/>
          <p:nvPr/>
        </p:nvSpPr>
        <p:spPr>
          <a:xfrm>
            <a:off x="457200" y="4873752"/>
            <a:ext cx="8229600" cy="201168"/>
          </a:xfrm>
          <a:prstGeom prst="rect">
            <a:avLst/>
          </a:prstGeom>
          <a:noFill/>
          <a:ln/>
        </p:spPr>
        <p:txBody>
          <a:bodyPr wrap="square" lIns="0" tIns="0" rIns="0" bIns="0" rtlCol="0" anchor="ctr"/>
          <a:lstStyle/>
          <a:p>
            <a:pPr marL="0" indent="0">
              <a:buNone/>
            </a:pPr>
            <a:r>
              <a:rPr lang="en-US" sz="800" dirty="0">
                <a:solidFill>
                  <a:srgbClr val="8A99C0"/>
                </a:solidFill>
              </a:rPr>
              <a:t>Bren Jay Magtalas  ·  magtalasbrenjay23@gmail.com  ·  March 2026</a:t>
            </a:r>
            <a:endParaRPr lang="en-US" sz="800" dirty="0"/>
          </a:p>
        </p:txBody>
      </p:sp>
      <p:sp>
        <p:nvSpPr>
          <p:cNvPr id="11" name="Text 8"/>
          <p:cNvSpPr/>
          <p:nvPr/>
        </p:nvSpPr>
        <p:spPr>
          <a:xfrm>
            <a:off x="5029200" y="4507992"/>
            <a:ext cx="3657600" cy="384048"/>
          </a:xfrm>
          <a:prstGeom prst="rect">
            <a:avLst/>
          </a:prstGeom>
          <a:noFill/>
          <a:ln/>
        </p:spPr>
        <p:txBody>
          <a:bodyPr wrap="square" lIns="0" tIns="0" rIns="0" bIns="0" rtlCol="0" anchor="ctr"/>
          <a:lstStyle/>
          <a:p>
            <a:pPr marL="0" indent="0" algn="r">
              <a:buNone/>
            </a:pPr>
            <a:r>
              <a:rPr lang="en-US" sz="1400" b="1" dirty="0">
                <a:solidFill>
                  <a:srgbClr val="FFFFFF"/>
                </a:solidFill>
              </a:rPr>
              <a:t>Thank you — ready for Q&amp;A</a:t>
            </a:r>
            <a:endParaRPr lang="en-US" sz="1400" dirty="0"/>
          </a:p>
        </p:txBody>
      </p:sp>
      <p:sp>
        <p:nvSpPr>
          <p:cNvPr id="6" name="Shape 14">
            <a:extLst>
              <a:ext uri="{FF2B5EF4-FFF2-40B4-BE49-F238E27FC236}">
                <a16:creationId xmlns:a16="http://schemas.microsoft.com/office/drawing/2014/main" id="{77073017-4E9E-987F-28C6-5BC1B65A4C71}"/>
              </a:ext>
            </a:extLst>
          </p:cNvPr>
          <p:cNvSpPr/>
          <p:nvPr/>
        </p:nvSpPr>
        <p:spPr>
          <a:xfrm>
            <a:off x="274319" y="2602902"/>
            <a:ext cx="8595360" cy="368898"/>
          </a:xfrm>
          <a:prstGeom prst="rect">
            <a:avLst/>
          </a:prstGeom>
          <a:solidFill>
            <a:srgbClr val="10B981">
              <a:alpha val="15000"/>
            </a:srgbClr>
          </a:solidFill>
          <a:ln w="12700">
            <a:solidFill>
              <a:srgbClr val="10B981"/>
            </a:solidFill>
            <a:prstDash val="solid"/>
          </a:ln>
        </p:spPr>
        <p:txBody>
          <a:bodyPr/>
          <a:lstStyle/>
          <a:p>
            <a:endParaRPr lang="en-US"/>
          </a:p>
        </p:txBody>
      </p:sp>
      <p:sp>
        <p:nvSpPr>
          <p:cNvPr id="9" name="Text 15">
            <a:extLst>
              <a:ext uri="{FF2B5EF4-FFF2-40B4-BE49-F238E27FC236}">
                <a16:creationId xmlns:a16="http://schemas.microsoft.com/office/drawing/2014/main" id="{42EE3B7D-D08E-8AAB-0523-3D4872C483BF}"/>
              </a:ext>
            </a:extLst>
          </p:cNvPr>
          <p:cNvSpPr/>
          <p:nvPr/>
        </p:nvSpPr>
        <p:spPr>
          <a:xfrm>
            <a:off x="457199" y="2602902"/>
            <a:ext cx="8229600" cy="368898"/>
          </a:xfrm>
          <a:prstGeom prst="rect">
            <a:avLst/>
          </a:prstGeom>
          <a:noFill/>
          <a:ln/>
        </p:spPr>
        <p:txBody>
          <a:bodyPr wrap="square" lIns="0" tIns="0" rIns="0" bIns="0" rtlCol="0" anchor="ctr"/>
          <a:lstStyle/>
          <a:p>
            <a:pPr marL="0" indent="0" algn="ctr">
              <a:buNone/>
            </a:pPr>
            <a:r>
              <a:rPr lang="en-US" sz="1000" b="1" dirty="0">
                <a:solidFill>
                  <a:srgbClr val="10B981"/>
                </a:solidFill>
              </a:rPr>
              <a:t>All code was reviewed, modified, integrated, and tested manually. Claude was used in a chat interface only and had no direct access to the codebase.</a:t>
            </a:r>
          </a:p>
          <a:p>
            <a:pPr marL="0" indent="0" algn="ctr">
              <a:buNone/>
            </a:pPr>
            <a:r>
              <a:rPr lang="en-US" sz="1000" b="1" dirty="0">
                <a:solidFill>
                  <a:srgbClr val="10B981"/>
                </a:solidFill>
              </a:rPr>
              <a:t>AI-generated outputs were treated as a starting point, not a final product.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80C22"/>
        </a:solidFill>
        <a:effectLst/>
      </p:bgPr>
    </p:bg>
    <p:spTree>
      <p:nvGrpSpPr>
        <p:cNvPr id="1" name="">
          <a:extLst>
            <a:ext uri="{FF2B5EF4-FFF2-40B4-BE49-F238E27FC236}">
              <a16:creationId xmlns:a16="http://schemas.microsoft.com/office/drawing/2014/main" id="{15E0CECB-76F3-714C-54D1-3E46AD8C57F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A98793A-BF96-A78B-36CE-2561166D15AE}"/>
              </a:ext>
            </a:extLst>
          </p:cNvPr>
          <p:cNvSpPr/>
          <p:nvPr/>
        </p:nvSpPr>
        <p:spPr>
          <a:xfrm>
            <a:off x="0" y="0"/>
            <a:ext cx="9144000" cy="36576"/>
          </a:xfrm>
          <a:prstGeom prst="rect">
            <a:avLst/>
          </a:prstGeom>
          <a:solidFill>
            <a:srgbClr val="00C2E0"/>
          </a:solidFill>
          <a:ln w="12700">
            <a:solidFill>
              <a:srgbClr val="00C2E0"/>
            </a:solidFill>
            <a:prstDash val="solid"/>
          </a:ln>
        </p:spPr>
        <p:txBody>
          <a:bodyPr/>
          <a:lstStyle/>
          <a:p>
            <a:endParaRPr lang="en-US"/>
          </a:p>
        </p:txBody>
      </p:sp>
      <p:sp>
        <p:nvSpPr>
          <p:cNvPr id="3" name="Shape 1">
            <a:extLst>
              <a:ext uri="{FF2B5EF4-FFF2-40B4-BE49-F238E27FC236}">
                <a16:creationId xmlns:a16="http://schemas.microsoft.com/office/drawing/2014/main" id="{56950DE0-730B-5C6A-8C67-CD21A2624603}"/>
              </a:ext>
            </a:extLst>
          </p:cNvPr>
          <p:cNvSpPr/>
          <p:nvPr/>
        </p:nvSpPr>
        <p:spPr>
          <a:xfrm>
            <a:off x="5943600" y="-457200"/>
            <a:ext cx="4572000" cy="4572000"/>
          </a:xfrm>
          <a:prstGeom prst="line">
            <a:avLst/>
          </a:prstGeom>
          <a:solidFill>
            <a:srgbClr val="7C3AED">
              <a:alpha val="7000"/>
            </a:srgbClr>
          </a:solidFill>
          <a:ln w="12700">
            <a:solidFill>
              <a:srgbClr val="7C3AED">
                <a:alpha val="25000"/>
              </a:srgbClr>
            </a:solidFill>
            <a:prstDash val="solid"/>
          </a:ln>
        </p:spPr>
        <p:txBody>
          <a:bodyPr/>
          <a:lstStyle/>
          <a:p>
            <a:endParaRPr lang="en-US"/>
          </a:p>
        </p:txBody>
      </p:sp>
      <p:sp>
        <p:nvSpPr>
          <p:cNvPr id="4" name="Text 2">
            <a:extLst>
              <a:ext uri="{FF2B5EF4-FFF2-40B4-BE49-F238E27FC236}">
                <a16:creationId xmlns:a16="http://schemas.microsoft.com/office/drawing/2014/main" id="{4B14AA8A-DC0E-81BB-AB76-1E325F8CF010}"/>
              </a:ext>
            </a:extLst>
          </p:cNvPr>
          <p:cNvSpPr/>
          <p:nvPr/>
        </p:nvSpPr>
        <p:spPr>
          <a:xfrm>
            <a:off x="457200" y="320040"/>
            <a:ext cx="7315200" cy="4114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References</a:t>
            </a:r>
            <a:endParaRPr lang="en-US" sz="2200" dirty="0"/>
          </a:p>
        </p:txBody>
      </p:sp>
      <p:sp>
        <p:nvSpPr>
          <p:cNvPr id="7" name="Shape 4">
            <a:extLst>
              <a:ext uri="{FF2B5EF4-FFF2-40B4-BE49-F238E27FC236}">
                <a16:creationId xmlns:a16="http://schemas.microsoft.com/office/drawing/2014/main" id="{71764698-817C-9D47-8334-8714E1ECE663}"/>
              </a:ext>
            </a:extLst>
          </p:cNvPr>
          <p:cNvSpPr/>
          <p:nvPr/>
        </p:nvSpPr>
        <p:spPr>
          <a:xfrm>
            <a:off x="0" y="4434840"/>
            <a:ext cx="9144000" cy="708660"/>
          </a:xfrm>
          <a:prstGeom prst="rect">
            <a:avLst/>
          </a:prstGeom>
          <a:solidFill>
            <a:srgbClr val="0D1340"/>
          </a:solidFill>
          <a:ln w="12700">
            <a:solidFill>
              <a:srgbClr val="0D1340"/>
            </a:solidFill>
            <a:prstDash val="solid"/>
          </a:ln>
        </p:spPr>
        <p:txBody>
          <a:bodyPr/>
          <a:lstStyle/>
          <a:p>
            <a:endParaRPr lang="en-US"/>
          </a:p>
        </p:txBody>
      </p:sp>
      <p:sp>
        <p:nvSpPr>
          <p:cNvPr id="8" name="Shape 5">
            <a:extLst>
              <a:ext uri="{FF2B5EF4-FFF2-40B4-BE49-F238E27FC236}">
                <a16:creationId xmlns:a16="http://schemas.microsoft.com/office/drawing/2014/main" id="{D330D53C-FADA-D043-D211-A8F24185D069}"/>
              </a:ext>
            </a:extLst>
          </p:cNvPr>
          <p:cNvSpPr/>
          <p:nvPr/>
        </p:nvSpPr>
        <p:spPr>
          <a:xfrm>
            <a:off x="0" y="4434840"/>
            <a:ext cx="9144000" cy="32004"/>
          </a:xfrm>
          <a:prstGeom prst="rect">
            <a:avLst/>
          </a:prstGeom>
          <a:solidFill>
            <a:srgbClr val="00C2E0"/>
          </a:solidFill>
          <a:ln w="12700">
            <a:solidFill>
              <a:srgbClr val="00C2E0"/>
            </a:solidFill>
            <a:prstDash val="solid"/>
          </a:ln>
        </p:spPr>
        <p:txBody>
          <a:bodyPr/>
          <a:lstStyle/>
          <a:p>
            <a:endParaRPr lang="en-US"/>
          </a:p>
        </p:txBody>
      </p:sp>
      <p:sp>
        <p:nvSpPr>
          <p:cNvPr id="10" name="Text 7">
            <a:extLst>
              <a:ext uri="{FF2B5EF4-FFF2-40B4-BE49-F238E27FC236}">
                <a16:creationId xmlns:a16="http://schemas.microsoft.com/office/drawing/2014/main" id="{111F41F9-EF5E-0537-DD9B-4765FDEA0A9E}"/>
              </a:ext>
            </a:extLst>
          </p:cNvPr>
          <p:cNvSpPr/>
          <p:nvPr/>
        </p:nvSpPr>
        <p:spPr>
          <a:xfrm>
            <a:off x="457200" y="4873752"/>
            <a:ext cx="8229600" cy="201168"/>
          </a:xfrm>
          <a:prstGeom prst="rect">
            <a:avLst/>
          </a:prstGeom>
          <a:noFill/>
          <a:ln/>
        </p:spPr>
        <p:txBody>
          <a:bodyPr wrap="square" lIns="0" tIns="0" rIns="0" bIns="0" rtlCol="0" anchor="ctr"/>
          <a:lstStyle/>
          <a:p>
            <a:pPr marL="0" indent="0">
              <a:buNone/>
            </a:pPr>
            <a:r>
              <a:rPr lang="en-US" sz="800" dirty="0">
                <a:solidFill>
                  <a:srgbClr val="8A99C0"/>
                </a:solidFill>
              </a:rPr>
              <a:t>Bren Jay Magtalas  ·  magtalasbrenjay23@gmail.com  ·  March 2026</a:t>
            </a:r>
            <a:endParaRPr lang="en-US" sz="800" dirty="0"/>
          </a:p>
        </p:txBody>
      </p:sp>
      <p:sp>
        <p:nvSpPr>
          <p:cNvPr id="11" name="Text 8">
            <a:extLst>
              <a:ext uri="{FF2B5EF4-FFF2-40B4-BE49-F238E27FC236}">
                <a16:creationId xmlns:a16="http://schemas.microsoft.com/office/drawing/2014/main" id="{2358E574-3193-2624-5878-C8ED5E12B4D1}"/>
              </a:ext>
            </a:extLst>
          </p:cNvPr>
          <p:cNvSpPr/>
          <p:nvPr/>
        </p:nvSpPr>
        <p:spPr>
          <a:xfrm>
            <a:off x="5029200" y="4507992"/>
            <a:ext cx="3657600" cy="384048"/>
          </a:xfrm>
          <a:prstGeom prst="rect">
            <a:avLst/>
          </a:prstGeom>
          <a:noFill/>
          <a:ln/>
        </p:spPr>
        <p:txBody>
          <a:bodyPr wrap="square" lIns="0" tIns="0" rIns="0" bIns="0" rtlCol="0" anchor="ctr"/>
          <a:lstStyle/>
          <a:p>
            <a:pPr marL="0" indent="0" algn="r">
              <a:buNone/>
            </a:pPr>
            <a:r>
              <a:rPr lang="en-US" sz="1400" b="1" dirty="0">
                <a:solidFill>
                  <a:srgbClr val="FFFFFF"/>
                </a:solidFill>
              </a:rPr>
              <a:t>Thank you — ready for Q&amp;A</a:t>
            </a:r>
            <a:endParaRPr lang="en-US" sz="1400" dirty="0"/>
          </a:p>
        </p:txBody>
      </p:sp>
      <p:sp>
        <p:nvSpPr>
          <p:cNvPr id="12" name="TextBox 11">
            <a:extLst>
              <a:ext uri="{FF2B5EF4-FFF2-40B4-BE49-F238E27FC236}">
                <a16:creationId xmlns:a16="http://schemas.microsoft.com/office/drawing/2014/main" id="{4A81E0B9-87F8-F3DE-602B-F8E2EEC9610E}"/>
              </a:ext>
            </a:extLst>
          </p:cNvPr>
          <p:cNvSpPr txBox="1"/>
          <p:nvPr/>
        </p:nvSpPr>
        <p:spPr>
          <a:xfrm>
            <a:off x="677635" y="917839"/>
            <a:ext cx="8205107" cy="2862322"/>
          </a:xfrm>
          <a:prstGeom prst="rect">
            <a:avLst/>
          </a:prstGeom>
          <a:noFill/>
        </p:spPr>
        <p:txBody>
          <a:bodyPr wrap="square">
            <a:spAutoFit/>
          </a:bodyPr>
          <a:lstStyle/>
          <a:p>
            <a:pPr marL="285750" indent="-285750">
              <a:buFont typeface="Arial" panose="020B0604020202020204" pitchFamily="34" charset="0"/>
              <a:buChar char="•"/>
            </a:pPr>
            <a:r>
              <a:rPr lang="en-US" dirty="0">
                <a:solidFill>
                  <a:schemeClr val="bg1"/>
                </a:solidFill>
                <a:hlinkClick r:id="rId3"/>
              </a:rPr>
              <a:t>https://github.com/BrenJay23/ai_labs_assessment</a:t>
            </a:r>
          </a:p>
          <a:p>
            <a:pPr marL="285750" indent="-285750">
              <a:buFont typeface="Arial" panose="020B0604020202020204" pitchFamily="34" charset="0"/>
              <a:buChar char="•"/>
            </a:pPr>
            <a:r>
              <a:rPr lang="en-US" dirty="0">
                <a:solidFill>
                  <a:schemeClr val="bg1"/>
                </a:solidFill>
                <a:hlinkClick r:id="rId3"/>
              </a:rPr>
              <a:t>https://www.kaggle.com/datasets/jsphyg/weather-dataset-rattle-package/data</a:t>
            </a:r>
            <a:endParaRPr lang="en-US" dirty="0">
              <a:solidFill>
                <a:schemeClr val="bg1"/>
              </a:solidFill>
            </a:endParaRPr>
          </a:p>
          <a:p>
            <a:pPr marL="285750" indent="-285750">
              <a:buFont typeface="Arial" panose="020B0604020202020204" pitchFamily="34" charset="0"/>
              <a:buChar char="•"/>
            </a:pPr>
            <a:r>
              <a:rPr lang="en-US" dirty="0">
                <a:solidFill>
                  <a:schemeClr val="bg1"/>
                </a:solidFill>
                <a:hlinkClick r:id="rId4"/>
              </a:rPr>
              <a:t>https://globalsolaratlas.info/download/australia</a:t>
            </a:r>
            <a:endParaRPr lang="en-US" dirty="0">
              <a:solidFill>
                <a:schemeClr val="bg1"/>
              </a:solidFill>
            </a:endParaRPr>
          </a:p>
          <a:p>
            <a:pPr marL="285750" indent="-285750">
              <a:buFont typeface="Arial" panose="020B0604020202020204" pitchFamily="34" charset="0"/>
              <a:buChar char="•"/>
            </a:pPr>
            <a:r>
              <a:rPr lang="en-US" dirty="0">
                <a:solidFill>
                  <a:schemeClr val="bg1"/>
                </a:solidFill>
                <a:hlinkClick r:id="rId5"/>
              </a:rPr>
              <a:t>https://globalsolaratlas.info/support/faq</a:t>
            </a:r>
            <a:endParaRPr lang="en-US" dirty="0">
              <a:solidFill>
                <a:schemeClr val="bg1"/>
              </a:solidFill>
            </a:endParaRPr>
          </a:p>
          <a:p>
            <a:pPr marL="285750" indent="-285750">
              <a:buFont typeface="Arial" panose="020B0604020202020204" pitchFamily="34" charset="0"/>
              <a:buChar char="•"/>
            </a:pPr>
            <a:r>
              <a:rPr lang="en-US" dirty="0">
                <a:solidFill>
                  <a:schemeClr val="bg1"/>
                </a:solidFill>
                <a:hlinkClick r:id="rId6"/>
              </a:rPr>
              <a:t>https://globalsolaratlas.info/global-pv-potential-study</a:t>
            </a:r>
            <a:endParaRPr lang="en-US" dirty="0">
              <a:solidFill>
                <a:schemeClr val="bg1"/>
              </a:solidFill>
            </a:endParaRPr>
          </a:p>
          <a:p>
            <a:pPr marL="285750" indent="-285750">
              <a:buFont typeface="Arial" panose="020B0604020202020204" pitchFamily="34" charset="0"/>
              <a:buChar char="•"/>
            </a:pPr>
            <a:r>
              <a:rPr lang="en-US" dirty="0">
                <a:solidFill>
                  <a:schemeClr val="bg1"/>
                </a:solidFill>
                <a:hlinkClick r:id="rId7"/>
              </a:rPr>
              <a:t>https://solartechonline.com/blog/pvwatts-calculator-complete-guide/</a:t>
            </a:r>
            <a:endParaRPr lang="en-US" dirty="0">
              <a:solidFill>
                <a:schemeClr val="bg1"/>
              </a:solidFill>
            </a:endParaRPr>
          </a:p>
          <a:p>
            <a:pPr marL="285750" indent="-285750">
              <a:buFont typeface="Arial" panose="020B0604020202020204" pitchFamily="34" charset="0"/>
              <a:buChar char="•"/>
            </a:pPr>
            <a:r>
              <a:rPr lang="en-US" dirty="0">
                <a:solidFill>
                  <a:schemeClr val="bg1"/>
                </a:solidFill>
                <a:hlinkClick r:id="rId8"/>
              </a:rPr>
              <a:t>https://samrepo.nrelcloud.org/help/pv_system_design.html</a:t>
            </a:r>
            <a:endParaRPr lang="en-US" dirty="0">
              <a:solidFill>
                <a:schemeClr val="bg1"/>
              </a:solidFill>
            </a:endParaRPr>
          </a:p>
          <a:p>
            <a:pPr marL="285750" indent="-285750">
              <a:buFont typeface="Arial" panose="020B0604020202020204" pitchFamily="34" charset="0"/>
              <a:buChar char="•"/>
            </a:pPr>
            <a:r>
              <a:rPr lang="en-US" dirty="0">
                <a:solidFill>
                  <a:schemeClr val="bg1"/>
                </a:solidFill>
                <a:hlinkClick r:id="rId9"/>
              </a:rPr>
              <a:t>https://www.kaggle.com/datasets/urbikn/sroie-datasetv2</a:t>
            </a:r>
            <a:endParaRPr lang="en-US" dirty="0">
              <a:solidFill>
                <a:schemeClr val="bg1"/>
              </a:solidFill>
            </a:endParaRPr>
          </a:p>
          <a:p>
            <a:pPr marL="285750" indent="-285750">
              <a:buFont typeface="Arial" panose="020B0604020202020204" pitchFamily="34" charset="0"/>
              <a:buChar char="•"/>
            </a:pPr>
            <a:r>
              <a:rPr lang="en-US" dirty="0">
                <a:solidFill>
                  <a:schemeClr val="bg1"/>
                </a:solidFill>
                <a:hlinkClick r:id="rId10"/>
              </a:rPr>
              <a:t>https://github.com/JaidedAI/EasyOCR</a:t>
            </a:r>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3769553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1563</TotalTime>
  <Words>3438</Words>
  <Application>Microsoft Macintosh PowerPoint</Application>
  <PresentationFormat>On-screen Show (16:9)</PresentationFormat>
  <Paragraphs>582</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Labs Senior AI Engineer Assessment</dc:title>
  <dc:subject>PptxGenJS Presentation</dc:subject>
  <dc:creator>Bren Jay Magtalas</dc:creator>
  <cp:lastModifiedBy>Bren Jay Magtalas</cp:lastModifiedBy>
  <cp:revision>6</cp:revision>
  <dcterms:created xsi:type="dcterms:W3CDTF">2026-02-28T15:48:16Z</dcterms:created>
  <dcterms:modified xsi:type="dcterms:W3CDTF">2026-03-02T05:37:44Z</dcterms:modified>
</cp:coreProperties>
</file>